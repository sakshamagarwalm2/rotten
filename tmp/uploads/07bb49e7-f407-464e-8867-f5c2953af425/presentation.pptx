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Lst>
  <p:notesMasterIdLst>
    <p:notesMasterId r:id="rId1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notesMaster" Target="notesMasters/notesMaster1.xml"/><Relationship Id="rId167" Type="http://schemas.openxmlformats.org/officeDocument/2006/relationships/presProps" Target="presProps.xml"/><Relationship Id="rId168" Type="http://schemas.openxmlformats.org/officeDocument/2006/relationships/viewProps" Target="viewProps.xml"/><Relationship Id="rId169" Type="http://schemas.openxmlformats.org/officeDocument/2006/relationships/theme" Target="theme/theme1.xml"/><Relationship Id="rId1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image" Target="../media/image-104-2.png"/><Relationship Id="rId3" Type="http://schemas.openxmlformats.org/officeDocument/2006/relationships/slideLayout" Target="../slideLayouts/slideLayout1.xml"/><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image" Target="../media/image-106-2.png"/><Relationship Id="rId3" Type="http://schemas.openxmlformats.org/officeDocument/2006/relationships/slideLayout" Target="../slideLayouts/slideLayout1.xml"/><Relationship Id="rId4"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image" Target="../media/image-107-2.png"/><Relationship Id="rId3" Type="http://schemas.openxmlformats.org/officeDocument/2006/relationships/slideLayout" Target="../slideLayouts/slideLayout1.xml"/><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image" Target="../media/image-112-2.png"/><Relationship Id="rId3" Type="http://schemas.openxmlformats.org/officeDocument/2006/relationships/image" Target="../media/image-112-3.png"/><Relationship Id="rId4" Type="http://schemas.openxmlformats.org/officeDocument/2006/relationships/slideLayout" Target="../slideLayouts/slideLayout1.xml"/><Relationship Id="rId5"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image" Target="../media/image-129-2.png"/><Relationship Id="rId3" Type="http://schemas.openxmlformats.org/officeDocument/2006/relationships/slideLayout" Target="../slideLayouts/slideLayout1.xml"/><Relationship Id="rId4"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pn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pn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pn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pn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image-154-1.pn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pn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image-156-1.pn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image-157-1.pn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image-158-1.pn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image-159-1.png"/><Relationship Id="rId2" Type="http://schemas.openxmlformats.org/officeDocument/2006/relationships/slideLayout" Target="../slideLayouts/slideLayout1.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image-160-1.png"/><Relationship Id="rId2" Type="http://schemas.openxmlformats.org/officeDocument/2006/relationships/slideLayout" Target="../slideLayouts/slideLayout1.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image-161-1.png"/><Relationship Id="rId2" Type="http://schemas.openxmlformats.org/officeDocument/2006/relationships/slideLayout" Target="../slideLayouts/slideLayout1.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image" Target="../media/image-162-1.png"/><Relationship Id="rId2" Type="http://schemas.openxmlformats.org/officeDocument/2006/relationships/slideLayout" Target="../slideLayouts/slideLayout1.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image-163-1.png"/><Relationship Id="rId2" Type="http://schemas.openxmlformats.org/officeDocument/2006/relationships/slideLayout" Target="../slideLayouts/slideLayout1.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image-164-1.png"/><Relationship Id="rId2" Type="http://schemas.openxmlformats.org/officeDocument/2006/relationships/slideLayout" Target="../slideLayouts/slideLayout1.xml"/><Relationship Id="rId3" Type="http://schemas.openxmlformats.org/officeDocument/2006/relationships/notesSlide" Target="../notesSlides/notesSlide16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ctr" indent="0" marL="0">
              <a:buNone/>
            </a:pPr>
            <a:r>
              <a:rPr lang="en-US" sz="4400" b="1" dirty="0">
                <a:solidFill>
                  <a:srgbClr val="E02424"/>
                </a:solidFill>
              </a:rPr>
              <a:t>उपपरमाण्विक कणों की खोज</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19. </a:t>
            </a:r>
            <a:pPr algn="just" indent="0" marL="0">
              <a:lnSpc>
                <a:spcPts val="3600"/>
              </a:lnSpc>
              <a:buNone/>
            </a:pPr>
            <a:r>
              <a:rPr lang="en-US" sz="2400" b="1" dirty="0">
                <a:solidFill>
                  <a:srgbClr val="FFFFFF"/>
                </a:solidFill>
              </a:rPr>
              <a:t>हाइड्रोजन के रेडियोधर्मी समस्थानिक में उपस्थित क्रमशः न्यूट्रॉन एवं इलेक्ट्रॉनों की संख्या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2 एवं 1</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2 एवं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3 एवं 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1 एवं 1</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87. </a:t>
            </a:r>
            <a:pPr algn="just" indent="0" marL="0">
              <a:lnSpc>
                <a:spcPts val="3600"/>
              </a:lnSpc>
              <a:buNone/>
            </a:pPr>
            <a:r>
              <a:rPr lang="en-US" sz="2400" b="1" dirty="0">
                <a:solidFill>
                  <a:srgbClr val="FFFFFF"/>
                </a:solidFill>
              </a:rPr>
              <a:t>एक काल्पनिक ₂₂ ⁴⁸ X ³⁻ आयन पर विचार करें। नाभिक में आयन में इलेक्ट्रॉनों की संख्या की तुलना में a% अधिक न्यूट्रॉन होते हैं, तो 'a' का मान है। (निकटतम पूर्णाक)</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4</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ctr" indent="0" marL="0">
              <a:buNone/>
            </a:pPr>
            <a:r>
              <a:rPr lang="en-US" sz="4400" b="1" dirty="0">
                <a:solidFill>
                  <a:srgbClr val="E02424"/>
                </a:solidFill>
              </a:rPr>
              <a:t>थॉमसन का परमाणु मॉडल (1898)</a:t>
            </a:r>
            <a:endParaRPr lang="en-US" sz="4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18. </a:t>
            </a:r>
            <a:pPr algn="just" indent="0" marL="0">
              <a:lnSpc>
                <a:spcPts val="3600"/>
              </a:lnSpc>
              <a:buNone/>
            </a:pPr>
            <a:r>
              <a:rPr lang="en-US" sz="2400" b="1" dirty="0">
                <a:solidFill>
                  <a:srgbClr val="FFFFFF"/>
                </a:solidFill>
              </a:rPr>
              <a:t>यदि परमाणु का थॉमसन मॉडल सही होता, तो रदरफोर्ड के सोने की पन्नी के प्रयोग का परिणाम होता है-</a:t>
            </a:r>
            <a:endParaRPr lang="en-US" sz="2400" dirty="0"/>
          </a:p>
        </p:txBody>
      </p:sp>
      <p:sp>
        <p:nvSpPr>
          <p:cNvPr id="4" name="Text 1"/>
          <p:cNvSpPr/>
          <p:nvPr/>
        </p:nvSpPr>
        <p:spPr>
          <a:xfrm>
            <a:off x="457200" y="2011680"/>
            <a:ext cx="112745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α- कण छोटे कणों एवं कम गति से परावर्तित सोने की पन्नी से गुजरते 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α- कण कोणों की एक विस्तृत श्रृंखला पर विक्षेपित होते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सभी α- कण 180° द्वारा वापस लौट जाते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सभी α-कण गति में कमी किए बिना सोने की पन्नी से गुजरते हैं।</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ctr" indent="0" marL="0">
              <a:buNone/>
            </a:pPr>
            <a:r>
              <a:rPr lang="en-US" sz="4400" b="1" dirty="0">
                <a:solidFill>
                  <a:srgbClr val="E02424"/>
                </a:solidFill>
              </a:rPr>
              <a:t>रदरफोर्ड का नाभिकीय परमाणु मॉडल (1911)</a:t>
            </a:r>
            <a:endParaRPr lang="en-US" sz="4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300"/>
              </a:lnSpc>
              <a:buNone/>
            </a:pPr>
            <a:r>
              <a:rPr lang="en-US" sz="2200" b="1" dirty="0">
                <a:solidFill>
                  <a:srgbClr val="E02424"/>
                </a:solidFill>
              </a:rPr>
              <a:t>प्रश्न 17. </a:t>
            </a:r>
            <a:pPr algn="just" indent="0" marL="0">
              <a:lnSpc>
                <a:spcPts val="3300"/>
              </a:lnSpc>
              <a:buNone/>
            </a:pPr>
            <a:r>
              <a:rPr lang="en-US" sz="2200" b="1" dirty="0">
                <a:solidFill>
                  <a:srgbClr val="FFFFFF"/>
                </a:solidFill>
              </a:rPr>
              <a:t>नीचे दो कथन दिए गए है:</a:t>
            </a:r>
            <a:endParaRPr lang="en-US" sz="2200" dirty="0"/>
          </a:p>
          <a:p>
            <a:pPr algn="just" indent="0" marL="0">
              <a:lnSpc>
                <a:spcPts val="3300"/>
              </a:lnSpc>
              <a:buNone/>
            </a:pPr>
            <a:r>
              <a:rPr lang="en-US" sz="2200" b="1" dirty="0">
                <a:solidFill>
                  <a:srgbClr val="FFFFFF"/>
                </a:solidFill>
              </a:rPr>
              <a:t>कथन I: रदरफोर्ड के सोने की पन्नी का प्रयोग हाइड्रोजन परमाणु के लाइन स्पेक्ट्रम की व्याख्या नहीं कर सकता है।</a:t>
            </a:r>
            <a:endParaRPr lang="en-US" sz="2200" dirty="0"/>
          </a:p>
          <a:p>
            <a:pPr algn="just" indent="0" marL="0">
              <a:lnSpc>
                <a:spcPts val="3300"/>
              </a:lnSpc>
              <a:buNone/>
            </a:pPr>
            <a:r>
              <a:rPr lang="en-US" sz="2200" b="1" dirty="0">
                <a:solidFill>
                  <a:srgbClr val="FFFFFF"/>
                </a:solidFill>
              </a:rPr>
              <a:t>कथन II: बोर का हाड्रोजन परमाणु मॉडल हाइजेनबर्ग के अनिश्चितता सिद्धांत का खंडन करता है। ऊपर दिए गए कथनों के संदर्भ में, नीचे दिए गए विकल्पों में से सबसे उचित उत्तर चुनिएः</a:t>
            </a:r>
            <a:endParaRPr lang="en-US" sz="2200" dirty="0"/>
          </a:p>
        </p:txBody>
      </p:sp>
      <p:sp>
        <p:nvSpPr>
          <p:cNvPr id="4" name="Text 1"/>
          <p:cNvSpPr/>
          <p:nvPr/>
        </p:nvSpPr>
        <p:spPr>
          <a:xfrm>
            <a:off x="457200" y="3840480"/>
            <a:ext cx="11274552" cy="1828800"/>
          </a:xfrm>
          <a:prstGeom prst="rect">
            <a:avLst/>
          </a:prstGeom>
          <a:noFill/>
          <a:ln/>
        </p:spPr>
        <p:txBody>
          <a:bodyPr wrap="square" lIns="0" tIns="0" rIns="0" bIns="0" rtlCol="0" anchor="t"/>
          <a:lstStyle/>
          <a:p>
            <a:pPr algn="just" indent="0" marL="0">
              <a:lnSpc>
                <a:spcPts val="3300"/>
              </a:lnSpc>
              <a:buNone/>
            </a:pPr>
            <a:r>
              <a:rPr lang="en-US" sz="2200" b="1" dirty="0">
                <a:solidFill>
                  <a:srgbClr val="16A34A"/>
                </a:solidFill>
              </a:rPr>
              <a:t>A. </a:t>
            </a:r>
            <a:pPr algn="just" indent="0" marL="0">
              <a:lnSpc>
                <a:spcPts val="3300"/>
              </a:lnSpc>
              <a:buNone/>
            </a:pPr>
            <a:r>
              <a:rPr lang="en-US" sz="2200" b="1" dirty="0">
                <a:solidFill>
                  <a:srgbClr val="16A34A"/>
                </a:solidFill>
              </a:rPr>
              <a:t>कथन I और कथन II दोनों सत्य हैं।</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B. </a:t>
            </a:r>
            <a:pPr algn="just" indent="0" marL="0">
              <a:lnSpc>
                <a:spcPts val="3300"/>
              </a:lnSpc>
              <a:buNone/>
            </a:pPr>
            <a:r>
              <a:rPr lang="en-US" sz="2200" dirty="0">
                <a:solidFill>
                  <a:srgbClr val="FFFFFF"/>
                </a:solidFill>
              </a:rPr>
              <a:t>कथन I असत्य है, परंतु कथन II सत्य है।</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C. </a:t>
            </a:r>
            <a:pPr algn="just" indent="0" marL="0">
              <a:lnSpc>
                <a:spcPts val="3300"/>
              </a:lnSpc>
              <a:buNone/>
            </a:pPr>
            <a:r>
              <a:rPr lang="en-US" sz="2200" dirty="0">
                <a:solidFill>
                  <a:srgbClr val="FFFFFF"/>
                </a:solidFill>
              </a:rPr>
              <a:t>कथन I और कथन II दोनों असत्य हैं।</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D. </a:t>
            </a:r>
            <a:pPr algn="just" indent="0" marL="0">
              <a:lnSpc>
                <a:spcPts val="3300"/>
              </a:lnSpc>
              <a:buNone/>
            </a:pPr>
            <a:r>
              <a:rPr lang="en-US" sz="2200" dirty="0">
                <a:solidFill>
                  <a:srgbClr val="FFFFFF"/>
                </a:solidFill>
              </a:rPr>
              <a:t>कथन I सत्य है, परंतु कथन II असत्य है।</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ctr" indent="0" marL="0">
              <a:buNone/>
            </a:pPr>
            <a:r>
              <a:rPr lang="en-US" sz="4400" b="1" dirty="0">
                <a:solidFill>
                  <a:srgbClr val="E02424"/>
                </a:solidFill>
              </a:rPr>
              <a:t>परमाणु क्रमांक और द्रव्यमान क्रमांक</a:t>
            </a:r>
            <a:endParaRPr lang="en-US" sz="4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72. </a:t>
            </a:r>
            <a:pPr algn="just" indent="0" marL="0">
              <a:lnSpc>
                <a:spcPts val="3600"/>
              </a:lnSpc>
              <a:buNone/>
            </a:pPr>
            <a:r>
              <a:rPr lang="en-US" sz="2400" b="1" dirty="0">
                <a:solidFill>
                  <a:srgbClr val="FFFFFF"/>
                </a:solidFill>
              </a:rPr>
              <a:t>यौगिक A₂ B में एक परमाणु की सबसे कम ऑक्सीकरण संख्या -2 है। इसके संयोजकता कोश में इलेक्ट्रॉनों की संख्या है।</a:t>
            </a:r>
            <a:endParaRPr lang="en-US" sz="2400" dirty="0"/>
          </a:p>
        </p:txBody>
      </p:sp>
      <p:sp>
        <p:nvSpPr>
          <p:cNvPr id="4" name="Text 1"/>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6</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127. </a:t>
            </a:r>
            <a:pPr algn="just" indent="0" marL="0">
              <a:lnSpc>
                <a:spcPts val="3600"/>
              </a:lnSpc>
              <a:buNone/>
            </a:pPr>
            <a:r>
              <a:rPr lang="en-US" sz="2400" b="1" dirty="0">
                <a:solidFill>
                  <a:srgbClr val="FFFFFF"/>
                </a:solidFill>
              </a:rPr>
              <a:t>निम्न में से किसके द्वारा समइलेक्ट्रॉनिक स्पीशीज़ C l ⁻ , Ar तथा C a ²⁺ का आकार प्रभावित होगा-</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संयोजकता कोश की मुख्य क्वान्टम संख्या</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नाभिकीय आवेश</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बाह्य कक्षकों में इलेक्ट्रॉन-इलेक्ट्रॉन अन्योन्य क्रिया</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संयोजकता कोश की एजीमूथल क्वान्टम संख्या</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ctr" indent="0" marL="0">
              <a:buNone/>
            </a:pPr>
            <a:r>
              <a:rPr lang="en-US" sz="4400" b="1" dirty="0">
                <a:solidFill>
                  <a:srgbClr val="E02424"/>
                </a:solidFill>
              </a:rPr>
              <a:t>विद्युतचुंबकीय विकिरण का तरंग स्वरूप</a:t>
            </a:r>
            <a:endParaRPr lang="en-US" sz="4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2. </a:t>
            </a:r>
            <a:pPr algn="just" indent="0" marL="0">
              <a:lnSpc>
                <a:spcPts val="3600"/>
              </a:lnSpc>
              <a:buNone/>
            </a:pPr>
            <a:r>
              <a:rPr lang="en-US" sz="2400" b="1" dirty="0">
                <a:solidFill>
                  <a:srgbClr val="FFFFFF"/>
                </a:solidFill>
              </a:rPr>
              <a:t>केंडेला किसी स्रोत की एक निश्चित दिशा में दीप्त तीव्रता है, जो ‘ A’× 10 ¹² हर्ट्ज आवृत्ति का एकवर्णी विकिरण उत्सर्जित करता है तथा जिसकी उस दिशा में 1 'B' वाट प्रति स्टीरिडियन की विकिरण तीव्रता होती है। ‘ A’ और ‘ B’ क्रमशः हैं–</a:t>
            </a:r>
            <a:endParaRPr lang="en-US" sz="2400" dirty="0"/>
          </a:p>
        </p:txBody>
      </p:sp>
      <p:sp>
        <p:nvSpPr>
          <p:cNvPr id="4" name="Text 1"/>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450 और 683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450 और 1 683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540 और 1 683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540 और 683</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13. </a:t>
            </a:r>
            <a:pPr algn="just" indent="0" marL="0">
              <a:lnSpc>
                <a:spcPts val="3600"/>
              </a:lnSpc>
              <a:buNone/>
            </a:pPr>
            <a:r>
              <a:rPr lang="en-US" sz="2400" b="1" dirty="0">
                <a:solidFill>
                  <a:srgbClr val="FFFFFF"/>
                </a:solidFill>
              </a:rPr>
              <a:t>300 nm तरंगदैर्ध्य के विकिरण के एक मोल फोटॉन की ऊर्जा है-</a:t>
            </a:r>
            <a:endParaRPr lang="en-US" sz="2400" dirty="0"/>
          </a:p>
          <a:p>
            <a:pPr algn="just" indent="0" marL="0">
              <a:lnSpc>
                <a:spcPts val="3600"/>
              </a:lnSpc>
              <a:buNone/>
            </a:pPr>
            <a:r>
              <a:rPr lang="en-US" sz="2400" b="1" dirty="0">
                <a:solidFill>
                  <a:srgbClr val="FFFFFF"/>
                </a:solidFill>
              </a:rPr>
              <a:t>(दिया है: h=6.63 10 ⁻³⁴ Js, NA =6.02 × 10 ²³ mo l ⁻¹ c=3×108 m s ⁻¹ )</a:t>
            </a:r>
            <a:endParaRPr lang="en-US" sz="2400" dirty="0"/>
          </a:p>
        </p:txBody>
      </p:sp>
      <p:sp>
        <p:nvSpPr>
          <p:cNvPr id="4" name="Text 1"/>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235 kJ mo l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325 kJ mo l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399 kJ mo l ⁻¹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435 kJ mo l ⁻¹</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36. </a:t>
            </a:r>
            <a:pPr algn="just" indent="0" marL="0">
              <a:lnSpc>
                <a:spcPts val="3600"/>
              </a:lnSpc>
              <a:buNone/>
            </a:pPr>
            <a:r>
              <a:rPr lang="en-US" sz="2400" b="1" dirty="0">
                <a:solidFill>
                  <a:srgbClr val="FFFFFF"/>
                </a:solidFill>
              </a:rPr>
              <a:t>मांसपेशीय दर्द के ऊष्मा उपचार के लिए लगभग 900 nm. के तरंगदैर्ध्य के विकिरण का उपयोग होता है। इसके लिए H-परमाणु की कौन सी स्पेक्ट्रल लाइन उपयुक्त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बामर,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पाश्चन, ∞→3</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लाइमैन, ∞→1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पाश्चन, 5→3</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42. </a:t>
            </a:r>
            <a:pPr algn="just" indent="0" marL="0">
              <a:lnSpc>
                <a:spcPts val="3600"/>
              </a:lnSpc>
              <a:buNone/>
            </a:pPr>
            <a:r>
              <a:rPr lang="en-US" sz="2400" b="1" dirty="0">
                <a:solidFill>
                  <a:srgbClr val="FFFFFF"/>
                </a:solidFill>
              </a:rPr>
              <a:t>निम्न में से कौन-से कथन असत्य है?</a:t>
            </a:r>
            <a:endParaRPr lang="en-US" sz="2400" dirty="0"/>
          </a:p>
        </p:txBody>
      </p:sp>
      <p:sp>
        <p:nvSpPr>
          <p:cNvPr id="4" name="Text 1"/>
          <p:cNvSpPr/>
          <p:nvPr/>
        </p:nvSpPr>
        <p:spPr>
          <a:xfrm>
            <a:off x="457200" y="1554480"/>
            <a:ext cx="112745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फोटॉन में संवेग के साथ-साथ तरंगदैर्ध्य भी होता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विद्युत क्षेत्र में वर्णक्रमीय रेखाओं के विभाजन को स्टार्क प्रभाव कहते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कृष्णिका से उत्सर्जित विकिरण की आवृति ताप बढ़ने पर निम्न तरंगदैर्ध्य से उच्च तरंगदैर्ध्य तक जाती 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रिड्वर्ग स्थिरांक में ऊर्जा की इकाई होती है।</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52. </a:t>
            </a:r>
            <a:pPr algn="just" indent="0" marL="0">
              <a:lnSpc>
                <a:spcPts val="3600"/>
              </a:lnSpc>
              <a:buNone/>
            </a:pPr>
            <a:r>
              <a:rPr lang="en-US" sz="2400" b="1" dirty="0">
                <a:solidFill>
                  <a:srgbClr val="FFFFFF"/>
                </a:solidFill>
              </a:rPr>
              <a:t>एक गैस 355 nm के फोटॉन को अवशोषित करके दो तरंगदैध्यों पर उत्सर्जित करती है। यदि एक उत्सर्जन 680 nm पर है तो दूसरा उत्सर्जन होगा-</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1035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325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743 nm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518 nm</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53. </a:t>
            </a:r>
            <a:pPr algn="just" indent="0" marL="0">
              <a:lnSpc>
                <a:spcPts val="3600"/>
              </a:lnSpc>
              <a:buNone/>
            </a:pPr>
            <a:r>
              <a:rPr lang="en-US" sz="2400" b="1" dirty="0">
                <a:solidFill>
                  <a:srgbClr val="FFFFFF"/>
                </a:solidFill>
              </a:rPr>
              <a:t>C l₂ में Cl-Cl बन्धों के एक मोल को तोड़ने में आवश्यक ऊर्जा 242 kJ mo l ⁻¹ है। एक एकांकी Cl-Cl आबन्ध को तोड़ने की क्षमता रखने वाले प्रकाश की दीर्घत्म तरंगदैर्ध्य क्या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494 nm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594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640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700 nm</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प्रश्न 69. </a:t>
            </a:r>
            <a:pPr algn="just" indent="0" marL="0">
              <a:lnSpc>
                <a:spcPts val="3000"/>
              </a:lnSpc>
              <a:buNone/>
            </a:pPr>
            <a:r>
              <a:rPr lang="en-US" sz="2000" b="1" dirty="0">
                <a:solidFill>
                  <a:srgbClr val="FFFFFF"/>
                </a:solidFill>
              </a:rPr>
              <a:t>एक काल्पनिक विद्युत चुम्बकीय तरंग नीचे दर्शाई गई है:</a:t>
            </a:r>
            <a:endParaRPr lang="en-US" sz="2000" dirty="0"/>
          </a:p>
          <a:p>
            <a:pPr algn="just" indent="0" marL="0">
              <a:lnSpc>
                <a:spcPts val="3000"/>
              </a:lnSpc>
              <a:buNone/>
            </a:pPr>
            <a:r>
              <a:rPr lang="en-US" sz="2000" b="1" dirty="0">
                <a:solidFill>
                  <a:srgbClr val="FFFFFF"/>
                </a:solidFill>
              </a:rPr>
              <a:t>तरंग की आवृत्ति x× 10 ¹⁹ हर्ट्ज है।</a:t>
            </a:r>
            <a:endParaRPr lang="en-US" sz="2000" dirty="0"/>
          </a:p>
          <a:p>
            <a:pPr algn="just" indent="0" marL="0">
              <a:lnSpc>
                <a:spcPts val="3000"/>
              </a:lnSpc>
              <a:buNone/>
            </a:pPr>
            <a:r>
              <a:rPr lang="en-US" sz="2000" b="1" dirty="0">
                <a:solidFill>
                  <a:srgbClr val="FFFFFF"/>
                </a:solidFill>
              </a:rPr>
              <a:t>x=____________ (निकटतम पूर्णाक)</a:t>
            </a:r>
            <a:endParaRPr lang="en-US" sz="2000" dirty="0"/>
          </a:p>
        </p:txBody>
      </p:sp>
      <p:pic>
        <p:nvPicPr>
          <p:cNvPr id="4" name="Image 1" descr="preencoded.png">    </p:cNvPr>
          <p:cNvPicPr>
            <a:picLocks noChangeAspect="1"/>
          </p:cNvPicPr>
          <p:nvPr/>
        </p:nvPicPr>
        <p:blipFill>
          <a:blip r:embed="rId2"/>
          <a:stretch>
            <a:fillRect/>
          </a:stretch>
        </p:blipFill>
        <p:spPr>
          <a:xfrm>
            <a:off x="457200" y="2468880"/>
            <a:ext cx="2221992" cy="1426464"/>
          </a:xfrm>
          <a:prstGeom prst="rect">
            <a:avLst/>
          </a:prstGeom>
        </p:spPr>
      </p:pic>
      <p:sp>
        <p:nvSpPr>
          <p:cNvPr id="5" name="Text 1"/>
          <p:cNvSpPr/>
          <p:nvPr/>
        </p:nvSpPr>
        <p:spPr>
          <a:xfrm>
            <a:off x="457200" y="3941064"/>
            <a:ext cx="11274552" cy="4572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5</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70. </a:t>
            </a:r>
            <a:pPr algn="just" indent="0" marL="0">
              <a:lnSpc>
                <a:spcPts val="3600"/>
              </a:lnSpc>
              <a:buNone/>
            </a:pPr>
            <a:r>
              <a:rPr lang="en-US" sz="2400" b="1" dirty="0">
                <a:solidFill>
                  <a:srgbClr val="FFFFFF"/>
                </a:solidFill>
              </a:rPr>
              <a:t>5800 Å तरंगदैर्ध्य वाले विकिरण के लिए तरंग संख्या x×10 c m ⁻¹ है। x का मान________ है।</a:t>
            </a:r>
            <a:endParaRPr lang="en-US" sz="2400" dirty="0"/>
          </a:p>
        </p:txBody>
      </p:sp>
      <p:sp>
        <p:nvSpPr>
          <p:cNvPr id="4" name="Text 1"/>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1724</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76. </a:t>
            </a:r>
            <a:pPr algn="just" indent="0" marL="0">
              <a:lnSpc>
                <a:spcPts val="3600"/>
              </a:lnSpc>
              <a:buNone/>
            </a:pPr>
            <a:r>
              <a:rPr lang="en-US" sz="2400" b="1" dirty="0">
                <a:solidFill>
                  <a:srgbClr val="FFFFFF"/>
                </a:solidFill>
              </a:rPr>
              <a:t>निम्नलिखित कथनों की संख्या, जो गलत है, है।</a:t>
            </a:r>
            <a:endParaRPr lang="en-US" sz="2400" dirty="0"/>
          </a:p>
        </p:txBody>
      </p:sp>
      <p:sp>
        <p:nvSpPr>
          <p:cNvPr id="4" name="Text 1"/>
          <p:cNvSpPr/>
          <p:nvPr/>
        </p:nvSpPr>
        <p:spPr>
          <a:xfrm>
            <a:off x="457200" y="1554480"/>
            <a:ext cx="11274552" cy="36576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लाइन उत्सर्जन स्पेक्ट्रा का उपयोग इलेक्ट्रॉनिक संरचना का अध्ययन करने के लिए किया जाता 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गैस अवस्था में परमाणुओं के उत्सर्जन स्पेक्ट्रा लाल से बैंगनी तक तरंगदैर्ध्य का निश्चित/एकसमान प्रसार दिखाते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एक अवशोषण स्पेक्ट्रम एक उत्सर्जन स्पेक्ट्रम के फोटोग्राफिक निगेटिव की तरह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हीलियम तत्व की सूर्य में खोज स्पेक्ट्रोस्कोपिक विधि द्वारा की गई थी।</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77. </a:t>
            </a:r>
            <a:pPr algn="just" indent="0" marL="0">
              <a:lnSpc>
                <a:spcPts val="3600"/>
              </a:lnSpc>
              <a:buNone/>
            </a:pPr>
            <a:r>
              <a:rPr lang="en-US" sz="2400" b="1" dirty="0">
                <a:solidFill>
                  <a:srgbClr val="FFFFFF"/>
                </a:solidFill>
              </a:rPr>
              <a:t>निम्नलिखित में से काले पिंड के बारे में गलत कथनों की संख्या है।</a:t>
            </a:r>
            <a:endParaRPr lang="en-US" sz="2400" dirty="0"/>
          </a:p>
        </p:txBody>
      </p:sp>
      <p:sp>
        <p:nvSpPr>
          <p:cNvPr id="4" name="Text 1"/>
          <p:cNvSpPr/>
          <p:nvPr/>
        </p:nvSpPr>
        <p:spPr>
          <a:xfrm>
            <a:off x="457200" y="2011680"/>
            <a:ext cx="11274552" cy="3200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विद्युत चुम्बकीय विकिरण के रूप में ऊर्जा उत्सर्जित या अवशोषित करता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उत्सर्जित विकिरण का आवृत्ति वितरण तापमान पर निर्भर करता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किसी दिए गए तापमान पर, तीव्रता बनाम आवृत्ति वक्र अधिकतम मान से होकर गुजरता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अधिकतम तीव्रता बनाम आवृत्ति वक्र कम तापमान की तुलना में उच्च तापमान पर उच्च आवृत्ति पर होता है।</a:t>
            </a:r>
            <a:endParaRPr lang="en-US" sz="2400" dirty="0"/>
          </a:p>
        </p:txBody>
      </p:sp>
      <p:sp>
        <p:nvSpPr>
          <p:cNvPr id="5" name="Text 2"/>
          <p:cNvSpPr/>
          <p:nvPr/>
        </p:nvSpPr>
        <p:spPr>
          <a:xfrm>
            <a:off x="457200" y="5212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0</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प्रश्न 82. </a:t>
            </a:r>
            <a:pPr algn="just" indent="0" marL="0">
              <a:lnSpc>
                <a:spcPts val="3000"/>
              </a:lnSpc>
              <a:buNone/>
            </a:pPr>
            <a:r>
              <a:rPr lang="en-US" sz="2000" b="1" dirty="0">
                <a:solidFill>
                  <a:srgbClr val="FFFFFF"/>
                </a:solidFill>
              </a:rPr>
              <a:t>निम्नलिखित आकृति चार अलग-अलग तापमान पर एक आदर्श कृष्णिका के स्पेक्ट्रम को दर्शाता है। निम्नलिखित में से सही कथन/कथनों की संख्या है।</a:t>
            </a:r>
            <a:endParaRPr lang="en-US" sz="2000" dirty="0"/>
          </a:p>
          <a:p>
            <a:pPr algn="just" indent="0" marL="0">
              <a:lnSpc>
                <a:spcPts val="3000"/>
              </a:lnSpc>
              <a:buNone/>
            </a:pPr>
            <a:r>
              <a:rPr lang="en-US" sz="2000" b="1" dirty="0">
                <a:solidFill>
                  <a:srgbClr val="FFFFFF"/>
                </a:solidFill>
              </a:rPr>
              <a:t>ऊर्जा वितरण</a:t>
            </a:r>
            <a:endParaRPr lang="en-US" sz="2000" dirty="0"/>
          </a:p>
          <a:p>
            <a:pPr algn="just" indent="0" marL="0">
              <a:lnSpc>
                <a:spcPts val="3000"/>
              </a:lnSpc>
              <a:buNone/>
            </a:pPr>
            <a:r>
              <a:rPr lang="en-US" sz="2000" b="1" dirty="0">
                <a:solidFill>
                  <a:srgbClr val="FFFFFF"/>
                </a:solidFill>
              </a:rPr>
              <a:t>E. दिए गए स्पेक्ट्रम को ऊर्जा के क्वांटीकरण का उपयोग करके समझाया जा सकता है।</a:t>
            </a:r>
            <a:endParaRPr lang="en-US" sz="2000" dirty="0"/>
          </a:p>
        </p:txBody>
      </p:sp>
      <p:sp>
        <p:nvSpPr>
          <p:cNvPr id="4" name="Text 1"/>
          <p:cNvSpPr/>
          <p:nvPr/>
        </p:nvSpPr>
        <p:spPr>
          <a:xfrm>
            <a:off x="457200" y="3840480"/>
            <a:ext cx="11274552" cy="22860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A. </a:t>
            </a:r>
            <a:pPr algn="just" indent="0" marL="0">
              <a:lnSpc>
                <a:spcPts val="3000"/>
              </a:lnSpc>
              <a:buNone/>
            </a:pPr>
            <a:r>
              <a:rPr lang="en-US" sz="2000" dirty="0">
                <a:solidFill>
                  <a:srgbClr val="FFFFFF"/>
                </a:solidFill>
              </a:rPr>
              <a:t>T₄ &gt; T₃ &gt; T₂ &gt; T₁</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काले रंग में सरल आवर्त गति करने वाले कण होते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C. </a:t>
            </a:r>
            <a:pPr algn="just" indent="0" marL="0">
              <a:lnSpc>
                <a:spcPts val="3000"/>
              </a:lnSpc>
              <a:buNone/>
            </a:pPr>
            <a:r>
              <a:rPr lang="en-US" sz="2000" dirty="0">
                <a:solidFill>
                  <a:srgbClr val="FFFFFF"/>
                </a:solidFill>
              </a:rPr>
              <a:t>जैसे-जैसे तापमान बढ़ता है, स्पेक्ट्रम की चोटी छोटी तरंगदैर्ध्य में विस्थापित हो जाती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D. </a:t>
            </a:r>
            <a:pPr algn="just" indent="0" marL="0">
              <a:lnSpc>
                <a:spcPts val="3000"/>
              </a:lnSpc>
              <a:buNone/>
            </a:pPr>
            <a:r>
              <a:rPr lang="en-US" sz="2000" dirty="0">
                <a:solidFill>
                  <a:srgbClr val="FFFFFF"/>
                </a:solidFill>
              </a:rPr>
              <a:t>T₁ ν₁ = T₂ ν₂ = T₃ ν₃ ≠ नियत</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84. </a:t>
            </a:r>
            <a:pPr algn="just" indent="0" marL="0">
              <a:lnSpc>
                <a:spcPts val="3600"/>
              </a:lnSpc>
              <a:buNone/>
            </a:pPr>
            <a:r>
              <a:rPr lang="en-US" sz="2400" b="1" dirty="0">
                <a:solidFill>
                  <a:srgbClr val="FFFFFF"/>
                </a:solidFill>
              </a:rPr>
              <a:t>2 × 10 ¹² Hz J mol ¯ ¹ में आवृत्ति के विकिरण के फोटॉनों के एक मोल की ऊर्जा_______ है। (निकटतम पूर्णाक में)</a:t>
            </a:r>
            <a:endParaRPr lang="en-US" sz="2400" dirty="0"/>
          </a:p>
          <a:p>
            <a:pPr algn="just" indent="0" marL="0">
              <a:lnSpc>
                <a:spcPts val="3600"/>
              </a:lnSpc>
              <a:buNone/>
            </a:pPr>
            <a:r>
              <a:rPr lang="en-US" sz="2400" b="1" dirty="0">
                <a:solidFill>
                  <a:srgbClr val="FFFFFF"/>
                </a:solidFill>
              </a:rPr>
              <a:t>[दिया गया है: h= 6 . 626 × 10 ⁻³⁴ J s, NA = 6 . 022 × 10 ²³ mol ⁻¹ ] A</a:t>
            </a:r>
            <a:endParaRPr lang="en-US" sz="2400" dirty="0"/>
          </a:p>
        </p:txBody>
      </p:sp>
      <p:sp>
        <p:nvSpPr>
          <p:cNvPr id="4" name="Text 1"/>
          <p:cNvSpPr/>
          <p:nvPr/>
        </p:nvSpPr>
        <p:spPr>
          <a:xfrm>
            <a:off x="457200" y="2926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798</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93. </a:t>
            </a:r>
            <a:pPr algn="just" indent="0" marL="0">
              <a:lnSpc>
                <a:spcPts val="3600"/>
              </a:lnSpc>
              <a:buNone/>
            </a:pPr>
            <a:r>
              <a:rPr lang="en-US" sz="2400" b="1" dirty="0">
                <a:solidFill>
                  <a:srgbClr val="FFFFFF"/>
                </a:solidFill>
              </a:rPr>
              <a:t>एक 50 वाट का बल्ब 795 nm तरंगदैर्ध्य का एकवर्णी लाल प्रकाश उत्सर्जित करता है। बल्ब द्वारा प्रति सेकंड उत्सर्जित फोटॉनों की संख्या x× 10 ²⁰ है, तो x का मान (निकटतम पूर्णांक) है।</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96. </a:t>
            </a:r>
            <a:pPr algn="just" indent="0" marL="0">
              <a:lnSpc>
                <a:spcPts val="3600"/>
              </a:lnSpc>
              <a:buNone/>
            </a:pPr>
            <a:r>
              <a:rPr lang="en-US" sz="2400" b="1" dirty="0">
                <a:solidFill>
                  <a:srgbClr val="FFFFFF"/>
                </a:solidFill>
              </a:rPr>
              <a:t>एक मोनोक्रोमैटिक (एकल आवृत्ति) इन्फ्रारेड रेंज फाइंडर द्वारा उत्सर्जित फोटॉन की संख्या 1 mW तथा 1000 nm की तरंगदैर्ध्य, 0.1 s में x×10¹³ है, तो x का मान है। (निकटतम पूर्णाक)</a:t>
            </a:r>
            <a:endParaRPr lang="en-US" sz="2400" dirty="0"/>
          </a:p>
          <a:p>
            <a:pPr algn="just" indent="0" marL="0">
              <a:lnSpc>
                <a:spcPts val="3600"/>
              </a:lnSpc>
              <a:buNone/>
            </a:pPr>
            <a:r>
              <a:rPr lang="en-US" sz="2400" b="1" dirty="0">
                <a:solidFill>
                  <a:srgbClr val="FFFFFF"/>
                </a:solidFill>
              </a:rPr>
              <a:t>( h=6.63× 10 ⁻³⁴ Js, c=3.00× 10 ⁸ m s ⁻¹ )</a:t>
            </a:r>
            <a:endParaRPr lang="en-US" sz="2400" dirty="0"/>
          </a:p>
        </p:txBody>
      </p:sp>
      <p:sp>
        <p:nvSpPr>
          <p:cNvPr id="4" name="Text 1"/>
          <p:cNvSpPr/>
          <p:nvPr/>
        </p:nvSpPr>
        <p:spPr>
          <a:xfrm>
            <a:off x="457200" y="2926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50</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ctr" indent="0" marL="0">
              <a:buNone/>
            </a:pPr>
            <a:r>
              <a:rPr lang="en-US" sz="4400" b="1" dirty="0">
                <a:solidFill>
                  <a:srgbClr val="E02424"/>
                </a:solidFill>
              </a:rPr>
              <a:t>प्रकाश-विद्युत प्रभाव (आइंस्टीन का स्पष्टीकरण, 1905)</a:t>
            </a:r>
            <a:endParaRPr lang="en-US" sz="4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14. </a:t>
            </a:r>
            <a:pPr algn="just" indent="0" marL="0">
              <a:lnSpc>
                <a:spcPts val="3600"/>
              </a:lnSpc>
              <a:buNone/>
            </a:pPr>
            <a:r>
              <a:rPr lang="en-US" sz="2400" b="1" dirty="0">
                <a:solidFill>
                  <a:srgbClr val="FFFFFF"/>
                </a:solidFill>
              </a:rPr>
              <a:t>प्लेटिनम धातु के साथ फोटोइलेक्ट्रिक प्रभाव उत्पन्न करने के लिए फोटॉन के पास न्यूनतम ऊर्जा होनी चाहिए-</a:t>
            </a:r>
            <a:endParaRPr lang="en-US" sz="2400" dirty="0"/>
          </a:p>
          <a:p>
            <a:pPr algn="just" indent="0" marL="0">
              <a:lnSpc>
                <a:spcPts val="3600"/>
              </a:lnSpc>
              <a:buNone/>
            </a:pPr>
            <a:r>
              <a:rPr lang="en-US" sz="2400" b="1" dirty="0">
                <a:solidFill>
                  <a:srgbClr val="FFFFFF"/>
                </a:solidFill>
              </a:rPr>
              <a:t>[दिया है: प्लेटिनम की देहली आवृत्ति = 1.3×10 ¹⁵ s ⁻¹ तथा h=6.6 × 10 ⁻³⁴ Js]</a:t>
            </a:r>
            <a:endParaRPr lang="en-US" sz="2400" dirty="0"/>
          </a:p>
        </p:txBody>
      </p:sp>
      <p:sp>
        <p:nvSpPr>
          <p:cNvPr id="4" name="Text 1"/>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3.21 × 10 ⁻¹⁴ J</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6.24× 10 ⁻¹⁶ J</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8.58× 10 ⁻¹⁹ J</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9.76× 10 ⁻²⁰ J</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300"/>
              </a:lnSpc>
              <a:buNone/>
            </a:pPr>
            <a:r>
              <a:rPr lang="en-US" sz="2200" b="1" dirty="0">
                <a:solidFill>
                  <a:srgbClr val="E02424"/>
                </a:solidFill>
              </a:rPr>
              <a:t>प्रश्न 29. </a:t>
            </a:r>
            <a:pPr algn="just" indent="0" marL="0">
              <a:lnSpc>
                <a:spcPts val="3300"/>
              </a:lnSpc>
              <a:buNone/>
            </a:pPr>
            <a:r>
              <a:rPr lang="en-US" sz="2200" b="1" dirty="0">
                <a:solidFill>
                  <a:srgbClr val="FFFFFF"/>
                </a:solidFill>
              </a:rPr>
              <a:t>यदि X तरंगदैर्ध्य के प्रकाश से किरणित होने पर एक धातु की सतह से निकले हुए तीव्रतम इलेक्ट्रॉन का संवेग p है, तो प्रकाशिक इलेक्ट्रॉन के 1.5 p संवेग के लिए प्रकाश का तरंगदैर्ध्य होगा-</a:t>
            </a:r>
            <a:endParaRPr lang="en-US" sz="2200" dirty="0"/>
          </a:p>
          <a:p>
            <a:pPr algn="just" indent="0" marL="0">
              <a:lnSpc>
                <a:spcPts val="3300"/>
              </a:lnSpc>
              <a:buNone/>
            </a:pPr>
            <a:r>
              <a:rPr lang="en-US" sz="2200" b="1" dirty="0">
                <a:solidFill>
                  <a:srgbClr val="FFFFFF"/>
                </a:solidFill>
              </a:rPr>
              <a:t>(मान लिजिये कि निष्कासित प्रकाशिक इलेक्ट्रॉन की K.E. (गतिज ऊर्जा) उसके कार्यफलन की तुलना में बहुत उच्च है।)</a:t>
            </a:r>
            <a:endParaRPr lang="en-US" sz="2200" dirty="0"/>
          </a:p>
        </p:txBody>
      </p:sp>
      <p:sp>
        <p:nvSpPr>
          <p:cNvPr id="4" name="Text 1"/>
          <p:cNvSpPr/>
          <p:nvPr/>
        </p:nvSpPr>
        <p:spPr>
          <a:xfrm>
            <a:off x="457200" y="3840480"/>
            <a:ext cx="11274552" cy="1828800"/>
          </a:xfrm>
          <a:prstGeom prst="rect">
            <a:avLst/>
          </a:prstGeom>
          <a:noFill/>
          <a:ln/>
        </p:spPr>
        <p:txBody>
          <a:bodyPr wrap="square" lIns="0" tIns="0" rIns="0" bIns="0" rtlCol="0" anchor="t"/>
          <a:lstStyle/>
          <a:p>
            <a:pPr algn="just" indent="0" marL="0">
              <a:lnSpc>
                <a:spcPts val="3300"/>
              </a:lnSpc>
              <a:buNone/>
            </a:pPr>
            <a:r>
              <a:rPr lang="en-US" sz="2200" b="1" dirty="0">
                <a:solidFill>
                  <a:srgbClr val="E02424"/>
                </a:solidFill>
              </a:rPr>
              <a:t>A. </a:t>
            </a:r>
            <a:pPr algn="just" indent="0" marL="0">
              <a:lnSpc>
                <a:spcPts val="3300"/>
              </a:lnSpc>
              <a:buNone/>
            </a:pPr>
            <a:r>
              <a:rPr lang="en-US" sz="2200" dirty="0">
                <a:solidFill>
                  <a:srgbClr val="FFFFFF"/>
                </a:solidFill>
              </a:rPr>
              <a:t>2 3 λ</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B. </a:t>
            </a:r>
            <a:pPr algn="just" indent="0" marL="0">
              <a:lnSpc>
                <a:spcPts val="3300"/>
              </a:lnSpc>
              <a:buNone/>
            </a:pPr>
            <a:r>
              <a:rPr lang="en-US" sz="2200" b="1" dirty="0">
                <a:solidFill>
                  <a:srgbClr val="16A34A"/>
                </a:solidFill>
              </a:rPr>
              <a:t>4 9 λ</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C. </a:t>
            </a:r>
            <a:pPr algn="just" indent="0" marL="0">
              <a:lnSpc>
                <a:spcPts val="3300"/>
              </a:lnSpc>
              <a:buNone/>
            </a:pPr>
            <a:r>
              <a:rPr lang="en-US" sz="2200" dirty="0">
                <a:solidFill>
                  <a:srgbClr val="FFFFFF"/>
                </a:solidFill>
              </a:rPr>
              <a:t>3 4 λ</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D. </a:t>
            </a:r>
            <a:pPr algn="just" indent="0" marL="0">
              <a:lnSpc>
                <a:spcPts val="3300"/>
              </a:lnSpc>
              <a:buNone/>
            </a:pPr>
            <a:r>
              <a:rPr lang="en-US" sz="2200" dirty="0">
                <a:solidFill>
                  <a:srgbClr val="FFFFFF"/>
                </a:solidFill>
              </a:rPr>
              <a:t>1 2 λ</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प्रश्न 34. </a:t>
            </a:r>
            <a:pPr algn="just" indent="0" marL="0">
              <a:lnSpc>
                <a:spcPts val="3000"/>
              </a:lnSpc>
              <a:buNone/>
            </a:pPr>
            <a:r>
              <a:rPr lang="en-US" sz="2000" b="1" dirty="0">
                <a:solidFill>
                  <a:srgbClr val="FFFFFF"/>
                </a:solidFill>
              </a:rPr>
              <a:t>नीचे प्रदर्शित ग्राफ में से कौन-सा आपतित प्रकाश तथा धातु पृष्ठ से निष्कासित इलेक्ट्रॉन के बीच का सम्बन्ध सही प्रकार से अभिव्यक्त नहीं करता है?</a:t>
            </a:r>
            <a:endParaRPr lang="en-US" sz="2000" dirty="0"/>
          </a:p>
        </p:txBody>
      </p:sp>
      <p:pic>
        <p:nvPicPr>
          <p:cNvPr id="4" name="Image 1" descr="preencoded.png">    </p:cNvPr>
          <p:cNvPicPr>
            <a:picLocks noChangeAspect="1"/>
          </p:cNvPicPr>
          <p:nvPr/>
        </p:nvPicPr>
        <p:blipFill>
          <a:blip r:embed="rId2"/>
          <a:stretch>
            <a:fillRect/>
          </a:stretch>
        </p:blipFill>
        <p:spPr>
          <a:xfrm>
            <a:off x="457200" y="2468880"/>
            <a:ext cx="1453896" cy="3291840"/>
          </a:xfrm>
          <a:prstGeom prst="rect">
            <a:avLst/>
          </a:prstGeom>
        </p:spPr>
      </p:pic>
      <p:sp>
        <p:nvSpPr>
          <p:cNvPr id="5" name="Text 1"/>
          <p:cNvSpPr/>
          <p:nvPr/>
        </p:nvSpPr>
        <p:spPr>
          <a:xfrm>
            <a:off x="457200" y="5806440"/>
            <a:ext cx="11274552" cy="4572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c</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37. </a:t>
            </a:r>
            <a:pPr algn="just" indent="0" marL="0">
              <a:lnSpc>
                <a:spcPts val="3600"/>
              </a:lnSpc>
              <a:buNone/>
            </a:pPr>
            <a:r>
              <a:rPr lang="en-US" sz="2400" b="1" dirty="0">
                <a:solidFill>
                  <a:srgbClr val="FFFFFF"/>
                </a:solidFill>
              </a:rPr>
              <a:t>प्रकाशिक इलेक्ट्रॉन से सम्बन्धित दे-ब्रॉग्ली तरंगदैर्ध्य (λ) , आपतित विकिरण की आवृति (ν) के साथ इस प्रकार परिवर्तित होती है-</a:t>
            </a:r>
            <a:endParaRPr lang="en-US" sz="2400" dirty="0"/>
          </a:p>
          <a:p>
            <a:pPr algn="just" indent="0" marL="0">
              <a:lnSpc>
                <a:spcPts val="3600"/>
              </a:lnSpc>
              <a:buNone/>
            </a:pPr>
            <a:r>
              <a:rPr lang="en-US" sz="2400" b="1" dirty="0">
                <a:solidFill>
                  <a:srgbClr val="FFFFFF"/>
                </a:solidFill>
              </a:rPr>
              <a:t>[ ν₀ = देहली आवृति]</a:t>
            </a:r>
            <a:endParaRPr lang="en-US" sz="2400" dirty="0"/>
          </a:p>
        </p:txBody>
      </p:sp>
      <p:sp>
        <p:nvSpPr>
          <p:cNvPr id="4" name="Text 1"/>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λ∝ 1 (ν₀-ν₀)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λ∝ 1 (ν₀-ν₀) ¹/²</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λ∝ 1 (ν-ν₀) ³/²</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λ∝ 1 (ν-ν₀) ¹/⁴</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300"/>
              </a:lnSpc>
              <a:buNone/>
            </a:pPr>
            <a:r>
              <a:rPr lang="en-US" sz="2200" b="1" dirty="0">
                <a:solidFill>
                  <a:srgbClr val="E02424"/>
                </a:solidFill>
              </a:rPr>
              <a:t>प्रश्न 38. </a:t>
            </a:r>
            <a:pPr algn="just" indent="0" marL="0">
              <a:lnSpc>
                <a:spcPts val="3300"/>
              </a:lnSpc>
              <a:buNone/>
            </a:pPr>
            <a:r>
              <a:rPr lang="en-US" sz="2200" b="1" dirty="0">
                <a:solidFill>
                  <a:srgbClr val="FFFFFF"/>
                </a:solidFill>
              </a:rPr>
              <a:t>धातु का कार्यफलन क्या होगा, यदि 4000 Å तरंगदैर्ध्य का प्रकाश इससे 6 × 10 ⁵ m s ⁻¹ वेग के फोटोइलेक्ट्रॉनों को उत्पन्न करता है?</a:t>
            </a:r>
            <a:endParaRPr lang="en-US" sz="2200" dirty="0"/>
          </a:p>
          <a:p>
            <a:pPr algn="just" indent="0" marL="0">
              <a:lnSpc>
                <a:spcPts val="3300"/>
              </a:lnSpc>
              <a:buNone/>
            </a:pPr>
            <a:r>
              <a:rPr lang="en-US" sz="2200" b="1" dirty="0">
                <a:solidFill>
                  <a:srgbClr val="FFFFFF"/>
                </a:solidFill>
              </a:rPr>
              <a:t>(इलेक्ट्रॉन की द्रव्यमान = 9× 10 ⁻³¹ kg , प्रकाश का वेग 3× 10 ⁸ m s ⁻¹ प्लांक स्थिरांक = 6.626× 10 ⁻³⁴ Js, तथा इलेक्ट्रॉन का आवेश = 1.6× 10 ⁻¹⁹ J e V ⁻¹ )</a:t>
            </a:r>
            <a:endParaRPr lang="en-US" sz="2200" dirty="0"/>
          </a:p>
        </p:txBody>
      </p:sp>
      <p:sp>
        <p:nvSpPr>
          <p:cNvPr id="4" name="Text 1"/>
          <p:cNvSpPr/>
          <p:nvPr/>
        </p:nvSpPr>
        <p:spPr>
          <a:xfrm>
            <a:off x="457200" y="3840480"/>
            <a:ext cx="11274552" cy="1828800"/>
          </a:xfrm>
          <a:prstGeom prst="rect">
            <a:avLst/>
          </a:prstGeom>
          <a:noFill/>
          <a:ln/>
        </p:spPr>
        <p:txBody>
          <a:bodyPr wrap="square" lIns="0" tIns="0" rIns="0" bIns="0" rtlCol="0" anchor="t"/>
          <a:lstStyle/>
          <a:p>
            <a:pPr algn="just" indent="0" marL="0">
              <a:lnSpc>
                <a:spcPts val="3300"/>
              </a:lnSpc>
              <a:buNone/>
            </a:pPr>
            <a:r>
              <a:rPr lang="en-US" sz="2200" b="1" dirty="0">
                <a:solidFill>
                  <a:srgbClr val="E02424"/>
                </a:solidFill>
              </a:rPr>
              <a:t>A. </a:t>
            </a:r>
            <a:pPr algn="just" indent="0" marL="0">
              <a:lnSpc>
                <a:spcPts val="3300"/>
              </a:lnSpc>
              <a:buNone/>
            </a:pPr>
            <a:r>
              <a:rPr lang="en-US" sz="2200" dirty="0">
                <a:solidFill>
                  <a:srgbClr val="FFFFFF"/>
                </a:solidFill>
              </a:rPr>
              <a:t>4.0 eV</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B. </a:t>
            </a:r>
            <a:pPr algn="just" indent="0" marL="0">
              <a:lnSpc>
                <a:spcPts val="3300"/>
              </a:lnSpc>
              <a:buNone/>
            </a:pPr>
            <a:r>
              <a:rPr lang="en-US" sz="2200" b="1" dirty="0">
                <a:solidFill>
                  <a:srgbClr val="16A34A"/>
                </a:solidFill>
              </a:rPr>
              <a:t>2.1 eV</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C. </a:t>
            </a:r>
            <a:pPr algn="just" indent="0" marL="0">
              <a:lnSpc>
                <a:spcPts val="3300"/>
              </a:lnSpc>
              <a:buNone/>
            </a:pPr>
            <a:r>
              <a:rPr lang="en-US" sz="2200" dirty="0">
                <a:solidFill>
                  <a:srgbClr val="FFFFFF"/>
                </a:solidFill>
              </a:rPr>
              <a:t>0.9 eV</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D. </a:t>
            </a:r>
            <a:pPr algn="just" indent="0" marL="0">
              <a:lnSpc>
                <a:spcPts val="3300"/>
              </a:lnSpc>
              <a:buNone/>
            </a:pPr>
            <a:r>
              <a:rPr lang="en-US" sz="2200" dirty="0">
                <a:solidFill>
                  <a:srgbClr val="FFFFFF"/>
                </a:solidFill>
              </a:rPr>
              <a:t>3.1 eV</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40. </a:t>
            </a:r>
            <a:pPr algn="just" indent="0" marL="0">
              <a:lnSpc>
                <a:spcPts val="3600"/>
              </a:lnSpc>
              <a:buNone/>
            </a:pPr>
            <a:r>
              <a:rPr lang="en-US" sz="2400" b="1" dirty="0">
                <a:solidFill>
                  <a:srgbClr val="FFFFFF"/>
                </a:solidFill>
              </a:rPr>
              <a:t>प्रकाश विद्युत प्रभाव के प्रयोग में जब 250 nm का विकिरण प्रयुक्त हो तो 0.5V के विभव को लगाने से धातु से फोटोइलेक्ट्रॉन का निकलना बंद किया जा सकता है। धातु का कार्यफलन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5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4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5.5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4.5 eV</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49. </a:t>
            </a:r>
            <a:pPr algn="just" indent="0" marL="0">
              <a:lnSpc>
                <a:spcPts val="3600"/>
              </a:lnSpc>
              <a:buNone/>
            </a:pPr>
            <a:r>
              <a:rPr lang="en-US" sz="2400" b="1" dirty="0">
                <a:solidFill>
                  <a:srgbClr val="FFFFFF"/>
                </a:solidFill>
              </a:rPr>
              <a:t>यदि λ₀ और λ आपतित प्रकाश की देहली तरंगदैर्ध्य और तरंगदैर्ध्य हैं, तो धातु की सतह से अत्सर्जित फोटोइलेक्ट्रॉन का वेग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∛[](2hm(λ₀-λ))</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∛[](2hcm(λ₀-λ))</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∛[](2hm(λ₀-λλλ₀))</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∛[](2hm(1λ₀-1λ))</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74. </a:t>
            </a:r>
            <a:pPr algn="just" indent="0" marL="0">
              <a:lnSpc>
                <a:spcPts val="3600"/>
              </a:lnSpc>
              <a:buNone/>
            </a:pPr>
            <a:r>
              <a:rPr lang="en-US" sz="2400" b="1" dirty="0">
                <a:solidFill>
                  <a:srgbClr val="FFFFFF"/>
                </a:solidFill>
              </a:rPr>
              <a:t>यदि 242 nm तरंगदैर्ध्य का विद्युत चुम्बकीय विकिरण सोडियम परमाणु को आयनित करने के लिए पर्याप्त है, तो kJ mol ¯ ¹ में सोडियम की आयनन ऊर्जा है।</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494</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5943600"/>
          </a:xfrm>
          <a:prstGeom prst="rect">
            <a:avLst/>
          </a:prstGeom>
          <a:noFill/>
          <a:ln/>
        </p:spPr>
        <p:txBody>
          <a:bodyPr wrap="square" lIns="0" tIns="0" rIns="0" bIns="0" rtlCol="0" anchor="t"/>
          <a:lstStyle/>
          <a:p>
            <a:pPr algn="just" indent="0" marL="0">
              <a:lnSpc>
                <a:spcPts val="2400"/>
              </a:lnSpc>
              <a:buNone/>
            </a:pPr>
            <a:r>
              <a:rPr lang="en-US" sz="1600" b="1" dirty="0">
                <a:solidFill>
                  <a:srgbClr val="E02424"/>
                </a:solidFill>
              </a:rPr>
              <a:t>प्रश्न 79. </a:t>
            </a:r>
            <a:pPr algn="just" indent="0" marL="0">
              <a:lnSpc>
                <a:spcPts val="2400"/>
              </a:lnSpc>
              <a:buNone/>
            </a:pPr>
            <a:r>
              <a:rPr lang="en-US" sz="1600" b="1" dirty="0">
                <a:solidFill>
                  <a:srgbClr val="FFFFFF"/>
                </a:solidFill>
              </a:rPr>
              <a:t>कुछ धातुओं के लिए कार्य फलन ( W₀ ) का मान नीचे दिया गया है:</a:t>
            </a:r>
            <a:endParaRPr lang="en-US" sz="1600" dirty="0"/>
          </a:p>
          <a:p>
            <a:pPr algn="just" indent="0" marL="0">
              <a:lnSpc>
                <a:spcPts val="2400"/>
              </a:lnSpc>
              <a:buNone/>
            </a:pPr>
            <a:r>
              <a:rPr lang="en-US" sz="1600" b="1" dirty="0">
                <a:solidFill>
                  <a:srgbClr val="FFFFFF"/>
                </a:solidFill>
              </a:rPr>
              <a:t>धातु</a:t>
            </a:r>
            <a:endParaRPr lang="en-US" sz="1600" dirty="0"/>
          </a:p>
          <a:p>
            <a:pPr algn="just" indent="0" marL="0">
              <a:lnSpc>
                <a:spcPts val="2400"/>
              </a:lnSpc>
              <a:buNone/>
            </a:pPr>
            <a:r>
              <a:rPr lang="en-US" sz="1600" b="1" dirty="0">
                <a:solidFill>
                  <a:srgbClr val="FFFFFF"/>
                </a:solidFill>
              </a:rPr>
              <a:t>Li</a:t>
            </a:r>
            <a:endParaRPr lang="en-US" sz="1600" dirty="0"/>
          </a:p>
          <a:p>
            <a:pPr algn="just" indent="0" marL="0">
              <a:lnSpc>
                <a:spcPts val="2400"/>
              </a:lnSpc>
              <a:buNone/>
            </a:pPr>
            <a:r>
              <a:rPr lang="en-US" sz="1600" b="1" dirty="0">
                <a:solidFill>
                  <a:srgbClr val="FFFFFF"/>
                </a:solidFill>
              </a:rPr>
              <a:t>Na</a:t>
            </a:r>
            <a:endParaRPr lang="en-US" sz="1600" dirty="0"/>
          </a:p>
          <a:p>
            <a:pPr algn="just" indent="0" marL="0">
              <a:lnSpc>
                <a:spcPts val="2400"/>
              </a:lnSpc>
              <a:buNone/>
            </a:pPr>
            <a:r>
              <a:rPr lang="en-US" sz="1600" b="1" dirty="0">
                <a:solidFill>
                  <a:srgbClr val="FFFFFF"/>
                </a:solidFill>
              </a:rPr>
              <a:t>K</a:t>
            </a:r>
            <a:endParaRPr lang="en-US" sz="1600" dirty="0"/>
          </a:p>
          <a:p>
            <a:pPr algn="just" indent="0" marL="0">
              <a:lnSpc>
                <a:spcPts val="2400"/>
              </a:lnSpc>
              <a:buNone/>
            </a:pPr>
            <a:r>
              <a:rPr lang="en-US" sz="1600" b="1" dirty="0">
                <a:solidFill>
                  <a:srgbClr val="FFFFFF"/>
                </a:solidFill>
              </a:rPr>
              <a:t>Mg</a:t>
            </a:r>
            <a:endParaRPr lang="en-US" sz="1600" dirty="0"/>
          </a:p>
          <a:p>
            <a:pPr algn="just" indent="0" marL="0">
              <a:lnSpc>
                <a:spcPts val="2400"/>
              </a:lnSpc>
              <a:buNone/>
            </a:pPr>
            <a:r>
              <a:rPr lang="en-US" sz="1600" b="1" dirty="0">
                <a:solidFill>
                  <a:srgbClr val="FFFFFF"/>
                </a:solidFill>
              </a:rPr>
              <a:t>Cu</a:t>
            </a:r>
            <a:endParaRPr lang="en-US" sz="1600" dirty="0"/>
          </a:p>
          <a:p>
            <a:pPr algn="just" indent="0" marL="0">
              <a:lnSpc>
                <a:spcPts val="2400"/>
              </a:lnSpc>
              <a:buNone/>
            </a:pPr>
            <a:r>
              <a:rPr lang="en-US" sz="1600" b="1" dirty="0">
                <a:solidFill>
                  <a:srgbClr val="FFFFFF"/>
                </a:solidFill>
              </a:rPr>
              <a:t>Ag</a:t>
            </a:r>
            <a:endParaRPr lang="en-US" sz="1600" dirty="0"/>
          </a:p>
          <a:p>
            <a:pPr algn="just" indent="0" marL="0">
              <a:lnSpc>
                <a:spcPts val="2400"/>
              </a:lnSpc>
              <a:buNone/>
            </a:pPr>
            <a:r>
              <a:rPr lang="en-US" sz="1600" b="1" dirty="0">
                <a:solidFill>
                  <a:srgbClr val="FFFFFF"/>
                </a:solidFill>
              </a:rPr>
              <a:t>जब 400 nm तरंगदैर्ध्य का प्रकाश इन धातुओं पर पड़ता है तब प्रकाश विद्युत प्रभाव को दर्शाने वाले धातुओं की संख्या होगी।</a:t>
            </a:r>
            <a:endParaRPr lang="en-US" sz="1600" dirty="0"/>
          </a:p>
          <a:p>
            <a:pPr algn="just" indent="0" marL="0">
              <a:lnSpc>
                <a:spcPts val="2400"/>
              </a:lnSpc>
              <a:buNone/>
            </a:pPr>
            <a:r>
              <a:rPr lang="en-US" sz="1600" b="1" dirty="0">
                <a:solidFill>
                  <a:srgbClr val="FFFFFF"/>
                </a:solidFill>
              </a:rPr>
              <a:t>दिया गया है: h=6.6× 10 ⁻³⁴ Js, c= 3×10 ⁸ m s ⁻¹ ; e=1.6× 10 ⁻¹⁹ C</a:t>
            </a:r>
            <a:endParaRPr lang="en-US" sz="1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70408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457200" y="74980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06" name="Table 2"/>
          <p:cNvGraphicFramePr>
            <a:graphicFrameLocks noGrp="1"/>
          </p:cNvGraphicFramePr>
          <p:nvPr>
            <p:extLst>
              <p:ext uri="{D42A27DB-BD31-4B8C-83A1-F6EECF244321}">
                <p14:modId xmlns:p14="http://schemas.microsoft.com/office/powerpoint/2010/main" val="1579011935"/>
              </p:ext>
            </p:extLst>
          </p:nvPr>
        </p:nvGraphicFramePr>
        <p:xfrm>
          <a:off x="457200" y="79552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41" name="Table 3"/>
          <p:cNvGraphicFramePr>
            <a:graphicFrameLocks noGrp="1"/>
          </p:cNvGraphicFramePr>
          <p:nvPr>
            <p:extLst>
              <p:ext uri="{D42A27DB-BD31-4B8C-83A1-F6EECF244321}">
                <p14:modId xmlns:p14="http://schemas.microsoft.com/office/powerpoint/2010/main" val="1579011935"/>
              </p:ext>
            </p:extLst>
          </p:nvPr>
        </p:nvGraphicFramePr>
        <p:xfrm>
          <a:off x="457200" y="84124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76" name="Table 4"/>
          <p:cNvGraphicFramePr>
            <a:graphicFrameLocks noGrp="1"/>
          </p:cNvGraphicFramePr>
          <p:nvPr>
            <p:extLst>
              <p:ext uri="{D42A27DB-BD31-4B8C-83A1-F6EECF244321}">
                <p14:modId xmlns:p14="http://schemas.microsoft.com/office/powerpoint/2010/main" val="1579011935"/>
              </p:ext>
            </p:extLst>
          </p:nvPr>
        </p:nvGraphicFramePr>
        <p:xfrm>
          <a:off x="457200" y="88696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11" name="Table 5"/>
          <p:cNvGraphicFramePr>
            <a:graphicFrameLocks noGrp="1"/>
          </p:cNvGraphicFramePr>
          <p:nvPr>
            <p:extLst>
              <p:ext uri="{D42A27DB-BD31-4B8C-83A1-F6EECF244321}">
                <p14:modId xmlns:p14="http://schemas.microsoft.com/office/powerpoint/2010/main" val="1579011935"/>
              </p:ext>
            </p:extLst>
          </p:nvPr>
        </p:nvGraphicFramePr>
        <p:xfrm>
          <a:off x="457200" y="93268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46" name="Table 6"/>
          <p:cNvGraphicFramePr>
            <a:graphicFrameLocks noGrp="1"/>
          </p:cNvGraphicFramePr>
          <p:nvPr>
            <p:extLst>
              <p:ext uri="{D42A27DB-BD31-4B8C-83A1-F6EECF244321}">
                <p14:modId xmlns:p14="http://schemas.microsoft.com/office/powerpoint/2010/main" val="1579011935"/>
              </p:ext>
            </p:extLst>
          </p:nvPr>
        </p:nvGraphicFramePr>
        <p:xfrm>
          <a:off x="457200" y="97840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1" name="Text 1"/>
          <p:cNvSpPr/>
          <p:nvPr/>
        </p:nvSpPr>
        <p:spPr>
          <a:xfrm>
            <a:off x="457200" y="10241280"/>
            <a:ext cx="11274552" cy="457200"/>
          </a:xfrm>
          <a:prstGeom prst="rect">
            <a:avLst/>
          </a:prstGeom>
          <a:noFill/>
          <a:ln/>
        </p:spPr>
        <p:txBody>
          <a:bodyPr wrap="square" lIns="0" tIns="0" rIns="0" bIns="0" rtlCol="0" anchor="t"/>
          <a:lstStyle/>
          <a:p>
            <a:pPr algn="just" indent="0" marL="0">
              <a:lnSpc>
                <a:spcPts val="2100"/>
              </a:lnSpc>
              <a:buNone/>
            </a:pPr>
            <a:r>
              <a:rPr lang="en-US" sz="1400" b="1" dirty="0">
                <a:solidFill>
                  <a:srgbClr val="16A34A"/>
                </a:solidFill>
              </a:rPr>
              <a:t>उत्तर: 3</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92. </a:t>
            </a:r>
            <a:pPr algn="just" indent="0" marL="0">
              <a:lnSpc>
                <a:spcPts val="3600"/>
              </a:lnSpc>
              <a:buNone/>
            </a:pPr>
            <a:r>
              <a:rPr lang="en-US" sz="2400" b="1" dirty="0">
                <a:solidFill>
                  <a:srgbClr val="FFFFFF"/>
                </a:solidFill>
              </a:rPr>
              <a:t>यदि धातु का कार्य फलन 6.63× 10 ⁻¹⁹ J है, तो धातु से एक फोटोइलेक्ट्रॉन को हटाने के लिए आवश्यक फोटॉन की अधिकतम तरंगदैर्ध्य nm है। (निकटतम पूर्णाक)</a:t>
            </a:r>
            <a:endParaRPr lang="en-US" sz="2400" dirty="0"/>
          </a:p>
          <a:p>
            <a:pPr algn="just" indent="0" marL="0">
              <a:lnSpc>
                <a:spcPts val="3600"/>
              </a:lnSpc>
              <a:buNone/>
            </a:pPr>
            <a:r>
              <a:rPr lang="en-US" sz="2400" b="1" dirty="0">
                <a:solidFill>
                  <a:srgbClr val="FFFFFF"/>
                </a:solidFill>
              </a:rPr>
              <a:t>[दिया है: h=6.63× 10 ⁻³⁴ Js तथा c=3× 10 ⁸ m s ⁻¹ ]</a:t>
            </a:r>
            <a:endParaRPr lang="en-US" sz="2400" dirty="0"/>
          </a:p>
        </p:txBody>
      </p:sp>
      <p:sp>
        <p:nvSpPr>
          <p:cNvPr id="4" name="Text 1"/>
          <p:cNvSpPr/>
          <p:nvPr/>
        </p:nvSpPr>
        <p:spPr>
          <a:xfrm>
            <a:off x="457200" y="2926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300</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94. </a:t>
            </a:r>
            <a:pPr algn="just" indent="0" marL="0">
              <a:lnSpc>
                <a:spcPts val="3600"/>
              </a:lnSpc>
              <a:buNone/>
            </a:pPr>
            <a:r>
              <a:rPr lang="en-US" sz="2400" b="1" dirty="0">
                <a:solidFill>
                  <a:srgbClr val="FFFFFF"/>
                </a:solidFill>
              </a:rPr>
              <a:t>एक धातु की सतह 500 nm विकिरण के संपर्क में है। फोटोइलेक्ट्रिक धारा के लिए धातु की देहली आवृत्ति 4.3× 10 ¹⁴ Hz है, तो उत्सर्जित इलेक्ट्रॉन का वेग ×10 ⁵ m s ⁻¹ है। (निकटतम पूर्णाक)</a:t>
            </a:r>
            <a:endParaRPr lang="en-US" sz="2400" dirty="0"/>
          </a:p>
          <a:p>
            <a:pPr algn="just" indent="0" marL="0">
              <a:lnSpc>
                <a:spcPts val="3600"/>
              </a:lnSpc>
              <a:buNone/>
            </a:pPr>
            <a:r>
              <a:rPr lang="en-US" sz="2400" b="1" dirty="0">
                <a:solidFill>
                  <a:srgbClr val="FFFFFF"/>
                </a:solidFill>
              </a:rPr>
              <a:t>[उपयोग: h=6.63× 10 ⁻³⁴ Js me =9× 10 ⁻³¹ kg]</a:t>
            </a:r>
            <a:endParaRPr lang="en-US" sz="2400" dirty="0"/>
          </a:p>
        </p:txBody>
      </p:sp>
      <p:sp>
        <p:nvSpPr>
          <p:cNvPr id="4" name="Text 1"/>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5</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200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98. </a:t>
            </a:r>
            <a:pPr algn="just" indent="0" marL="0">
              <a:lnSpc>
                <a:spcPts val="3600"/>
              </a:lnSpc>
              <a:buNone/>
            </a:pPr>
            <a:r>
              <a:rPr lang="en-US" sz="2400" b="1" dirty="0">
                <a:solidFill>
                  <a:srgbClr val="FFFFFF"/>
                </a:solidFill>
              </a:rPr>
              <a:t>400 nm तरंगदैर्ध्य के एकवर्णी विकिरण का स्त्रोत 10 सेकंड में 1000 J ऊर्जा प्रदान करता है। जब यह विकिरण सोडियम की सतह पर पड़ता है, तो प्रति सेकंड x× 10 ²⁰ इलेक्ट्रॉन बाहर निकलते है। मान लें कि सोडियम धातु की सतह से इलेक्ट्रान की निकासी के लिए तरंगदैर्ध्य 400 nm पर्याप्त है, तो x का मान__________ है। (निकटतम पूर्णाक)</a:t>
            </a:r>
            <a:endParaRPr lang="en-US" sz="2400" dirty="0"/>
          </a:p>
          <a:p>
            <a:pPr algn="just" indent="0" marL="0">
              <a:lnSpc>
                <a:spcPts val="3600"/>
              </a:lnSpc>
              <a:buNone/>
            </a:pPr>
            <a:r>
              <a:rPr lang="en-US" sz="2400" b="1" dirty="0">
                <a:solidFill>
                  <a:srgbClr val="FFFFFF"/>
                </a:solidFill>
              </a:rPr>
              <a:t>[ h=6.626× 10 ⁻³⁴ Js]</a:t>
            </a:r>
            <a:endParaRPr lang="en-US" sz="2400" dirty="0"/>
          </a:p>
        </p:txBody>
      </p:sp>
      <p:sp>
        <p:nvSpPr>
          <p:cNvPr id="4" name="Text 1"/>
          <p:cNvSpPr/>
          <p:nvPr/>
        </p:nvSpPr>
        <p:spPr>
          <a:xfrm>
            <a:off x="457200" y="4297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100. </a:t>
            </a:r>
            <a:pPr algn="just" indent="0" marL="0">
              <a:lnSpc>
                <a:spcPts val="3600"/>
              </a:lnSpc>
              <a:buNone/>
            </a:pPr>
            <a:r>
              <a:rPr lang="en-US" sz="2400" b="1" dirty="0">
                <a:solidFill>
                  <a:srgbClr val="FFFFFF"/>
                </a:solidFill>
              </a:rPr>
              <a:t>जब तरंगदैर्ध्य का प्रकाश 248 nm देहली ऊर्जा 3.0 eV की धातु पर पड़ता है, तो उत्सर्जित इलेक्ट्रॉनों की डी-ब्रॉग्ली तरंगदैर्ध्य___________ Å है। (निकटतम पूर्णाक)</a:t>
            </a:r>
            <a:endParaRPr lang="en-US" sz="2400" dirty="0"/>
          </a:p>
          <a:p>
            <a:pPr algn="just" indent="0" marL="0">
              <a:lnSpc>
                <a:spcPts val="3600"/>
              </a:lnSpc>
              <a:buNone/>
            </a:pPr>
            <a:r>
              <a:rPr lang="en-US" sz="2400" b="1" dirty="0">
                <a:solidFill>
                  <a:srgbClr val="FFFFFF"/>
                </a:solidFill>
              </a:rPr>
              <a:t>[उपयोग करें: ∛[](3) =173, h=6.6× 10 ⁻³⁴ Js, ,me =9.1× 10 ⁻³¹ kg ;c=3.0× 10 ⁸ m s ⁻¹ 1 eV=1.6× 10 ⁻¹⁹ J]</a:t>
            </a:r>
            <a:endParaRPr lang="en-US" sz="2400" dirty="0"/>
          </a:p>
        </p:txBody>
      </p:sp>
      <p:sp>
        <p:nvSpPr>
          <p:cNvPr id="4" name="Text 1"/>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9</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ctr" indent="0" marL="0">
              <a:buNone/>
            </a:pPr>
            <a:r>
              <a:rPr lang="en-US" sz="4400" b="1" dirty="0">
                <a:solidFill>
                  <a:srgbClr val="E02424"/>
                </a:solidFill>
              </a:rPr>
              <a:t>हाइड्रोजन परमाणु के लिए बोहर का मॉडल</a:t>
            </a:r>
            <a:endParaRPr lang="en-US" sz="4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6. </a:t>
            </a:r>
            <a:pPr algn="just" indent="0" marL="0">
              <a:lnSpc>
                <a:spcPts val="3600"/>
              </a:lnSpc>
              <a:buNone/>
            </a:pPr>
            <a:r>
              <a:rPr lang="en-US" sz="2400" b="1" dirty="0">
                <a:solidFill>
                  <a:srgbClr val="FFFFFF"/>
                </a:solidFill>
              </a:rPr>
              <a:t>यदि हाइड्रोजन परमाणु की पहली कक्षा की त्रिज्या a₀ है, तो तीसरी कक्षा में इलेक्ट्रॉन की दे-ब्रॉग्ली तरंगदैर्ध्य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6 π a₀</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π a₀ 6</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π a₀ 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3 π a₀</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7. </a:t>
            </a:r>
            <a:pPr algn="just" indent="0" marL="0">
              <a:lnSpc>
                <a:spcPts val="3600"/>
              </a:lnSpc>
              <a:buNone/>
            </a:pPr>
            <a:r>
              <a:rPr lang="en-US" sz="2400" b="1" dirty="0">
                <a:solidFill>
                  <a:srgbClr val="FFFFFF"/>
                </a:solidFill>
              </a:rPr>
              <a:t>हाइड्रोजन परमाणु की प्रथम बोर कक्षा में एक इलेक्ट्रॉन की ऊर्जा - 2 . 18 × 10 ⁻¹⁸ J है। तीसरी बोर कक्षा में इसकी ऊर्जा _________होगी।</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इस मान का 1 27</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इस मान का 1 9</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इस मान का एक तिहाई</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इस मान का तीन गुना</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2004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प्रश्न 8. </a:t>
            </a:r>
            <a:pPr algn="just" indent="0" marL="0">
              <a:lnSpc>
                <a:spcPts val="3000"/>
              </a:lnSpc>
              <a:buNone/>
            </a:pPr>
            <a:r>
              <a:rPr lang="en-US" sz="2000" b="1" dirty="0">
                <a:solidFill>
                  <a:srgbClr val="FFFFFF"/>
                </a:solidFill>
              </a:rPr>
              <a:t>नीचे दो कथन दिए गए हैं:</a:t>
            </a:r>
            <a:endParaRPr lang="en-US" sz="2000" dirty="0"/>
          </a:p>
          <a:p>
            <a:pPr algn="just" indent="0" marL="0">
              <a:lnSpc>
                <a:spcPts val="3000"/>
              </a:lnSpc>
              <a:buNone/>
            </a:pPr>
            <a:r>
              <a:rPr lang="en-US" sz="2000" b="1" dirty="0">
                <a:solidFill>
                  <a:srgbClr val="FFFFFF"/>
                </a:solidFill>
              </a:rPr>
              <a:t>कथन I: बोर के हाइड्रोजन परमाणु के मॉडल के अनुसार, किसी दी गई स्थिर अवस्था में एक इलेक्ट्रॉन की कोणीय संवेग को परिमाणित किया जाता है।</a:t>
            </a:r>
            <a:endParaRPr lang="en-US" sz="2000" dirty="0"/>
          </a:p>
          <a:p>
            <a:pPr algn="just" indent="0" marL="0">
              <a:lnSpc>
                <a:spcPts val="3000"/>
              </a:lnSpc>
              <a:buNone/>
            </a:pPr>
            <a:r>
              <a:rPr lang="en-US" sz="2000" b="1" dirty="0">
                <a:solidFill>
                  <a:srgbClr val="FFFFFF"/>
                </a:solidFill>
              </a:rPr>
              <a:t>कथन II: बोर कक्षीय में इलेक्ट्रॉन की अवधारणा, हाइजेनबर्ग अनिश्चितता सिद्धांत का उल्लंघन करती है। उपरोक्त कथनों के संदर्भ में, नीचे दिए गए विकल्पों में से सबसे उपयुक्त उत्तर चुनिए।</a:t>
            </a:r>
            <a:endParaRPr lang="en-US" sz="2000" dirty="0"/>
          </a:p>
        </p:txBody>
      </p:sp>
      <p:sp>
        <p:nvSpPr>
          <p:cNvPr id="4" name="Text 1"/>
          <p:cNvSpPr/>
          <p:nvPr/>
        </p:nvSpPr>
        <p:spPr>
          <a:xfrm>
            <a:off x="457200" y="4297680"/>
            <a:ext cx="11274552" cy="18288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A. </a:t>
            </a:r>
            <a:pPr algn="just" indent="0" marL="0">
              <a:lnSpc>
                <a:spcPts val="3000"/>
              </a:lnSpc>
              <a:buNone/>
            </a:pPr>
            <a:r>
              <a:rPr lang="en-US" sz="2000" dirty="0">
                <a:solidFill>
                  <a:srgbClr val="FFFFFF"/>
                </a:solidFill>
              </a:rPr>
              <a:t>कथन 1 सही है, लेकिन कथन II गलत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B. </a:t>
            </a:r>
            <a:pPr algn="just" indent="0" marL="0">
              <a:lnSpc>
                <a:spcPts val="3000"/>
              </a:lnSpc>
              <a:buNone/>
            </a:pPr>
            <a:r>
              <a:rPr lang="en-US" sz="2000" dirty="0">
                <a:solidFill>
                  <a:srgbClr val="FFFFFF"/>
                </a:solidFill>
              </a:rPr>
              <a:t>कथन I और कथन II दोनों गलत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कथन 1 और कथन II दोनों सही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D. </a:t>
            </a:r>
            <a:pPr algn="just" indent="0" marL="0">
              <a:lnSpc>
                <a:spcPts val="3000"/>
              </a:lnSpc>
              <a:buNone/>
            </a:pPr>
            <a:r>
              <a:rPr lang="en-US" sz="2000" dirty="0">
                <a:solidFill>
                  <a:srgbClr val="FFFFFF"/>
                </a:solidFill>
              </a:rPr>
              <a:t>कथन 1 गलत है, लेकिन कथन II सही है।</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15. </a:t>
            </a:r>
            <a:pPr algn="just" indent="0" marL="0">
              <a:lnSpc>
                <a:spcPts val="3600"/>
              </a:lnSpc>
              <a:buNone/>
            </a:pPr>
            <a:r>
              <a:rPr lang="en-US" sz="2400" b="1" dirty="0">
                <a:solidFill>
                  <a:srgbClr val="FFFFFF"/>
                </a:solidFill>
              </a:rPr>
              <a:t>यदि हाइड्रोजन परमाणु के तीसरे बोर की कक्षा की त्रिज्या r₃ है तथा चौथे बोर की कक्षा की त्रिज्या r₄है, तो -</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r₄ = 9 16 r₃</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r₄ = 16 9 r₃</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r₄ = 3 4 r₃</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r₄ = 4 3 r₃</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0"/>
          </a:xfrm>
          <a:prstGeom prst="rect">
            <a:avLst/>
          </a:prstGeom>
          <a:noFill/>
          <a:ln/>
        </p:spPr>
        <p:txBody>
          <a:bodyPr wrap="square" lIns="0" tIns="0" rIns="0" bIns="0" rtlCol="0" anchor="t"/>
          <a:lstStyle/>
          <a:p>
            <a:pPr algn="just" indent="0" marL="0">
              <a:lnSpc>
                <a:spcPts val="2400"/>
              </a:lnSpc>
              <a:buNone/>
            </a:pPr>
            <a:r>
              <a:rPr lang="en-US" sz="1600" b="1" dirty="0">
                <a:solidFill>
                  <a:srgbClr val="E02424"/>
                </a:solidFill>
              </a:rPr>
              <a:t>प्रश्न 16. </a:t>
            </a:r>
            <a:pPr algn="just" indent="0" marL="0">
              <a:lnSpc>
                <a:spcPts val="2400"/>
              </a:lnSpc>
              <a:buNone/>
            </a:pPr>
            <a:r>
              <a:rPr lang="en-US" sz="1600" b="1" dirty="0">
                <a:solidFill>
                  <a:srgbClr val="FFFFFF"/>
                </a:solidFill>
              </a:rPr>
              <a:t>नीचे दो कथन दिए गए हैं:</a:t>
            </a:r>
            <a:endParaRPr lang="en-US" sz="1600" dirty="0"/>
          </a:p>
          <a:p>
            <a:pPr algn="just" indent="0" marL="0">
              <a:lnSpc>
                <a:spcPts val="2400"/>
              </a:lnSpc>
              <a:buNone/>
            </a:pPr>
            <a:r>
              <a:rPr lang="en-US" sz="1600" b="1" dirty="0">
                <a:solidFill>
                  <a:srgbClr val="FFFFFF"/>
                </a:solidFill>
              </a:rPr>
              <a:t>कथन I: बोर के परमाणु मॉडल के अनुसार, गुणात्मक रूप से इलेक्ट्रॉन के वेग का परिमाण नाभिक पर धनात्मक चार्ज में कमी के साथ बढ़ता है क्योंकि नाभिक द्वारा इलेक्ट्रॉन पर कोई मजबूत पकड़ नहीं होती है।</a:t>
            </a:r>
            <a:endParaRPr lang="en-US" sz="1600" dirty="0"/>
          </a:p>
          <a:p>
            <a:pPr algn="just" indent="0" marL="0">
              <a:lnSpc>
                <a:spcPts val="2400"/>
              </a:lnSpc>
              <a:buNone/>
            </a:pPr>
            <a:r>
              <a:rPr lang="en-US" sz="1600" b="1" dirty="0">
                <a:solidFill>
                  <a:srgbClr val="FFFFFF"/>
                </a:solidFill>
              </a:rPr>
              <a:t>कथन II: बोर के परमाणु मॉडल के अनुसार, गुणात्मक रूप से इलेक्ट्रॉन के वेग का परिमाण मुख्य क्वांटम संख्या में कमी के साथ बढ़ता है।</a:t>
            </a:r>
            <a:endParaRPr lang="en-US" sz="1600" dirty="0"/>
          </a:p>
          <a:p>
            <a:pPr algn="just" indent="0" marL="0">
              <a:lnSpc>
                <a:spcPts val="2400"/>
              </a:lnSpc>
              <a:buNone/>
            </a:pPr>
            <a:r>
              <a:rPr lang="en-US" sz="1600" b="1" dirty="0">
                <a:solidFill>
                  <a:srgbClr val="FFFFFF"/>
                </a:solidFill>
              </a:rPr>
              <a:t>ऊपर दिए गए कथनों के संदर्भ में, नीचे दिए गए विकल्पों में से सबसे उचित उत्तर चुनिएः</a:t>
            </a:r>
            <a:endParaRPr lang="en-US" sz="1600" dirty="0"/>
          </a:p>
        </p:txBody>
      </p:sp>
      <p:sp>
        <p:nvSpPr>
          <p:cNvPr id="4" name="Text 1"/>
          <p:cNvSpPr/>
          <p:nvPr/>
        </p:nvSpPr>
        <p:spPr>
          <a:xfrm>
            <a:off x="457200" y="5669280"/>
            <a:ext cx="11274552" cy="1828800"/>
          </a:xfrm>
          <a:prstGeom prst="rect">
            <a:avLst/>
          </a:prstGeom>
          <a:noFill/>
          <a:ln/>
        </p:spPr>
        <p:txBody>
          <a:bodyPr wrap="square" lIns="0" tIns="0" rIns="0" bIns="0" rtlCol="0" anchor="t"/>
          <a:lstStyle/>
          <a:p>
            <a:pPr algn="just" indent="0" marL="0">
              <a:lnSpc>
                <a:spcPts val="2400"/>
              </a:lnSpc>
              <a:buNone/>
            </a:pPr>
            <a:r>
              <a:rPr lang="en-US" sz="1600" b="1" dirty="0">
                <a:solidFill>
                  <a:srgbClr val="16A34A"/>
                </a:solidFill>
              </a:rPr>
              <a:t>A. </a:t>
            </a:r>
            <a:pPr algn="just" indent="0" marL="0">
              <a:lnSpc>
                <a:spcPts val="2400"/>
              </a:lnSpc>
              <a:buNone/>
            </a:pPr>
            <a:r>
              <a:rPr lang="en-US" sz="1600" b="1" dirty="0">
                <a:solidFill>
                  <a:srgbClr val="16A34A"/>
                </a:solidFill>
              </a:rPr>
              <a:t>कथन 1 असत्य है, परंतु कथन II सत्य है।</a:t>
            </a:r>
            <a:pPr algn="just" indent="0" marL="0">
              <a:lnSpc>
                <a:spcPts val="2400"/>
              </a:lnSpc>
              <a:buNone/>
            </a:pPr>
            <a:r>
              <a:rPr lang="en-US" sz="1600" b="1" dirty="0">
                <a:solidFill>
                  <a:srgbClr val="16A34A"/>
                </a:solidFill>
              </a:rPr>
              <a:t>  उत्तर</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E02424"/>
                </a:solidFill>
              </a:rPr>
              <a:t>B. </a:t>
            </a:r>
            <a:pPr algn="just" indent="0" marL="0">
              <a:lnSpc>
                <a:spcPts val="2400"/>
              </a:lnSpc>
              <a:buNone/>
            </a:pPr>
            <a:r>
              <a:rPr lang="en-US" sz="1600" dirty="0">
                <a:solidFill>
                  <a:srgbClr val="FFFFFF"/>
                </a:solidFill>
              </a:rPr>
              <a:t>कथन 1 सत्य है, परंतु कथन II असत्य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E02424"/>
                </a:solidFill>
              </a:rPr>
              <a:t>C. </a:t>
            </a:r>
            <a:pPr algn="just" indent="0" marL="0">
              <a:lnSpc>
                <a:spcPts val="2400"/>
              </a:lnSpc>
              <a:buNone/>
            </a:pPr>
            <a:r>
              <a:rPr lang="en-US" sz="1600" dirty="0">
                <a:solidFill>
                  <a:srgbClr val="FFFFFF"/>
                </a:solidFill>
              </a:rPr>
              <a:t>कथन I और कथन II दोनों असत्य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E02424"/>
                </a:solidFill>
              </a:rPr>
              <a:t>D. </a:t>
            </a:r>
            <a:pPr algn="just" indent="0" marL="0">
              <a:lnSpc>
                <a:spcPts val="2400"/>
              </a:lnSpc>
              <a:buNone/>
            </a:pPr>
            <a:r>
              <a:rPr lang="en-US" sz="1600" dirty="0">
                <a:solidFill>
                  <a:srgbClr val="FFFFFF"/>
                </a:solidFill>
              </a:rPr>
              <a:t>कथन I और कथन II दोनों सत्य हैं।</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2004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प्रश्न 20. </a:t>
            </a:r>
            <a:pPr algn="just" indent="0" marL="0">
              <a:lnSpc>
                <a:spcPts val="3000"/>
              </a:lnSpc>
              <a:buNone/>
            </a:pPr>
            <a:r>
              <a:rPr lang="en-US" sz="2000" b="1" dirty="0">
                <a:solidFill>
                  <a:srgbClr val="FFFFFF"/>
                </a:solidFill>
              </a:rPr>
              <a:t>नीचे दो कथन दिए गए हैं:</a:t>
            </a:r>
            <a:endParaRPr lang="en-US" sz="2000" dirty="0"/>
          </a:p>
          <a:p>
            <a:pPr algn="just" indent="0" marL="0">
              <a:lnSpc>
                <a:spcPts val="3000"/>
              </a:lnSpc>
              <a:buNone/>
            </a:pPr>
            <a:r>
              <a:rPr lang="en-US" sz="2000" b="1" dirty="0">
                <a:solidFill>
                  <a:srgbClr val="FFFFFF"/>
                </a:solidFill>
              </a:rPr>
              <a:t>कथन 1: बोर का सिद्धांत L i ⁺ आयन की स्थायित्व और रेखा स्पेक्ट्रम के लिए जिम्मेदार है।</a:t>
            </a:r>
            <a:endParaRPr lang="en-US" sz="2000" dirty="0"/>
          </a:p>
          <a:p>
            <a:pPr algn="just" indent="0" marL="0">
              <a:lnSpc>
                <a:spcPts val="3000"/>
              </a:lnSpc>
              <a:buNone/>
            </a:pPr>
            <a:r>
              <a:rPr lang="en-US" sz="2000" b="1" dirty="0">
                <a:solidFill>
                  <a:srgbClr val="FFFFFF"/>
                </a:solidFill>
              </a:rPr>
              <a:t>कथन II: बोर का सिद्धांत चुम्बकीय क्षेत्र की उपस्थिति में वर्णक्रमीय रेखाओं के विभाजन की व्याख्या करने में असमर्थ था। ऊपर दिए गए कथनों के संदर्भ में, नीचे दिए गए विकल्पों में से सबसे उचित उत्तर चुनिएः</a:t>
            </a:r>
            <a:endParaRPr lang="en-US" sz="2000" dirty="0"/>
          </a:p>
        </p:txBody>
      </p:sp>
      <p:sp>
        <p:nvSpPr>
          <p:cNvPr id="4" name="Text 1"/>
          <p:cNvSpPr/>
          <p:nvPr/>
        </p:nvSpPr>
        <p:spPr>
          <a:xfrm>
            <a:off x="457200" y="4297680"/>
            <a:ext cx="11274552" cy="18288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A. </a:t>
            </a:r>
            <a:pPr algn="just" indent="0" marL="0">
              <a:lnSpc>
                <a:spcPts val="3000"/>
              </a:lnSpc>
              <a:buNone/>
            </a:pPr>
            <a:r>
              <a:rPr lang="en-US" sz="2000" dirty="0">
                <a:solidFill>
                  <a:srgbClr val="FFFFFF"/>
                </a:solidFill>
              </a:rPr>
              <a:t>कथन 1 और कथन II दोनों सत्य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B. </a:t>
            </a:r>
            <a:pPr algn="just" indent="0" marL="0">
              <a:lnSpc>
                <a:spcPts val="3000"/>
              </a:lnSpc>
              <a:buNone/>
            </a:pPr>
            <a:r>
              <a:rPr lang="en-US" sz="2000" dirty="0">
                <a:solidFill>
                  <a:srgbClr val="FFFFFF"/>
                </a:solidFill>
              </a:rPr>
              <a:t>कथन 1 सत्य है, परंतु कथन II असत्य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C. </a:t>
            </a:r>
            <a:pPr algn="just" indent="0" marL="0">
              <a:lnSpc>
                <a:spcPts val="3000"/>
              </a:lnSpc>
              <a:buNone/>
            </a:pPr>
            <a:r>
              <a:rPr lang="en-US" sz="2000" dirty="0">
                <a:solidFill>
                  <a:srgbClr val="FFFFFF"/>
                </a:solidFill>
              </a:rPr>
              <a:t>कथन 1 और कथन II दोनों असत्य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कथन 1 असत्य है, परंतु कथन II सत्य है।</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प्रश्न 21. </a:t>
            </a:r>
            <a:pPr algn="just" indent="0" marL="0">
              <a:lnSpc>
                <a:spcPts val="3000"/>
              </a:lnSpc>
              <a:buNone/>
            </a:pPr>
            <a:r>
              <a:rPr lang="en-US" sz="2000" b="1" dirty="0">
                <a:solidFill>
                  <a:srgbClr val="FFFFFF"/>
                </a:solidFill>
              </a:rPr>
              <a:t>बोर के परमाणु सिद्धांत के अनुसार,</a:t>
            </a:r>
            <a:endParaRPr lang="en-US" sz="2000" dirty="0"/>
          </a:p>
          <a:p>
            <a:pPr algn="just" indent="0" marL="0">
              <a:lnSpc>
                <a:spcPts val="3000"/>
              </a:lnSpc>
              <a:buNone/>
            </a:pPr>
            <a:r>
              <a:rPr lang="en-US" sz="2000" b="1" dirty="0">
                <a:solidFill>
                  <a:srgbClr val="FFFFFF"/>
                </a:solidFill>
              </a:rPr>
              <a:t>नीचे दिए गए विकल्पों में से सबसे उचित उत्तर चुनिएः</a:t>
            </a:r>
            <a:endParaRPr lang="en-US" sz="2000" dirty="0"/>
          </a:p>
        </p:txBody>
      </p:sp>
      <p:sp>
        <p:nvSpPr>
          <p:cNvPr id="4" name="Text 1"/>
          <p:cNvSpPr/>
          <p:nvPr/>
        </p:nvSpPr>
        <p:spPr>
          <a:xfrm>
            <a:off x="457200" y="2011680"/>
            <a:ext cx="11274552" cy="41148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इलेक्ट्रॉन की गतिज ऊर्जा ∝ z ² n ² होती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B. </a:t>
            </a:r>
            <a:pPr algn="just" indent="0" marL="0">
              <a:lnSpc>
                <a:spcPts val="3000"/>
              </a:lnSpc>
              <a:buNone/>
            </a:pPr>
            <a:r>
              <a:rPr lang="en-US" sz="2000" dirty="0">
                <a:solidFill>
                  <a:srgbClr val="FFFFFF"/>
                </a:solidFill>
              </a:rPr>
              <a:t>इलेक्ट्रॉन के वेग ( ν) तथा मुख्य क्वांटम संख्या ( n) का गुणनफल, 'νn'∝ Z ²</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C. </a:t>
            </a:r>
            <a:pPr algn="just" indent="0" marL="0">
              <a:lnSpc>
                <a:spcPts val="3000"/>
              </a:lnSpc>
              <a:buNone/>
            </a:pPr>
            <a:r>
              <a:rPr lang="en-US" sz="2000" dirty="0">
                <a:solidFill>
                  <a:srgbClr val="FFFFFF"/>
                </a:solidFill>
              </a:rPr>
              <a:t>कक्षा में इलेक्ट्रॉन के परिक्रमण की आवृत्ति ∝ z ³ n ⁴ होती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D. </a:t>
            </a:r>
            <a:pPr algn="just" indent="0" marL="0">
              <a:lnSpc>
                <a:spcPts val="3000"/>
              </a:lnSpc>
              <a:buNone/>
            </a:pPr>
            <a:r>
              <a:rPr lang="en-US" sz="2000" dirty="0">
                <a:solidFill>
                  <a:srgbClr val="FFFFFF"/>
                </a:solidFill>
              </a:rPr>
              <a:t>इलेक्ट्रॉन पर कूलम्बिक आकर्षण बल होती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E. </a:t>
            </a:r>
            <a:pPr algn="just" indent="0" marL="0">
              <a:lnSpc>
                <a:spcPts val="3000"/>
              </a:lnSpc>
              <a:buNone/>
            </a:pPr>
            <a:r>
              <a:rPr lang="en-US" sz="2000" b="1" dirty="0">
                <a:solidFill>
                  <a:srgbClr val="16A34A"/>
                </a:solidFill>
              </a:rPr>
              <a:t>केवल (A) एवं (D)</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F. </a:t>
            </a:r>
            <a:pPr algn="just" indent="0" marL="0">
              <a:lnSpc>
                <a:spcPts val="3000"/>
              </a:lnSpc>
              <a:buNone/>
            </a:pPr>
            <a:r>
              <a:rPr lang="en-US" sz="2000" dirty="0">
                <a:solidFill>
                  <a:srgbClr val="FFFFFF"/>
                </a:solidFill>
              </a:rPr>
              <a:t>केवल (A)</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G. </a:t>
            </a:r>
            <a:pPr algn="just" indent="0" marL="0">
              <a:lnSpc>
                <a:spcPts val="3000"/>
              </a:lnSpc>
              <a:buNone/>
            </a:pPr>
            <a:r>
              <a:rPr lang="en-US" sz="2000" dirty="0">
                <a:solidFill>
                  <a:srgbClr val="FFFFFF"/>
                </a:solidFill>
              </a:rPr>
              <a:t>केवल (C)</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H. </a:t>
            </a:r>
            <a:pPr algn="just" indent="0" marL="0">
              <a:lnSpc>
                <a:spcPts val="3000"/>
              </a:lnSpc>
              <a:buNone/>
            </a:pPr>
            <a:r>
              <a:rPr lang="en-US" sz="2000" dirty="0">
                <a:solidFill>
                  <a:srgbClr val="FFFFFF"/>
                </a:solidFill>
              </a:rPr>
              <a:t>केवल (A), (C) एवं (D)</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25. </a:t>
            </a:r>
            <a:pPr algn="just" indent="0" marL="0">
              <a:lnSpc>
                <a:spcPts val="3600"/>
              </a:lnSpc>
              <a:buNone/>
            </a:pPr>
            <a:r>
              <a:rPr lang="en-US" sz="2400" b="1" dirty="0">
                <a:solidFill>
                  <a:srgbClr val="FFFFFF"/>
                </a:solidFill>
              </a:rPr>
              <a:t>L i ² + के तीसरे तथा चौथे कक्षों की त्रिज्याओं का अंतर Δ R₁ है। H e ⁺ के तीसरे तथा चौथे कक्षों की त्रिज्याओं का अंतर Δ R₂ है। Δ R₁ : Δ R₂ अनुपात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8 :3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3 :8</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2 :3</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3 :2</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27. </a:t>
            </a:r>
            <a:pPr algn="just" indent="0" marL="0">
              <a:lnSpc>
                <a:spcPts val="3600"/>
              </a:lnSpc>
              <a:buNone/>
            </a:pPr>
            <a:r>
              <a:rPr lang="en-US" sz="2400" b="1" dirty="0">
                <a:solidFill>
                  <a:srgbClr val="FFFFFF"/>
                </a:solidFill>
              </a:rPr>
              <a:t>L i ² + में द्वितीय बोर कक्षा की त्रिज्या, बोर त्रिज्या , a₀ , के रूप में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2 a₀ 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4 a₀ 3</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4 a₀ 9</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2 a₀ 9</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28. </a:t>
            </a:r>
            <a:pPr algn="just" indent="0" marL="0">
              <a:lnSpc>
                <a:spcPts val="3600"/>
              </a:lnSpc>
              <a:buNone/>
            </a:pPr>
            <a:r>
              <a:rPr lang="en-US" sz="2400" b="1" dirty="0">
                <a:solidFill>
                  <a:srgbClr val="FFFFFF"/>
                </a:solidFill>
              </a:rPr>
              <a:t>चौथी बोर कक्षा में एक इलेक्ट्रॉन की डी-ब्रोग्ली तरंगदैर्ध्य होगी-</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6 π a₀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2 π a₀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8 π a₀</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4 π a₀</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35. </a:t>
            </a:r>
            <a:pPr algn="just" indent="0" marL="0">
              <a:lnSpc>
                <a:spcPts val="3600"/>
              </a:lnSpc>
              <a:buNone/>
            </a:pPr>
            <a:r>
              <a:rPr lang="en-US" sz="2400" b="1" dirty="0">
                <a:solidFill>
                  <a:srgbClr val="FFFFFF"/>
                </a:solidFill>
              </a:rPr>
              <a:t>हाइड्रोज़न परमाणु की मूल अवस्था ऊर्जा 13.6 eV है। He ⁺आयन की द्वितीय उत्तेजित अवस्था की ऊर्जा, eV में,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-3.4</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-54.4</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-27.2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-6.04</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39. </a:t>
            </a:r>
            <a:pPr algn="just" indent="0" marL="0">
              <a:lnSpc>
                <a:spcPts val="3600"/>
              </a:lnSpc>
              <a:buNone/>
            </a:pPr>
            <a:r>
              <a:rPr lang="en-US" sz="2400" b="1" dirty="0">
                <a:solidFill>
                  <a:srgbClr val="FFFFFF"/>
                </a:solidFill>
              </a:rPr>
              <a:t>यदि एक हाइड्रोजन परमाणु में, n वें ( n th ) बोर कक्षक में स्थित इलेक्ट्रॉन का दे-ब्रॉग्ली तरंगदैर्ध्य 1.5 π a₀ के बराबर है, तो n/Z का मान है-</a:t>
            </a:r>
            <a:endParaRPr lang="en-US" sz="2400" dirty="0"/>
          </a:p>
          <a:p>
            <a:pPr algn="just" indent="0" marL="0">
              <a:lnSpc>
                <a:spcPts val="3600"/>
              </a:lnSpc>
              <a:buNone/>
            </a:pPr>
            <a:r>
              <a:rPr lang="en-US" sz="2400" b="1" dirty="0">
                <a:solidFill>
                  <a:srgbClr val="FFFFFF"/>
                </a:solidFill>
              </a:rPr>
              <a:t>( a₀ बोर त्रिज्या है)-</a:t>
            </a:r>
            <a:endParaRPr lang="en-US" sz="2400" dirty="0"/>
          </a:p>
        </p:txBody>
      </p:sp>
      <p:sp>
        <p:nvSpPr>
          <p:cNvPr id="4" name="Text 1"/>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1.0</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1.50</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0.75</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0.40</a:t>
            </a:r>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41. </a:t>
            </a:r>
            <a:pPr algn="just" indent="0" marL="0">
              <a:lnSpc>
                <a:spcPts val="3600"/>
              </a:lnSpc>
              <a:buNone/>
            </a:pPr>
            <a:r>
              <a:rPr lang="en-US" sz="2400" b="1" dirty="0">
                <a:solidFill>
                  <a:srgbClr val="FFFFFF"/>
                </a:solidFill>
              </a:rPr>
              <a:t>H-परमाणु की पहली बोर कक्षा में इलेक्ट्रॉन उपस्थिति की डी-ब्रॉग्ली की तरंगदैर्ध्य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0.529 2 π Å</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2 π×0.529 Å</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0.529 Å</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4×0.529 Å</a:t>
            </a:r>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43. </a:t>
            </a:r>
            <a:pPr algn="just" indent="0" marL="0">
              <a:lnSpc>
                <a:spcPts val="3600"/>
              </a:lnSpc>
              <a:buNone/>
            </a:pPr>
            <a:r>
              <a:rPr lang="en-US" sz="2400" b="1" dirty="0">
                <a:solidFill>
                  <a:srgbClr val="FFFFFF"/>
                </a:solidFill>
              </a:rPr>
              <a:t>हाइड्रोजन परमाणु के द्वितीय बोर कक्षा का अर्द्धव्यास होगा-(प्लांक स्थिरांक h=6.6262× 10 ⁻³⁴ Js; इलेक्ट्रॉन का द्रव्यमान = 9.1091× 10 ⁻³¹ kg; इलेक्ट्रॉन पर आवेश = 1.60210× 10 ⁻¹⁹ C; निर्वात का परावैद्युतांक ε₀ = 8.854185× 10 ⁻¹² kg ⁻¹ m ⁻³ A ² )</a:t>
            </a:r>
            <a:endParaRPr lang="en-US" sz="2400" dirty="0"/>
          </a:p>
        </p:txBody>
      </p:sp>
      <p:sp>
        <p:nvSpPr>
          <p:cNvPr id="4" name="Text 1"/>
          <p:cNvSpPr/>
          <p:nvPr/>
        </p:nvSpPr>
        <p:spPr>
          <a:xfrm>
            <a:off x="457200" y="33832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0.529 Å</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2.12 Å</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1.65 Å</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4.76 Å</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46. </a:t>
            </a:r>
            <a:pPr algn="just" indent="0" marL="0">
              <a:lnSpc>
                <a:spcPts val="3600"/>
              </a:lnSpc>
              <a:buNone/>
            </a:pPr>
            <a:r>
              <a:rPr lang="en-US" sz="2400" b="1" dirty="0">
                <a:solidFill>
                  <a:srgbClr val="FFFFFF"/>
                </a:solidFill>
              </a:rPr>
              <a:t>एक गर्म फिलामेंट से निकली इलेक्ट्रॉन धारा को V esu के विभवान्तर पर रखे दो आवेशित प्लेटों के बीच से भेजा जाता है। यदि इलेक्ट्रॉन के आवेश तथा संहति क्रमशः e तथा m हों, तो h/ λ का मान निम्न में से किसके द्वारा दिया जायेगा? (जब इलेक्ट्रॉन तरंग से संबंधित तरंगदैर्ध्य λ है)</a:t>
            </a:r>
            <a:endParaRPr lang="en-US" sz="2400" dirty="0"/>
          </a:p>
        </p:txBody>
      </p:sp>
      <p:sp>
        <p:nvSpPr>
          <p:cNvPr id="4" name="Text 1"/>
          <p:cNvSpPr/>
          <p:nvPr/>
        </p:nvSpPr>
        <p:spPr>
          <a:xfrm>
            <a:off x="457200" y="33832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meV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2 meV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∛[](meV)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∛[](2meV)</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47. </a:t>
            </a:r>
            <a:pPr algn="just" indent="0" marL="0">
              <a:lnSpc>
                <a:spcPts val="3600"/>
              </a:lnSpc>
              <a:buNone/>
            </a:pPr>
            <a:r>
              <a:rPr lang="en-US" sz="2400" b="1" dirty="0">
                <a:solidFill>
                  <a:srgbClr val="FFFFFF"/>
                </a:solidFill>
              </a:rPr>
              <a:t>निम्नलिखित में से हाइड्रोजन की सम्भव उत्तेजित अवस्था की ऊर्जा कौन-सी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-3.4 eV</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+6.8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+13.6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-6.8 eV</a:t>
            </a: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50. </a:t>
            </a:r>
            <a:pPr algn="just" indent="0" marL="0">
              <a:lnSpc>
                <a:spcPts val="3600"/>
              </a:lnSpc>
              <a:buNone/>
            </a:pPr>
            <a:r>
              <a:rPr lang="en-US" sz="2400" b="1" dirty="0">
                <a:solidFill>
                  <a:srgbClr val="FFFFFF"/>
                </a:solidFill>
              </a:rPr>
              <a:t>एक इलेक्ट्रॉन की ऊर्जा को इस प्रकार प्रस्तुत किया जाता है: E=-2.178 × 10 ⁻¹⁸ जूल (Z²/n²) प्रकाश की तरंगदैर्ध्य हाइड्रोजन परमाणु में एक इलेक्ट्रॉन को n=1 से n=2 स्तर पर उत्तेजित करने के लिए आवश्यक होगी-</a:t>
            </a:r>
            <a:endParaRPr lang="en-US" sz="2400" dirty="0"/>
          </a:p>
          <a:p>
            <a:pPr algn="just" indent="0" marL="0">
              <a:lnSpc>
                <a:spcPts val="3600"/>
              </a:lnSpc>
              <a:buNone/>
            </a:pPr>
            <a:r>
              <a:rPr lang="en-US" sz="2400" b="1" dirty="0">
                <a:solidFill>
                  <a:srgbClr val="FFFFFF"/>
                </a:solidFill>
              </a:rPr>
              <a:t>(h=6.62× 10 ⁻³⁴ जूल सेकण्ड तथा c=3.0 × 10 ⁸ मी/से)</a:t>
            </a:r>
            <a:endParaRPr lang="en-US" sz="2400" dirty="0"/>
          </a:p>
        </p:txBody>
      </p:sp>
      <p:sp>
        <p:nvSpPr>
          <p:cNvPr id="4" name="Text 1"/>
          <p:cNvSpPr/>
          <p:nvPr/>
        </p:nvSpPr>
        <p:spPr>
          <a:xfrm>
            <a:off x="457200" y="33832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8.500× 10 ⁻⁷ 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1.214× 10 ⁻⁷ 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6.5× 10 ⁻⁷ 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2.816× 10 ⁻⁷ m</a:t>
            </a:r>
            <a:endParaRPr 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54. </a:t>
            </a:r>
            <a:pPr algn="just" indent="0" marL="0">
              <a:lnSpc>
                <a:spcPts val="3600"/>
              </a:lnSpc>
              <a:buNone/>
            </a:pPr>
            <a:r>
              <a:rPr lang="en-US" sz="2400" b="1" dirty="0">
                <a:solidFill>
                  <a:srgbClr val="FFFFFF"/>
                </a:solidFill>
              </a:rPr>
              <a:t>H e ⁺ की आयनन आयन ऊर्जा 19.6× 10 ⁻¹⁸ जूल परमाणु ⁻¹ है। L i ²⁺ की प्रथम स्थिर अवस्था ( n=1) की ऊर्जा होगी-</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8.82 × 10 ⁻¹⁷ जूल परमाणु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4.41× 10 ⁻¹⁶ जूल परमाणु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- 4.41× 10 ⁻¹⁷ जूल परमाणु ⁻¹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-2.2× 10 ⁻¹⁵ जूल परमाणु ⁻¹</a:t>
            </a: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57. </a:t>
            </a:r>
            <a:pPr algn="just" indent="0" marL="0">
              <a:lnSpc>
                <a:spcPts val="3600"/>
              </a:lnSpc>
              <a:buNone/>
            </a:pPr>
            <a:r>
              <a:rPr lang="en-US" sz="2400" b="1" dirty="0">
                <a:solidFill>
                  <a:srgbClr val="FFFFFF"/>
                </a:solidFill>
              </a:rPr>
              <a:t>हाइड्रोजन परमाणु की आयनन एन्थैल्पी 1.312× 10 ⁶ Jmo l ⁻¹ है। इस परमाणु में इलेक्ट्रॉन को n=1 से n=2 में उत्तेजित करने के लिये आवश्यक ऊर्जा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9.84× 10 ⁵ Jmo l ⁻¹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8.51× 10 ⁵ Jmo l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6.56× 10 ⁵ Jmo l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7.56 × 10 ⁵ Jmo l ⁻¹</a:t>
            </a:r>
            <a:endParaRPr 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59. </a:t>
            </a:r>
            <a:pPr algn="just" indent="0" marL="0">
              <a:lnSpc>
                <a:spcPts val="3600"/>
              </a:lnSpc>
              <a:buNone/>
            </a:pPr>
            <a:r>
              <a:rPr lang="en-US" sz="2400" b="1" dirty="0">
                <a:solidFill>
                  <a:srgbClr val="FFFFFF"/>
                </a:solidFill>
              </a:rPr>
              <a:t>बोर सिद्धांत के अनुसार, 5 th ऊर्जा स्तर के इलेक्ट्रॉन का कोणीय संवेग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25 h/ 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1 h/ 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10 h/ 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2.5 h/ π</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64. </a:t>
            </a:r>
            <a:pPr algn="just" indent="0" marL="0">
              <a:lnSpc>
                <a:spcPts val="3600"/>
              </a:lnSpc>
              <a:buNone/>
            </a:pPr>
            <a:r>
              <a:rPr lang="en-US" sz="2400" b="1" dirty="0">
                <a:solidFill>
                  <a:srgbClr val="FFFFFF"/>
                </a:solidFill>
              </a:rPr>
              <a:t>एक हाइड्रोजन परमाणु में, यदि तलस्थ अवस्था में एक इलेक्ट्रॉन की ऊर्जा 13.6 eV है, तो वह दूसरी उत्तेजित अवस्था में एक इलेक्ट्रॉन की ऊर्जा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1.51 eV</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3.4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6.04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13.6 eV</a:t>
            </a:r>
            <a:endParaRPr 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65. </a:t>
            </a:r>
            <a:pPr algn="just" indent="0" marL="0">
              <a:lnSpc>
                <a:spcPts val="3600"/>
              </a:lnSpc>
              <a:buNone/>
            </a:pPr>
            <a:r>
              <a:rPr lang="en-US" sz="2400" b="1" dirty="0">
                <a:solidFill>
                  <a:srgbClr val="FFFFFF"/>
                </a:solidFill>
              </a:rPr>
              <a:t>चौथी कक्षा में एक इलेक्ट्रॉन की डी-ब्रॉग्ली तरंगदैर्ध्य π a₀ है।</a:t>
            </a:r>
            <a:endParaRPr lang="en-US" sz="2400" dirty="0"/>
          </a:p>
          <a:p>
            <a:pPr algn="just" indent="0" marL="0">
              <a:lnSpc>
                <a:spcPts val="3600"/>
              </a:lnSpc>
              <a:buNone/>
            </a:pPr>
            <a:r>
              <a:rPr lang="en-US" sz="2400" b="1" dirty="0">
                <a:solidFill>
                  <a:srgbClr val="FFFFFF"/>
                </a:solidFill>
              </a:rPr>
              <a:t>( a₀ = बोर की त्रिज्या)</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8</a:t>
            </a:r>
            <a:endParaRPr 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66. </a:t>
            </a:r>
            <a:pPr algn="just" indent="0" marL="0">
              <a:lnSpc>
                <a:spcPts val="3600"/>
              </a:lnSpc>
              <a:buNone/>
            </a:pPr>
            <a:r>
              <a:rPr lang="en-US" sz="2400" b="1" dirty="0">
                <a:solidFill>
                  <a:srgbClr val="FFFFFF"/>
                </a:solidFill>
              </a:rPr>
              <a:t>रिडवर्ग स्थिरांक (RH) का मान 2.18×10 ⁻¹⁸ J है। हाइड्रोजन परमाणु की बोर की प्रथम कक्षा में 9.1×10 ⁻³¹ kg द्रव्यमान वाले इलेक्ट्रॉन का वेग = × 10 ⁵ m s ⁻¹ है।</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22</a:t>
            </a:r>
            <a:endParaRPr lang="en-US"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67. </a:t>
            </a:r>
            <a:pPr algn="just" indent="0" marL="0">
              <a:lnSpc>
                <a:spcPts val="3600"/>
              </a:lnSpc>
              <a:buNone/>
            </a:pPr>
            <a:r>
              <a:rPr lang="en-US" sz="2400" b="1" dirty="0">
                <a:solidFill>
                  <a:srgbClr val="FFFFFF"/>
                </a:solidFill>
              </a:rPr>
              <a:t>हाइड्रोजन परमाणु की बोर की प्रथम कक्षा में इलेक्ट्रॉन की डी-ब्रॉग्ली तरंग की आवृत्ति_________ × 10 ³ हर्ट्ज है। (निकटतम पूर्णांक)</a:t>
            </a:r>
            <a:endParaRPr lang="en-US" sz="2400" dirty="0"/>
          </a:p>
          <a:p>
            <a:pPr algn="just" indent="0" marL="0">
              <a:lnSpc>
                <a:spcPts val="3600"/>
              </a:lnSpc>
              <a:buNone/>
            </a:pPr>
            <a:r>
              <a:rPr lang="en-US" sz="2400" b="1" dirty="0">
                <a:solidFill>
                  <a:srgbClr val="FFFFFF"/>
                </a:solidFill>
              </a:rPr>
              <a:t>[दिया गया है: RH (रिडबर्ग स्थिरांक) = 2.18× 10 ⁻¹⁸ J , h (प्लैंक स्थिरांक) = 6.6×10 ⁻³⁴ Js]</a:t>
            </a:r>
            <a:endParaRPr lang="en-US" sz="2400" dirty="0"/>
          </a:p>
        </p:txBody>
      </p:sp>
      <p:sp>
        <p:nvSpPr>
          <p:cNvPr id="4" name="Text 1"/>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661</a:t>
            </a:r>
            <a:endParaRPr lang="en-US"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68. </a:t>
            </a:r>
            <a:pPr algn="just" indent="0" marL="0">
              <a:lnSpc>
                <a:spcPts val="3600"/>
              </a:lnSpc>
              <a:buNone/>
            </a:pPr>
            <a:r>
              <a:rPr lang="en-US" sz="2400" b="1" dirty="0">
                <a:solidFill>
                  <a:srgbClr val="FFFFFF"/>
                </a:solidFill>
              </a:rPr>
              <a:t>हाइड्रोजन परमाणु के लिए, प्रथम उत्तेजित अवस्था में एक इलेक्ट्रॉन की ऊर्जा - 3.4 eV है, हाइड्रोजन परमाणु के उसी इलेक्ट्रॉन की गतिज ऊर्जा ( K.E.) x eV है। x का मान × 10 ⁻¹ eV है। (निकटतम पूर्णाक)</a:t>
            </a:r>
            <a:endParaRPr lang="en-US" sz="2400" dirty="0"/>
          </a:p>
        </p:txBody>
      </p:sp>
      <p:sp>
        <p:nvSpPr>
          <p:cNvPr id="4" name="Text 1"/>
          <p:cNvSpPr/>
          <p:nvPr/>
        </p:nvSpPr>
        <p:spPr>
          <a:xfrm>
            <a:off x="457200" y="2926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34</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73. </a:t>
            </a:r>
            <a:pPr algn="just" indent="0" marL="0">
              <a:lnSpc>
                <a:spcPts val="3600"/>
              </a:lnSpc>
              <a:buNone/>
            </a:pPr>
            <a:r>
              <a:rPr lang="en-US" sz="2400" b="1" dirty="0">
                <a:solidFill>
                  <a:srgbClr val="FFFFFF"/>
                </a:solidFill>
              </a:rPr>
              <a:t>जब एक इलेक्ट्रॉन पाँचवीं उत्तेजित अवस्था से पहली उत्तेजित अवस्था में संक्रमण करता है, तो He ⁺ स्पैक्ट्रम में प्राप्त स्पेक्ट्रमी रेखाओं की संख्या_________ होगी।</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10</a:t>
            </a:r>
            <a:endParaRPr 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2700"/>
              </a:lnSpc>
              <a:buNone/>
            </a:pPr>
            <a:r>
              <a:rPr lang="en-US" sz="1800" b="1" dirty="0">
                <a:solidFill>
                  <a:srgbClr val="E02424"/>
                </a:solidFill>
              </a:rPr>
              <a:t>प्रश्न 78. </a:t>
            </a:r>
            <a:pPr algn="just" indent="0" marL="0">
              <a:lnSpc>
                <a:spcPts val="2700"/>
              </a:lnSpc>
              <a:buNone/>
            </a:pPr>
            <a:r>
              <a:rPr lang="en-US" sz="1800" b="1" dirty="0">
                <a:solidFill>
                  <a:srgbClr val="FFFFFF"/>
                </a:solidFill>
              </a:rPr>
              <a:t>L i ² + की कक्षा में इलेक्ट्रॉन 1.47× 10 ⁻¹⁷ J ऊर्जा के विकिरण का उपयोग करके ( n+1) कक्षा में उत्तेजित/प्रतिस्थापित होता है (जैसा कि चित्र में दिखाया गया है)। n का मान_______ है। दिया गया है: RH =2.18× 10 ⁻¹⁸ J</a:t>
            </a:r>
            <a:endParaRPr lang="en-US" sz="1800" dirty="0"/>
          </a:p>
        </p:txBody>
      </p:sp>
      <p:pic>
        <p:nvPicPr>
          <p:cNvPr id="4" name="Image 1" descr="preencoded.png">    </p:cNvPr>
          <p:cNvPicPr>
            <a:picLocks noChangeAspect="1"/>
          </p:cNvPicPr>
          <p:nvPr/>
        </p:nvPicPr>
        <p:blipFill>
          <a:blip r:embed="rId2"/>
          <a:stretch>
            <a:fillRect/>
          </a:stretch>
        </p:blipFill>
        <p:spPr>
          <a:xfrm>
            <a:off x="457200" y="2926080"/>
            <a:ext cx="3145536" cy="1097280"/>
          </a:xfrm>
          <a:prstGeom prst="rect">
            <a:avLst/>
          </a:prstGeom>
        </p:spPr>
      </p:pic>
      <p:sp>
        <p:nvSpPr>
          <p:cNvPr id="5" name="Text 1"/>
          <p:cNvSpPr/>
          <p:nvPr/>
        </p:nvSpPr>
        <p:spPr>
          <a:xfrm>
            <a:off x="457200" y="4069080"/>
            <a:ext cx="11274552" cy="457200"/>
          </a:xfrm>
          <a:prstGeom prst="rect">
            <a:avLst/>
          </a:prstGeom>
          <a:noFill/>
          <a:ln/>
        </p:spPr>
        <p:txBody>
          <a:bodyPr wrap="square" lIns="0" tIns="0" rIns="0" bIns="0" rtlCol="0" anchor="t"/>
          <a:lstStyle/>
          <a:p>
            <a:pPr algn="just" indent="0" marL="0">
              <a:lnSpc>
                <a:spcPts val="2700"/>
              </a:lnSpc>
              <a:buNone/>
            </a:pPr>
            <a:r>
              <a:rPr lang="en-US" sz="1800" b="1" dirty="0">
                <a:solidFill>
                  <a:srgbClr val="16A34A"/>
                </a:solidFill>
              </a:rPr>
              <a:t>उत्तर: 1</a:t>
            </a:r>
            <a:endParaRPr lang="en-US" sz="1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83. </a:t>
            </a:r>
            <a:pPr algn="just" indent="0" marL="0">
              <a:lnSpc>
                <a:spcPts val="3600"/>
              </a:lnSpc>
              <a:buNone/>
            </a:pPr>
            <a:r>
              <a:rPr lang="en-US" sz="2400" b="1" dirty="0">
                <a:solidFill>
                  <a:srgbClr val="FFFFFF"/>
                </a:solidFill>
              </a:rPr>
              <a:t>मान लीजिए कि हाइड्रोजन परमाणु की प्रथम बोर कक्षा की त्रिज्या 0 . 6 Å है। He ⁺ की तीसरी बोर कक्षा की त्रिज्या (निकटतम पूर्णाक में) पिकोमीटर है।</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270</a:t>
            </a:r>
            <a:endParaRPr lang="en-US" sz="2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85. </a:t>
            </a:r>
            <a:pPr algn="just" indent="0" marL="0">
              <a:lnSpc>
                <a:spcPts val="3600"/>
              </a:lnSpc>
              <a:buNone/>
            </a:pPr>
            <a:r>
              <a:rPr lang="en-US" sz="2400" b="1" dirty="0">
                <a:solidFill>
                  <a:srgbClr val="FFFFFF"/>
                </a:solidFill>
              </a:rPr>
              <a:t>जब एक H-परमाणु का उत्तेजित इलेक्ट्रान n = 5 से तलस्थ अवस्था में गिरता है, तो अधिकतम उत्सर्जन रेखाएँ_________ देखी जाती हैं।</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10</a:t>
            </a:r>
            <a:endParaRPr 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90. </a:t>
            </a:r>
            <a:pPr algn="just" indent="0" marL="0">
              <a:lnSpc>
                <a:spcPts val="3600"/>
              </a:lnSpc>
              <a:buNone/>
            </a:pPr>
            <a:r>
              <a:rPr lang="en-US" sz="2400" b="1" dirty="0">
                <a:solidFill>
                  <a:srgbClr val="FFFFFF"/>
                </a:solidFill>
              </a:rPr>
              <a:t>प्रकाश की सबसे लंबी तरंगदैर्ध्य जिसका उपयोग लिथियम परमाणु ( Li) के आयनीकरण के लिए तलस्थ अवस्था में x× 10 ⁻⁸ m किया जा सकता है, तो x का मान_________ है। (निकटतम पूर्णाक)</a:t>
            </a:r>
            <a:endParaRPr lang="en-US" sz="2400" dirty="0"/>
          </a:p>
          <a:p>
            <a:pPr algn="just" indent="0" marL="0">
              <a:lnSpc>
                <a:spcPts val="3600"/>
              </a:lnSpc>
              <a:buNone/>
            </a:pPr>
            <a:r>
              <a:rPr lang="en-US" sz="2400" b="1" dirty="0">
                <a:solidFill>
                  <a:srgbClr val="FFFFFF"/>
                </a:solidFill>
              </a:rPr>
              <a:t>[दिया है: हाइड्रोजन परमाणु के पहले कोश में इलेक्ट्रॉन की ऊर्जा=- 2.2 × 10 ⁻¹⁸ J; h=6.63× 10 ⁻³⁴ J s तथा c=3× 10 ⁸ m s ⁻¹ ]</a:t>
            </a:r>
            <a:endParaRPr lang="en-US" sz="2400" dirty="0"/>
          </a:p>
        </p:txBody>
      </p:sp>
      <p:sp>
        <p:nvSpPr>
          <p:cNvPr id="4" name="Text 1"/>
          <p:cNvSpPr/>
          <p:nvPr/>
        </p:nvSpPr>
        <p:spPr>
          <a:xfrm>
            <a:off x="457200" y="38404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4</a:t>
            </a:r>
            <a:endParaRPr lang="en-US" sz="2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95. </a:t>
            </a:r>
            <a:pPr algn="just" indent="0" marL="0">
              <a:lnSpc>
                <a:spcPts val="3600"/>
              </a:lnSpc>
              <a:buNone/>
            </a:pPr>
            <a:r>
              <a:rPr lang="en-US" sz="2400" b="1" dirty="0">
                <a:solidFill>
                  <a:srgbClr val="FFFFFF"/>
                </a:solidFill>
              </a:rPr>
              <a:t>हाइड्रोजन परमाणु की दूसरी बोर कक्षा में इलेक्ट्रॉन की गतिज ऊर्जा h ² xma ₀ ² के बराबर होती है, तो 10 x का मान ___________ है।</a:t>
            </a:r>
            <a:endParaRPr lang="en-US" sz="2400" dirty="0"/>
          </a:p>
          <a:p>
            <a:pPr algn="just" indent="0" marL="0">
              <a:lnSpc>
                <a:spcPts val="3600"/>
              </a:lnSpc>
              <a:buNone/>
            </a:pPr>
            <a:r>
              <a:rPr lang="en-US" sz="2400" b="1" dirty="0">
                <a:solidFill>
                  <a:srgbClr val="FFFFFF"/>
                </a:solidFill>
              </a:rPr>
              <a:t>( a₀ = बोर कक्षा की त्रिज्या)</a:t>
            </a:r>
            <a:endParaRPr lang="en-US" sz="2400" dirty="0"/>
          </a:p>
          <a:p>
            <a:pPr algn="just" indent="0" marL="0">
              <a:lnSpc>
                <a:spcPts val="3600"/>
              </a:lnSpc>
              <a:buNone/>
            </a:pPr>
            <a:r>
              <a:rPr lang="en-US" sz="2400" b="1" dirty="0">
                <a:solidFill>
                  <a:srgbClr val="FFFFFF"/>
                </a:solidFill>
              </a:rPr>
              <a:t>[दिया है: π = 3.14] (निकटतम पूर्णाक)</a:t>
            </a:r>
            <a:endParaRPr lang="en-US" sz="2400" dirty="0"/>
          </a:p>
        </p:txBody>
      </p:sp>
      <p:sp>
        <p:nvSpPr>
          <p:cNvPr id="4" name="Text 1"/>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3155</a:t>
            </a:r>
            <a:endParaRPr lang="en-US"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101. </a:t>
            </a:r>
            <a:pPr algn="just" indent="0" marL="0">
              <a:lnSpc>
                <a:spcPts val="3600"/>
              </a:lnSpc>
              <a:buNone/>
            </a:pPr>
            <a:r>
              <a:rPr lang="en-US" sz="2400" b="1" dirty="0">
                <a:solidFill>
                  <a:srgbClr val="FFFFFF"/>
                </a:solidFill>
              </a:rPr>
              <a:t>एक प्रोटॉन तथा एक L i ³⁺ नाभिक का त्वरण समान विभव से किया गया है। यदि λLi तथा λp क्रमशः L i ³⁺ तथा प्रोटॉन की डी-ब्रॉग्ली तरंगदैर्ध्य हैं तो λLi λp का मान x ×10 ⁻¹ है। जहाँ x का मान_____ है|</a:t>
            </a:r>
            <a:endParaRPr lang="en-US" sz="2400" dirty="0"/>
          </a:p>
          <a:p>
            <a:pPr algn="just" indent="0" marL="0">
              <a:lnSpc>
                <a:spcPts val="3600"/>
              </a:lnSpc>
              <a:buNone/>
            </a:pPr>
            <a:r>
              <a:rPr lang="en-US" sz="2400" b="1" dirty="0">
                <a:solidFill>
                  <a:srgbClr val="FFFFFF"/>
                </a:solidFill>
              </a:rPr>
              <a:t>( L i ³⁺ की संहति = 8.3× प्रोटॉन की संहति)</a:t>
            </a:r>
            <a:endParaRPr lang="en-US" sz="2400" dirty="0"/>
          </a:p>
        </p:txBody>
      </p:sp>
      <p:sp>
        <p:nvSpPr>
          <p:cNvPr id="4" name="Text 1"/>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a:t>
            </a:r>
            <a:endParaRPr lang="en-US" sz="2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FFF"/>
                </a:solidFill>
              </a:rPr>
              <a:t>141, किसी कक्षक में एक घूमते हुए इलेक्ट्रॉन का कक्षक कोणीय संवेग ∛[](l(l+1)) . h 2 π होता है। s-इलेक्ट्रॉन के लिए यह संवेग होगा-</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1 2 . h 2 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शून्य</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h 2 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∛[](2) . h 2 π</a:t>
            </a:r>
            <a:endParaRPr lang="en-US" sz="2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ctr" indent="0" marL="0">
              <a:buNone/>
            </a:pPr>
            <a:r>
              <a:rPr lang="en-US" sz="4400" b="1" dirty="0">
                <a:solidFill>
                  <a:srgbClr val="E02424"/>
                </a:solidFill>
              </a:rPr>
              <a:t>हाइड्रोजन के रेखा वर्णक्रम का स्पष्टीकरण</a:t>
            </a:r>
            <a:endParaRPr lang="en-US" sz="4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प्रश्न 1. </a:t>
            </a:r>
            <a:pPr algn="just" indent="0" marL="0">
              <a:lnSpc>
                <a:spcPts val="3000"/>
              </a:lnSpc>
              <a:buNone/>
            </a:pPr>
            <a:r>
              <a:rPr lang="en-US" sz="2000" b="1" dirty="0">
                <a:solidFill>
                  <a:srgbClr val="FFFFFF"/>
                </a:solidFill>
              </a:rPr>
              <a:t>सूची-I को सूची-II से सुमेलित करें।</a:t>
            </a:r>
            <a:endParaRPr lang="en-US" sz="2000" dirty="0"/>
          </a:p>
          <a:p>
            <a:pPr algn="just" indent="0" marL="0">
              <a:lnSpc>
                <a:spcPts val="3000"/>
              </a:lnSpc>
              <a:buNone/>
            </a:pPr>
            <a:r>
              <a:rPr lang="en-US" sz="2000" b="1" dirty="0">
                <a:solidFill>
                  <a:srgbClr val="FFFFFF"/>
                </a:solidFill>
              </a:rPr>
              <a:t>सूची-I (क्षार धातु) सूची-II (उत्सर्जन तरंगदैर्ध्य nm में)</a:t>
            </a:r>
            <a:endParaRPr lang="en-US" sz="2000" dirty="0"/>
          </a:p>
          <a:p>
            <a:pPr algn="just" indent="0" marL="0">
              <a:lnSpc>
                <a:spcPts val="3000"/>
              </a:lnSpc>
              <a:buNone/>
            </a:pPr>
            <a:r>
              <a:rPr lang="en-US" sz="2000" b="1" dirty="0">
                <a:solidFill>
                  <a:srgbClr val="FFFFFF"/>
                </a:solidFill>
              </a:rPr>
              <a:t>नीचे दिए गए विकल्पों में से सही उत्तर चुनें:</a:t>
            </a:r>
            <a:endParaRPr lang="en-US" sz="2000" dirty="0"/>
          </a:p>
        </p:txBody>
      </p:sp>
      <p:sp>
        <p:nvSpPr>
          <p:cNvPr id="4" name="Text 1"/>
          <p:cNvSpPr/>
          <p:nvPr/>
        </p:nvSpPr>
        <p:spPr>
          <a:xfrm>
            <a:off x="457200" y="2468880"/>
            <a:ext cx="11274552" cy="36576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A. </a:t>
            </a:r>
            <a:pPr algn="just" indent="0" marL="0">
              <a:lnSpc>
                <a:spcPts val="3000"/>
              </a:lnSpc>
              <a:buNone/>
            </a:pPr>
            <a:r>
              <a:rPr lang="en-US" sz="2000" dirty="0">
                <a:solidFill>
                  <a:srgbClr val="FFFFFF"/>
                </a:solidFill>
              </a:rPr>
              <a:t>Li (I) 589.2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B. </a:t>
            </a:r>
            <a:pPr algn="just" indent="0" marL="0">
              <a:lnSpc>
                <a:spcPts val="3000"/>
              </a:lnSpc>
              <a:buNone/>
            </a:pPr>
            <a:r>
              <a:rPr lang="en-US" sz="2000" dirty="0">
                <a:solidFill>
                  <a:srgbClr val="FFFFFF"/>
                </a:solidFill>
              </a:rPr>
              <a:t>Na (II) 455.5</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Rb (III) 670.8</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D. </a:t>
            </a:r>
            <a:pPr algn="just" indent="0" marL="0">
              <a:lnSpc>
                <a:spcPts val="3000"/>
              </a:lnSpc>
              <a:buNone/>
            </a:pPr>
            <a:r>
              <a:rPr lang="en-US" sz="2000" dirty="0">
                <a:solidFill>
                  <a:srgbClr val="FFFFFF"/>
                </a:solidFill>
              </a:rPr>
              <a:t>Cs (IV) 780.0</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E. </a:t>
            </a:r>
            <a:pPr algn="just" indent="0" marL="0">
              <a:lnSpc>
                <a:spcPts val="3000"/>
              </a:lnSpc>
              <a:buNone/>
            </a:pPr>
            <a:r>
              <a:rPr lang="en-US" sz="2000" dirty="0">
                <a:solidFill>
                  <a:srgbClr val="FFFFFF"/>
                </a:solidFill>
              </a:rPr>
              <a:t>(A)-(IV), (B)-(II), (C)-(I), (D)-(III)</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F. </a:t>
            </a:r>
            <a:pPr algn="just" indent="0" marL="0">
              <a:lnSpc>
                <a:spcPts val="3000"/>
              </a:lnSpc>
              <a:buNone/>
            </a:pPr>
            <a:r>
              <a:rPr lang="en-US" sz="2000" dirty="0">
                <a:solidFill>
                  <a:srgbClr val="FFFFFF"/>
                </a:solidFill>
              </a:rPr>
              <a:t>(A)-(III), (B)-(IV), (C)-(II), (D)-(I)</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G. </a:t>
            </a:r>
            <a:pPr algn="just" indent="0" marL="0">
              <a:lnSpc>
                <a:spcPts val="3000"/>
              </a:lnSpc>
              <a:buNone/>
            </a:pPr>
            <a:r>
              <a:rPr lang="en-US" sz="2000" b="1" dirty="0">
                <a:solidFill>
                  <a:srgbClr val="16A34A"/>
                </a:solidFill>
              </a:rPr>
              <a:t>(A)-(II), (B)-(I), (C)-(III), (D)-(IV)</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H. </a:t>
            </a:r>
            <a:pPr algn="just" indent="0" marL="0">
              <a:lnSpc>
                <a:spcPts val="3000"/>
              </a:lnSpc>
              <a:buNone/>
            </a:pPr>
            <a:r>
              <a:rPr lang="en-US" sz="2000" dirty="0">
                <a:solidFill>
                  <a:srgbClr val="FFFFFF"/>
                </a:solidFill>
              </a:rPr>
              <a:t>(A)-(II), (B)-(I), (C)-(IV), (D)-(III)</a:t>
            </a:r>
            <a:endParaRPr lang="en-US" sz="2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2400"/>
              </a:lnSpc>
              <a:buNone/>
            </a:pPr>
            <a:r>
              <a:rPr lang="en-US" sz="1600" b="1" dirty="0">
                <a:solidFill>
                  <a:srgbClr val="E02424"/>
                </a:solidFill>
              </a:rPr>
              <a:t>प्रश्न 4. </a:t>
            </a:r>
            <a:pPr algn="just" indent="0" marL="0">
              <a:lnSpc>
                <a:spcPts val="2400"/>
              </a:lnSpc>
              <a:buNone/>
            </a:pPr>
            <a:r>
              <a:rPr lang="en-US" sz="1600" b="1" dirty="0">
                <a:solidFill>
                  <a:srgbClr val="FFFFFF"/>
                </a:solidFill>
              </a:rPr>
              <a:t>सूची-I को सूची-II से सुमेलित करें।</a:t>
            </a:r>
            <a:endParaRPr lang="en-US" sz="1600" dirty="0"/>
          </a:p>
          <a:p>
            <a:pPr algn="just" indent="0" marL="0">
              <a:lnSpc>
                <a:spcPts val="2400"/>
              </a:lnSpc>
              <a:buNone/>
            </a:pPr>
            <a:r>
              <a:rPr lang="en-US" sz="1600" b="1" dirty="0">
                <a:solidFill>
                  <a:srgbClr val="FFFFFF"/>
                </a:solidFill>
              </a:rPr>
              <a:t>सूची-I (हाइड्रोजन के लिए स्पेक्ट्रमी श्रेणी) | सूची-II (स्पेक्ट्रमी क्षेत्र/उच्च ऊर्जा अवस्था)</a:t>
            </a:r>
            <a:endParaRPr lang="en-US" sz="1600" dirty="0"/>
          </a:p>
          <a:p>
            <a:pPr algn="just" indent="0" marL="0">
              <a:lnSpc>
                <a:spcPts val="2400"/>
              </a:lnSpc>
              <a:buNone/>
            </a:pPr>
            <a:r>
              <a:rPr lang="en-US" sz="1600" b="1" dirty="0">
                <a:solidFill>
                  <a:srgbClr val="FFFFFF"/>
                </a:solidFill>
              </a:rPr>
              <a:t>नीचे दिए गए विकल्पों में से सही उत्तर चुनें:</a:t>
            </a:r>
            <a:endParaRPr lang="en-US" sz="1600" dirty="0"/>
          </a:p>
        </p:txBody>
      </p:sp>
      <p:sp>
        <p:nvSpPr>
          <p:cNvPr id="4" name="Text 1"/>
          <p:cNvSpPr/>
          <p:nvPr/>
        </p:nvSpPr>
        <p:spPr>
          <a:xfrm>
            <a:off x="457200" y="2926080"/>
            <a:ext cx="11274552" cy="3657600"/>
          </a:xfrm>
          <a:prstGeom prst="rect">
            <a:avLst/>
          </a:prstGeom>
          <a:noFill/>
          <a:ln/>
        </p:spPr>
        <p:txBody>
          <a:bodyPr wrap="square" lIns="0" tIns="0" rIns="0" bIns="0" rtlCol="0" anchor="t"/>
          <a:lstStyle/>
          <a:p>
            <a:pPr algn="just" indent="0" marL="0">
              <a:lnSpc>
                <a:spcPts val="2100"/>
              </a:lnSpc>
              <a:buNone/>
            </a:pPr>
            <a:r>
              <a:rPr lang="en-US" sz="1400" b="1" dirty="0">
                <a:solidFill>
                  <a:srgbClr val="E02424"/>
                </a:solidFill>
              </a:rPr>
              <a:t>A. </a:t>
            </a:r>
            <a:pPr algn="just" indent="0" marL="0">
              <a:lnSpc>
                <a:spcPts val="2100"/>
              </a:lnSpc>
              <a:buNone/>
            </a:pPr>
            <a:r>
              <a:rPr lang="en-US" sz="1400" dirty="0">
                <a:solidFill>
                  <a:srgbClr val="FFFFFF"/>
                </a:solidFill>
              </a:rPr>
              <a:t>लाइमैन | I. अवरक्त क्षेत्र</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E02424"/>
                </a:solidFill>
              </a:rPr>
              <a:t>B. </a:t>
            </a:r>
            <a:pPr algn="just" indent="0" marL="0">
              <a:lnSpc>
                <a:spcPts val="2100"/>
              </a:lnSpc>
              <a:buNone/>
            </a:pPr>
            <a:r>
              <a:rPr lang="en-US" sz="1400" dirty="0">
                <a:solidFill>
                  <a:srgbClr val="FFFFFF"/>
                </a:solidFill>
              </a:rPr>
              <a:t>बामर | II. पराबैगनी क्षेत्र</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E02424"/>
                </a:solidFill>
              </a:rPr>
              <a:t>C. </a:t>
            </a:r>
            <a:pPr algn="just" indent="0" marL="0">
              <a:lnSpc>
                <a:spcPts val="2100"/>
              </a:lnSpc>
              <a:buNone/>
            </a:pPr>
            <a:r>
              <a:rPr lang="en-US" sz="1400" dirty="0">
                <a:solidFill>
                  <a:srgbClr val="FFFFFF"/>
                </a:solidFill>
              </a:rPr>
              <a:t>पाशन | III. अवरक्त क्षेत्र</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16A34A"/>
                </a:solidFill>
              </a:rPr>
              <a:t>D. </a:t>
            </a:r>
            <a:pPr algn="just" indent="0" marL="0">
              <a:lnSpc>
                <a:spcPts val="2100"/>
              </a:lnSpc>
              <a:buNone/>
            </a:pPr>
            <a:r>
              <a:rPr lang="en-US" sz="1400" b="1" dirty="0">
                <a:solidFill>
                  <a:srgbClr val="16A34A"/>
                </a:solidFill>
              </a:rPr>
              <a:t>फंड | IV. दृश्य क्षेत्र</a:t>
            </a:r>
            <a:pPr algn="just" indent="0" marL="0">
              <a:lnSpc>
                <a:spcPts val="2100"/>
              </a:lnSpc>
              <a:buNone/>
            </a:pPr>
            <a:r>
              <a:rPr lang="en-US" sz="1400" b="1" dirty="0">
                <a:solidFill>
                  <a:srgbClr val="16A34A"/>
                </a:solidFill>
              </a:rPr>
              <a:t>  उत्तर</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E02424"/>
                </a:solidFill>
              </a:rPr>
              <a:t>E. </a:t>
            </a:r>
            <a:pPr algn="just" indent="0" marL="0">
              <a:lnSpc>
                <a:spcPts val="2100"/>
              </a:lnSpc>
              <a:buNone/>
            </a:pPr>
            <a:r>
              <a:rPr lang="en-US" sz="1400" dirty="0">
                <a:solidFill>
                  <a:srgbClr val="FFFFFF"/>
                </a:solidFill>
              </a:rPr>
              <a:t>A-II, B-III, C-I, D-IV</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E02424"/>
                </a:solidFill>
              </a:rPr>
              <a:t>F. </a:t>
            </a:r>
            <a:pPr algn="just" indent="0" marL="0">
              <a:lnSpc>
                <a:spcPts val="2100"/>
              </a:lnSpc>
              <a:buNone/>
            </a:pPr>
            <a:r>
              <a:rPr lang="en-US" sz="1400" dirty="0">
                <a:solidFill>
                  <a:srgbClr val="FFFFFF"/>
                </a:solidFill>
              </a:rPr>
              <a:t>A-I, B-II, C-III, D-IV</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E02424"/>
                </a:solidFill>
              </a:rPr>
              <a:t>G. </a:t>
            </a:r>
            <a:pPr algn="just" indent="0" marL="0">
              <a:lnSpc>
                <a:spcPts val="2100"/>
              </a:lnSpc>
              <a:buNone/>
            </a:pPr>
            <a:r>
              <a:rPr lang="en-US" sz="1400" dirty="0">
                <a:solidFill>
                  <a:srgbClr val="FFFFFF"/>
                </a:solidFill>
              </a:rPr>
              <a:t>A-I, B-III, C-II, D-IV</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16A34A"/>
                </a:solidFill>
              </a:rPr>
              <a:t>H. </a:t>
            </a:r>
            <a:pPr algn="just" indent="0" marL="0">
              <a:lnSpc>
                <a:spcPts val="2100"/>
              </a:lnSpc>
              <a:buNone/>
            </a:pPr>
            <a:r>
              <a:rPr lang="en-US" sz="1400" b="1" dirty="0">
                <a:solidFill>
                  <a:srgbClr val="16A34A"/>
                </a:solidFill>
              </a:rPr>
              <a:t>A-II, B-IV, C-III, D-I</a:t>
            </a:r>
            <a:pPr algn="just" indent="0" marL="0">
              <a:lnSpc>
                <a:spcPts val="2100"/>
              </a:lnSpc>
              <a:buNone/>
            </a:pPr>
            <a:r>
              <a:rPr lang="en-US" sz="1400" b="1" dirty="0">
                <a:solidFill>
                  <a:srgbClr val="16A34A"/>
                </a:solidFill>
              </a:rPr>
              <a:t>  उत्तर</a:t>
            </a:r>
            <a:endParaRPr lang="en-US" sz="14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457200" y="6583680"/>
          <a:ext cx="11274552" cy="365760"/>
        </p:xfrm>
        <a:graphic>
          <a:graphicData uri="http://schemas.openxmlformats.org/drawingml/2006/table">
            <a:tbl>
              <a:tblPr/>
              <a:tblGrid>
                <a:gridCol w="5637276"/>
                <a:gridCol w="563727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53" name="Table 1"/>
          <p:cNvGraphicFramePr>
            <a:graphicFrameLocks noGrp="1"/>
          </p:cNvGraphicFramePr>
          <p:nvPr>
            <p:extLst>
              <p:ext uri="{D42A27DB-BD31-4B8C-83A1-F6EECF244321}">
                <p14:modId xmlns:p14="http://schemas.microsoft.com/office/powerpoint/2010/main" val="1579011935"/>
              </p:ext>
            </p:extLst>
          </p:nvPr>
        </p:nvGraphicFramePr>
        <p:xfrm>
          <a:off x="457200" y="7040880"/>
          <a:ext cx="11274552" cy="365760"/>
        </p:xfrm>
        <a:graphic>
          <a:graphicData uri="http://schemas.openxmlformats.org/drawingml/2006/table">
            <a:tbl>
              <a:tblPr/>
              <a:tblGrid>
                <a:gridCol w="5637276"/>
                <a:gridCol w="563727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29" name="Table 2"/>
          <p:cNvGraphicFramePr>
            <a:graphicFrameLocks noGrp="1"/>
          </p:cNvGraphicFramePr>
          <p:nvPr>
            <p:extLst>
              <p:ext uri="{D42A27DB-BD31-4B8C-83A1-F6EECF244321}">
                <p14:modId xmlns:p14="http://schemas.microsoft.com/office/powerpoint/2010/main" val="1579011935"/>
              </p:ext>
            </p:extLst>
          </p:nvPr>
        </p:nvGraphicFramePr>
        <p:xfrm>
          <a:off x="457200" y="7498080"/>
          <a:ext cx="11274552" cy="365760"/>
        </p:xfrm>
        <a:graphic>
          <a:graphicData uri="http://schemas.openxmlformats.org/drawingml/2006/table">
            <a:tbl>
              <a:tblPr/>
              <a:tblGrid>
                <a:gridCol w="5637276"/>
                <a:gridCol w="563727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5" name="Table 3"/>
          <p:cNvGraphicFramePr>
            <a:graphicFrameLocks noGrp="1"/>
          </p:cNvGraphicFramePr>
          <p:nvPr>
            <p:extLst>
              <p:ext uri="{D42A27DB-BD31-4B8C-83A1-F6EECF244321}">
                <p14:modId xmlns:p14="http://schemas.microsoft.com/office/powerpoint/2010/main" val="1579011935"/>
              </p:ext>
            </p:extLst>
          </p:nvPr>
        </p:nvGraphicFramePr>
        <p:xfrm>
          <a:off x="457200" y="7955280"/>
          <a:ext cx="11274552" cy="365760"/>
        </p:xfrm>
        <a:graphic>
          <a:graphicData uri="http://schemas.openxmlformats.org/drawingml/2006/table">
            <a:tbl>
              <a:tblPr/>
              <a:tblGrid>
                <a:gridCol w="5637276"/>
                <a:gridCol w="563727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81" name="Table 4"/>
          <p:cNvGraphicFramePr>
            <a:graphicFrameLocks noGrp="1"/>
          </p:cNvGraphicFramePr>
          <p:nvPr>
            <p:extLst>
              <p:ext uri="{D42A27DB-BD31-4B8C-83A1-F6EECF244321}">
                <p14:modId xmlns:p14="http://schemas.microsoft.com/office/powerpoint/2010/main" val="1579011935"/>
              </p:ext>
            </p:extLst>
          </p:nvPr>
        </p:nvGraphicFramePr>
        <p:xfrm>
          <a:off x="457200" y="8412480"/>
          <a:ext cx="11274552" cy="365760"/>
        </p:xfrm>
        <a:graphic>
          <a:graphicData uri="http://schemas.openxmlformats.org/drawingml/2006/table">
            <a:tbl>
              <a:tblPr/>
              <a:tblGrid>
                <a:gridCol w="5637276"/>
                <a:gridCol w="563727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657600"/>
          </a:xfrm>
          <a:prstGeom prst="rect">
            <a:avLst/>
          </a:prstGeom>
          <a:noFill/>
          <a:ln/>
        </p:spPr>
        <p:txBody>
          <a:bodyPr wrap="square" lIns="0" tIns="0" rIns="0" bIns="0" rtlCol="0" anchor="t"/>
          <a:lstStyle/>
          <a:p>
            <a:pPr algn="just" indent="0" marL="0">
              <a:lnSpc>
                <a:spcPts val="2700"/>
              </a:lnSpc>
              <a:buNone/>
            </a:pPr>
            <a:r>
              <a:rPr lang="en-US" sz="1800" b="1" dirty="0">
                <a:solidFill>
                  <a:srgbClr val="E02424"/>
                </a:solidFill>
              </a:rPr>
              <a:t>प्रश्न 5. </a:t>
            </a:r>
            <a:pPr algn="just" indent="0" marL="0">
              <a:lnSpc>
                <a:spcPts val="2700"/>
              </a:lnSpc>
              <a:buNone/>
            </a:pPr>
            <a:r>
              <a:rPr lang="en-US" sz="1800" b="1" dirty="0">
                <a:solidFill>
                  <a:srgbClr val="FFFFFF"/>
                </a:solidFill>
              </a:rPr>
              <a:t>नीचे दो कथन दिए गए हैं। एक को अभिकथन A के रूप में लेबल किया गया है और दूसरे को कारण R के रूप में लेबल किया गया है:</a:t>
            </a:r>
            <a:endParaRPr lang="en-US" sz="1800" dirty="0"/>
          </a:p>
          <a:p>
            <a:pPr algn="just" indent="0" marL="0">
              <a:lnSpc>
                <a:spcPts val="2700"/>
              </a:lnSpc>
              <a:buNone/>
            </a:pPr>
            <a:r>
              <a:rPr lang="en-US" sz="1800" b="1" dirty="0">
                <a:solidFill>
                  <a:srgbClr val="FFFFFF"/>
                </a:solidFill>
              </a:rPr>
              <a:t>अभिकथन A: हाइड्रोजन परमाणु से इलेक्ट्रॉन की हानि के परिणामस्वरूप ~ 1 . 5 × 10 ⁻³ pm आकार का नाभिक बनता है।</a:t>
            </a:r>
            <a:endParaRPr lang="en-US" sz="1800" dirty="0"/>
          </a:p>
          <a:p>
            <a:pPr algn="just" indent="0" marL="0">
              <a:lnSpc>
                <a:spcPts val="2700"/>
              </a:lnSpc>
              <a:buNone/>
            </a:pPr>
            <a:r>
              <a:rPr lang="en-US" sz="1800" b="1" dirty="0">
                <a:solidFill>
                  <a:srgbClr val="FFFFFF"/>
                </a:solidFill>
              </a:rPr>
              <a:t>कारण R: प्रोटान ( H ⁻ ) सर्वदा संयुक्त रूप में विद्यमान रहता है।</a:t>
            </a:r>
            <a:endParaRPr lang="en-US" sz="1800" dirty="0"/>
          </a:p>
          <a:p>
            <a:pPr algn="just" indent="0" marL="0">
              <a:lnSpc>
                <a:spcPts val="2700"/>
              </a:lnSpc>
              <a:buNone/>
            </a:pPr>
            <a:r>
              <a:rPr lang="en-US" sz="1800" b="1" dirty="0">
                <a:solidFill>
                  <a:srgbClr val="FFFFFF"/>
                </a:solidFill>
              </a:rPr>
              <a:t>उपरोक्त कथनों के प्रकाश में, नीचे दिए गए विकल्पों में से सबसे उपयुक्त उत्तर चुनिए:</a:t>
            </a:r>
            <a:endParaRPr lang="en-US" sz="1800" dirty="0"/>
          </a:p>
        </p:txBody>
      </p:sp>
      <p:sp>
        <p:nvSpPr>
          <p:cNvPr id="4" name="Text 1"/>
          <p:cNvSpPr/>
          <p:nvPr/>
        </p:nvSpPr>
        <p:spPr>
          <a:xfrm>
            <a:off x="457200" y="4754880"/>
            <a:ext cx="11274552" cy="1828800"/>
          </a:xfrm>
          <a:prstGeom prst="rect">
            <a:avLst/>
          </a:prstGeom>
          <a:noFill/>
          <a:ln/>
        </p:spPr>
        <p:txBody>
          <a:bodyPr wrap="square" lIns="0" tIns="0" rIns="0" bIns="0" rtlCol="0" anchor="t"/>
          <a:lstStyle/>
          <a:p>
            <a:pPr algn="just" indent="0" marL="0">
              <a:lnSpc>
                <a:spcPts val="2700"/>
              </a:lnSpc>
              <a:buNone/>
            </a:pPr>
            <a:r>
              <a:rPr lang="en-US" sz="1800" b="1" dirty="0">
                <a:solidFill>
                  <a:srgbClr val="E02424"/>
                </a:solidFill>
              </a:rPr>
              <a:t>A. </a:t>
            </a:r>
            <a:pPr algn="just" indent="0" marL="0">
              <a:lnSpc>
                <a:spcPts val="2700"/>
              </a:lnSpc>
              <a:buNone/>
            </a:pPr>
            <a:r>
              <a:rPr lang="en-US" sz="1800" dirty="0">
                <a:solidFill>
                  <a:srgbClr val="FFFFFF"/>
                </a:solidFill>
              </a:rPr>
              <a:t>A सही नहीं है, लेकिन R सही है।</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B. </a:t>
            </a:r>
            <a:pPr algn="just" indent="0" marL="0">
              <a:lnSpc>
                <a:spcPts val="2700"/>
              </a:lnSpc>
              <a:buNone/>
            </a:pPr>
            <a:r>
              <a:rPr lang="en-US" sz="1800" dirty="0">
                <a:solidFill>
                  <a:srgbClr val="FFFFFF"/>
                </a:solidFill>
              </a:rPr>
              <a:t>A सही है, लेकिन R सही नहीं है।</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C. </a:t>
            </a:r>
            <a:pPr algn="just" indent="0" marL="0">
              <a:lnSpc>
                <a:spcPts val="2700"/>
              </a:lnSpc>
              <a:buNone/>
            </a:pPr>
            <a:r>
              <a:rPr lang="en-US" sz="1800" b="1" dirty="0">
                <a:solidFill>
                  <a:srgbClr val="16A34A"/>
                </a:solidFill>
              </a:rPr>
              <a:t>A और R दोनों सही हैं, लेकिन R, A की सही व्याख्या नहीं है।</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D. </a:t>
            </a:r>
            <a:pPr algn="just" indent="0" marL="0">
              <a:lnSpc>
                <a:spcPts val="2700"/>
              </a:lnSpc>
              <a:buNone/>
            </a:pPr>
            <a:r>
              <a:rPr lang="en-US" sz="1800" dirty="0">
                <a:solidFill>
                  <a:srgbClr val="FFFFFF"/>
                </a:solidFill>
              </a:rPr>
              <a:t>A और R दोनों सही हैं और R, A की सही व्याख्या है।</a:t>
            </a:r>
            <a:endParaRPr lang="en-US" sz="1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10. </a:t>
            </a:r>
            <a:pPr algn="just" indent="0" marL="0">
              <a:lnSpc>
                <a:spcPts val="3600"/>
              </a:lnSpc>
              <a:buNone/>
            </a:pPr>
            <a:r>
              <a:rPr lang="en-US" sz="2400" b="1" dirty="0">
                <a:solidFill>
                  <a:srgbClr val="FFFFFF"/>
                </a:solidFill>
              </a:rPr>
              <a:t>लाइमैन श्रेणी में हाइड्रोजन परमाणु की सबसे छोटी तरंगदैर्ध्य है। H e ⁺ की ब्रामर श्रेणी में सबसे लंबी तरंगदैर्ध्य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9 λ 5</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36 λ 5</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5 λ 9</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5 9 λ</a:t>
            </a:r>
            <a:endParaRPr lang="en-US"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12. </a:t>
            </a:r>
            <a:pPr algn="just" indent="0" marL="0">
              <a:lnSpc>
                <a:spcPts val="3600"/>
              </a:lnSpc>
              <a:buNone/>
            </a:pPr>
            <a:r>
              <a:rPr lang="en-US" sz="2400" b="1" dirty="0">
                <a:solidFill>
                  <a:srgbClr val="FFFFFF"/>
                </a:solidFill>
              </a:rPr>
              <a:t>हाइड्रोजन स्पेक्ट्रम में कौन-सा संक्रमण H e ⁺ स्पेक्ट्रम के n=4 से n=2 तक बामर प्रकार के संक्रमण के समान तरंगदैर्ध्य रखता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n=1 से n=3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n=1 से n=2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n=2 से n=1</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n=3 से n=4</a:t>
            </a:r>
            <a:endParaRPr lang="en-US"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23. </a:t>
            </a:r>
            <a:pPr algn="just" indent="0" marL="0">
              <a:lnSpc>
                <a:spcPts val="3600"/>
              </a:lnSpc>
              <a:buNone/>
            </a:pPr>
            <a:r>
              <a:rPr lang="en-US" sz="2400" b="1" dirty="0">
                <a:solidFill>
                  <a:srgbClr val="FFFFFF"/>
                </a:solidFill>
              </a:rPr>
              <a:t>विद्युत चुम्बकीय स्पेक्ट्रम में वह क्षेत्र जहाँ बामर श्रेणी प्रदर्शित होती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माइक्रोवेव</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पराबैंगनी</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दृश्य</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अवरक्त</a:t>
            </a:r>
            <a:endParaRPr lang="en-US"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24. </a:t>
            </a:r>
            <a:pPr algn="just" indent="0" marL="0">
              <a:lnSpc>
                <a:spcPts val="3600"/>
              </a:lnSpc>
              <a:buNone/>
            </a:pPr>
            <a:r>
              <a:rPr lang="en-US" sz="2400" b="1" dirty="0">
                <a:solidFill>
                  <a:srgbClr val="FFFFFF"/>
                </a:solidFill>
              </a:rPr>
              <a:t>लाइमैन श्रेणी में H-परमाणु की लघुतम तरंगदैर्ध्य λ₁ है तथा H e ⁺ की बामर श्रेणी की दीर्घतम् तरंगदैर्ध्य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9 λ₁ 5</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5 λ₁ 9</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27 λ₁ 5</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36 λ₁ 5</a:t>
            </a:r>
            <a:endParaRPr lang="en-US" sz="2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657600"/>
          </a:xfrm>
          <a:prstGeom prst="rect">
            <a:avLst/>
          </a:prstGeom>
          <a:noFill/>
          <a:ln/>
        </p:spPr>
        <p:txBody>
          <a:bodyPr wrap="square" lIns="0" tIns="0" rIns="0" bIns="0" rtlCol="0" anchor="t"/>
          <a:lstStyle/>
          <a:p>
            <a:pPr algn="just" indent="0" marL="0">
              <a:lnSpc>
                <a:spcPts val="2700"/>
              </a:lnSpc>
              <a:buNone/>
            </a:pPr>
            <a:r>
              <a:rPr lang="en-US" sz="1800" b="1" dirty="0">
                <a:solidFill>
                  <a:srgbClr val="E02424"/>
                </a:solidFill>
              </a:rPr>
              <a:t>प्रश्न 26. </a:t>
            </a:r>
            <a:pPr algn="just" indent="0" marL="0">
              <a:lnSpc>
                <a:spcPts val="2700"/>
              </a:lnSpc>
              <a:buNone/>
            </a:pPr>
            <a:r>
              <a:rPr lang="en-US" sz="1800" b="1" dirty="0">
                <a:solidFill>
                  <a:srgbClr val="FFFFFF"/>
                </a:solidFill>
              </a:rPr>
              <a:t>हाइड्रोजन परमाणु के स्पेक्ट्रम में बामर श्रेणी के लिए ̅ν = RH {1n₁²-1n₂²} , (I) - (IV) में सही कथन हैः</a:t>
            </a:r>
            <a:endParaRPr lang="en-US" sz="1800" dirty="0"/>
          </a:p>
          <a:p>
            <a:pPr algn="just" indent="0" marL="0">
              <a:lnSpc>
                <a:spcPts val="2700"/>
              </a:lnSpc>
              <a:buNone/>
            </a:pPr>
            <a:r>
              <a:rPr lang="en-US" sz="1800" b="1" dirty="0">
                <a:solidFill>
                  <a:srgbClr val="FFFFFF"/>
                </a:solidFill>
              </a:rPr>
              <a:t>(I) जैसे-जैसे तरंगदैर्ध्य घटती है, श्रेणी में लाइने अभिसरित करती है</a:t>
            </a:r>
            <a:endParaRPr lang="en-US" sz="1800" dirty="0"/>
          </a:p>
          <a:p>
            <a:pPr algn="just" indent="0" marL="0">
              <a:lnSpc>
                <a:spcPts val="2700"/>
              </a:lnSpc>
              <a:buNone/>
            </a:pPr>
            <a:r>
              <a:rPr lang="en-US" sz="1800" b="1" dirty="0">
                <a:solidFill>
                  <a:srgbClr val="FFFFFF"/>
                </a:solidFill>
              </a:rPr>
              <a:t>(II) पूर्णांक n₁=2 के बराबर है</a:t>
            </a:r>
            <a:endParaRPr lang="en-US" sz="1800" dirty="0"/>
          </a:p>
          <a:p>
            <a:pPr algn="just" indent="0" marL="0">
              <a:lnSpc>
                <a:spcPts val="2700"/>
              </a:lnSpc>
              <a:buNone/>
            </a:pPr>
            <a:r>
              <a:rPr lang="en-US" sz="1800" b="1" dirty="0">
                <a:solidFill>
                  <a:srgbClr val="FFFFFF"/>
                </a:solidFill>
              </a:rPr>
              <a:t>(III) दीर्घतम तरंगदैर्ध्य की लाइनें n₂=3 के अनुरूप होती है</a:t>
            </a:r>
            <a:endParaRPr lang="en-US" sz="1800" dirty="0"/>
          </a:p>
          <a:p>
            <a:pPr algn="just" indent="0" marL="0">
              <a:lnSpc>
                <a:spcPts val="2700"/>
              </a:lnSpc>
              <a:buNone/>
            </a:pPr>
            <a:r>
              <a:rPr lang="en-US" sz="1800" b="1" dirty="0">
                <a:solidFill>
                  <a:srgbClr val="FFFFFF"/>
                </a:solidFill>
              </a:rPr>
              <a:t>(IV) इन लाइनों की तरंग संख्या से हाइड्रोजन के आयनन ऊर्जा की गणना की जा सकती है</a:t>
            </a:r>
            <a:endParaRPr lang="en-US" sz="1800" dirty="0"/>
          </a:p>
        </p:txBody>
      </p:sp>
      <p:sp>
        <p:nvSpPr>
          <p:cNvPr id="4" name="Text 1"/>
          <p:cNvSpPr/>
          <p:nvPr/>
        </p:nvSpPr>
        <p:spPr>
          <a:xfrm>
            <a:off x="457200" y="4754880"/>
            <a:ext cx="11274552" cy="1828800"/>
          </a:xfrm>
          <a:prstGeom prst="rect">
            <a:avLst/>
          </a:prstGeom>
          <a:noFill/>
          <a:ln/>
        </p:spPr>
        <p:txBody>
          <a:bodyPr wrap="square" lIns="0" tIns="0" rIns="0" bIns="0" rtlCol="0" anchor="t"/>
          <a:lstStyle/>
          <a:p>
            <a:pPr algn="just" indent="0" marL="0">
              <a:lnSpc>
                <a:spcPts val="2700"/>
              </a:lnSpc>
              <a:buNone/>
            </a:pPr>
            <a:r>
              <a:rPr lang="en-US" sz="1800" b="1" dirty="0">
                <a:solidFill>
                  <a:srgbClr val="E02424"/>
                </a:solidFill>
              </a:rPr>
              <a:t>A. </a:t>
            </a:r>
            <a:pPr algn="just" indent="0" marL="0">
              <a:lnSpc>
                <a:spcPts val="2700"/>
              </a:lnSpc>
              <a:buNone/>
            </a:pPr>
            <a:r>
              <a:rPr lang="en-US" sz="1800" dirty="0">
                <a:solidFill>
                  <a:srgbClr val="FFFFFF"/>
                </a:solidFill>
              </a:rPr>
              <a:t>(II), (III), (IV)</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B. </a:t>
            </a:r>
            <a:pPr algn="just" indent="0" marL="0">
              <a:lnSpc>
                <a:spcPts val="2700"/>
              </a:lnSpc>
              <a:buNone/>
            </a:pPr>
            <a:r>
              <a:rPr lang="en-US" sz="1800" dirty="0">
                <a:solidFill>
                  <a:srgbClr val="FFFFFF"/>
                </a:solidFill>
              </a:rPr>
              <a:t>(I), (II), (III)</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C. </a:t>
            </a:r>
            <a:pPr algn="just" indent="0" marL="0">
              <a:lnSpc>
                <a:spcPts val="2700"/>
              </a:lnSpc>
              <a:buNone/>
            </a:pPr>
            <a:r>
              <a:rPr lang="en-US" sz="1800" b="1" dirty="0">
                <a:solidFill>
                  <a:srgbClr val="16A34A"/>
                </a:solidFill>
              </a:rPr>
              <a:t>(I), (III), (IV)</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D. </a:t>
            </a:r>
            <a:pPr algn="just" indent="0" marL="0">
              <a:lnSpc>
                <a:spcPts val="2700"/>
              </a:lnSpc>
              <a:buNone/>
            </a:pPr>
            <a:r>
              <a:rPr lang="en-US" sz="1800" dirty="0">
                <a:solidFill>
                  <a:srgbClr val="FFFFFF"/>
                </a:solidFill>
              </a:rPr>
              <a:t>(I), (II), (IV)</a:t>
            </a:r>
            <a:endParaRPr lang="en-US" sz="1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30. </a:t>
            </a:r>
            <a:pPr algn="just" indent="0" marL="0">
              <a:lnSpc>
                <a:spcPts val="3600"/>
              </a:lnSpc>
              <a:buNone/>
            </a:pPr>
            <a:r>
              <a:rPr lang="en-US" sz="2400" b="1" dirty="0">
                <a:solidFill>
                  <a:srgbClr val="FFFFFF"/>
                </a:solidFill>
              </a:rPr>
              <a:t>परमाणु हाइड्रोजन के स्पेक्ट्रल रेखाओं की दी गई श्रृंखलाओं के लिए यदि उच्चतम तथा निम्नतम आवृत्तियों में अंतर Δ ̅ν = ̅νmax - ̅νmin (cm⁻¹में) है तो अनुपात ̅νलाइमैन - ̅νबामर होगा-</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4:1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27 :5</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9 :4</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5 :4</a:t>
            </a:r>
            <a:endParaRPr lang="en-US" sz="2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32. </a:t>
            </a:r>
            <a:pPr algn="just" indent="0" marL="0">
              <a:lnSpc>
                <a:spcPts val="3600"/>
              </a:lnSpc>
              <a:buNone/>
            </a:pPr>
            <a:r>
              <a:rPr lang="en-US" sz="2400" b="1" dirty="0">
                <a:solidFill>
                  <a:srgbClr val="FFFFFF"/>
                </a:solidFill>
              </a:rPr>
              <a:t>हाइड्रोजन स्पेक्ट्रम के दो स्पेक्ट्रमी श्रेणियों के लघुतम तरंगदैर्ध्य A का अनुपात लगभग 9 पाया गया। स्पेक्ट्रमी श्रेणियाँ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पाश्चन तथा फुन्ड</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लाइमैन तथा पाश्चन</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बामर तथा ब्रैकेट</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ब्रैकेट तथा फुंड</a:t>
            </a:r>
            <a:endParaRPr lang="en-US" sz="2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33. </a:t>
            </a:r>
            <a:pPr algn="just" indent="0" marL="0">
              <a:lnSpc>
                <a:spcPts val="3600"/>
              </a:lnSpc>
              <a:buNone/>
            </a:pPr>
            <a:r>
              <a:rPr lang="en-US" sz="2400" b="1" dirty="0">
                <a:solidFill>
                  <a:srgbClr val="FFFFFF"/>
                </a:solidFill>
              </a:rPr>
              <a:t>परमाणु हाइड्रोजन के n₁ = 8 से nf =n तक की उत्सर्जन लाइन के लिए (1n²) के विरूद्ध तरंग संख्या ( ̅ν ) का आलेख होगा-</a:t>
            </a:r>
            <a:endParaRPr lang="en-US" sz="2400" dirty="0"/>
          </a:p>
          <a:p>
            <a:pPr algn="just" indent="0" marL="0">
              <a:lnSpc>
                <a:spcPts val="3600"/>
              </a:lnSpc>
              <a:buNone/>
            </a:pPr>
            <a:r>
              <a:rPr lang="en-US" sz="2400" b="1" dirty="0">
                <a:solidFill>
                  <a:srgbClr val="FFFFFF"/>
                </a:solidFill>
              </a:rPr>
              <a:t>(रिडबर्ग स्थिरांक, RH तरंग संख्या के मात्रक में)</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 RH अंतः खण्ड के साथ रैखिक</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RHअरैखिक</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RH ढ़ाल के साथ रैखिक</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 RHढ़ाल के साथ रैखिक</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44. </a:t>
            </a:r>
            <a:pPr algn="just" indent="0" marL="0">
              <a:lnSpc>
                <a:spcPts val="3600"/>
              </a:lnSpc>
              <a:buNone/>
            </a:pPr>
            <a:r>
              <a:rPr lang="en-US" sz="2400" b="1" dirty="0">
                <a:solidFill>
                  <a:srgbClr val="FFFFFF"/>
                </a:solidFill>
              </a:rPr>
              <a:t>यदि हाइड्रोजन परमाणुओं की लाइमैन श्रेणी में सबसे छोटी तरंगदैर्ध्य A है, तो He ⁺ की पाश्चन श्रेणी में सबसे लम्बी तरंगदैर्ध्य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5 A 9</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36 A 5</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36 A 7</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9 A 5</a:t>
            </a:r>
            <a:endParaRPr lang="en-US" sz="2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45. </a:t>
            </a:r>
            <a:pPr algn="just" indent="0" marL="0">
              <a:lnSpc>
                <a:spcPts val="3600"/>
              </a:lnSpc>
              <a:buNone/>
            </a:pPr>
            <a:r>
              <a:rPr lang="en-US" sz="2400" b="1" dirty="0">
                <a:solidFill>
                  <a:srgbClr val="FFFFFF"/>
                </a:solidFill>
              </a:rPr>
              <a:t>हाइड्रोजन परमाणु में इलेक्ट्रॉन उच्च कक्षकों से 211.6 pm त्रिज्या वाले कक्षक में संक्रमण से गुजरता है, यह संक्रमण के साथ जुड़ा हुआ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पाश्चन श्रेणी</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लाइमैन श्रेणी</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ब्रैकेट श्रेणी</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बामर श्रेणी</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51. </a:t>
            </a:r>
            <a:pPr algn="just" indent="0" marL="0">
              <a:lnSpc>
                <a:spcPts val="3600"/>
              </a:lnSpc>
              <a:buNone/>
            </a:pPr>
            <a:r>
              <a:rPr lang="en-US" sz="2400" b="1" dirty="0">
                <a:solidFill>
                  <a:srgbClr val="FFFFFF"/>
                </a:solidFill>
              </a:rPr>
              <a:t>बामर श्रेणी में सीमांत रेखा की आवृत्ति होगी R∞ =3.29× 10 ¹⁵ cycles/s)</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8.22 × 10 ¹⁴ s ⁻¹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3.29× 10 ¹⁵ s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3.65 × 10 ¹⁴ s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5.26 × 10 ¹³ s ⁻¹</a:t>
            </a:r>
            <a:endParaRPr lang="en-US" sz="2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60. </a:t>
            </a:r>
            <a:pPr algn="just" indent="0" marL="0">
              <a:lnSpc>
                <a:spcPts val="3600"/>
              </a:lnSpc>
              <a:buNone/>
            </a:pPr>
            <a:r>
              <a:rPr lang="en-US" sz="2400" b="1" dirty="0">
                <a:solidFill>
                  <a:srgbClr val="FFFFFF"/>
                </a:solidFill>
              </a:rPr>
              <a:t>जब हाइड्रोजन परमाणु में इलेक्ट्रॉन अनन्त से स्थिर अवस्था 1 में गिरता है तब उत्सर्जित विकिरण की तरंगदैर्ध्य होगी-</a:t>
            </a:r>
            <a:endParaRPr lang="en-US" sz="2400" dirty="0"/>
          </a:p>
          <a:p>
            <a:pPr algn="just" indent="0" marL="0">
              <a:lnSpc>
                <a:spcPts val="3600"/>
              </a:lnSpc>
              <a:buNone/>
            </a:pPr>
            <a:r>
              <a:rPr lang="en-US" sz="2400" b="1" dirty="0">
                <a:solidFill>
                  <a:srgbClr val="FFFFFF"/>
                </a:solidFill>
              </a:rPr>
              <a:t>(रिडबर्ग स्थिरांक = 1.097× 10 ⁷ m ⁻¹ )</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91 nm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192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406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9.1×10 ⁻⁸ nm</a:t>
            </a:r>
            <a:endParaRPr lang="en-US" sz="2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62. </a:t>
            </a:r>
            <a:pPr algn="just" indent="0" marL="0">
              <a:lnSpc>
                <a:spcPts val="3600"/>
              </a:lnSpc>
              <a:buNone/>
            </a:pPr>
            <a:r>
              <a:rPr lang="en-US" sz="2400" b="1" dirty="0">
                <a:solidFill>
                  <a:srgbClr val="FFFFFF"/>
                </a:solidFill>
              </a:rPr>
              <a:t>हाइड्रोजन स्पेक्ट्रम की बोर-श्रेणी की रेखाओं में, लाल सिरे से तीसरी रेखा हाइड्रोजन परमाणु में बोर कक्ष के इलेक्ट्रॉन की किस आन्तरिक कक्ष में कूद को दर्शाती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3→2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4→1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5→2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2→5</a:t>
            </a:r>
            <a:endParaRPr lang="en-US" sz="2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81. </a:t>
            </a:r>
            <a:pPr algn="just" indent="0" marL="0">
              <a:lnSpc>
                <a:spcPts val="3600"/>
              </a:lnSpc>
              <a:buNone/>
            </a:pPr>
            <a:r>
              <a:rPr lang="en-US" sz="2400" b="1" dirty="0">
                <a:solidFill>
                  <a:srgbClr val="FFFFFF"/>
                </a:solidFill>
              </a:rPr>
              <a:t>यदि हाइड्रोजन परमाणु की पाश्चेन श्रृंखला की पहली पंक्ति की तरंगदैर्ध्य 720 nm है, तो इस श्रृंखला की दूसरी पंक्ति की तरंगदैर्ध्य _______________nm है। (निकटतम पूर्णांक)</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492</a:t>
            </a:r>
            <a:endParaRPr lang="en-US" sz="2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ctr" indent="0" marL="0">
              <a:buNone/>
            </a:pPr>
            <a:r>
              <a:rPr lang="en-US" sz="4400" b="1" dirty="0">
                <a:solidFill>
                  <a:srgbClr val="E02424"/>
                </a:solidFill>
              </a:rPr>
              <a:t>पदार्थ का द्वैत व्यवहार</a:t>
            </a:r>
            <a:endParaRPr lang="en-US" sz="4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2700"/>
              </a:lnSpc>
              <a:buNone/>
            </a:pPr>
            <a:r>
              <a:rPr lang="en-US" sz="1800" b="1" dirty="0">
                <a:solidFill>
                  <a:srgbClr val="E02424"/>
                </a:solidFill>
              </a:rPr>
              <a:t>प्रश्न 3. </a:t>
            </a:r>
            <a:pPr algn="just" indent="0" marL="0">
              <a:lnSpc>
                <a:spcPts val="2700"/>
              </a:lnSpc>
              <a:buNone/>
            </a:pPr>
            <a:r>
              <a:rPr lang="en-US" sz="1800" b="1" dirty="0">
                <a:solidFill>
                  <a:srgbClr val="FFFFFF"/>
                </a:solidFill>
              </a:rPr>
              <a:t>डी-ब्रॉग्ली द्वारा पदार्थ के तरंग–कण द्वैत के अनुसार, निम्नलिखित में से कौन-सा ग्राफ अलिखित इलेक्ट्रॉन की तरंगदैर्घ्य ( λ ) और इलेक्ट्रॉन के संवेग ( p) के बीच सबसे उपयुक्त संबंध प्रस्तुत करता है?</a:t>
            </a:r>
            <a:endParaRPr lang="en-US" sz="1800" dirty="0"/>
          </a:p>
        </p:txBody>
      </p:sp>
      <p:pic>
        <p:nvPicPr>
          <p:cNvPr id="4" name="Image 1" descr="preencoded.png">    </p:cNvPr>
          <p:cNvPicPr>
            <a:picLocks noChangeAspect="1"/>
          </p:cNvPicPr>
          <p:nvPr/>
        </p:nvPicPr>
        <p:blipFill>
          <a:blip r:embed="rId2"/>
          <a:stretch>
            <a:fillRect/>
          </a:stretch>
        </p:blipFill>
        <p:spPr>
          <a:xfrm>
            <a:off x="457200" y="2926080"/>
            <a:ext cx="4983480" cy="2834640"/>
          </a:xfrm>
          <a:prstGeom prst="rect">
            <a:avLst/>
          </a:prstGeom>
        </p:spPr>
      </p:pic>
      <p:sp>
        <p:nvSpPr>
          <p:cNvPr id="5" name="Text 1"/>
          <p:cNvSpPr/>
          <p:nvPr/>
        </p:nvSpPr>
        <p:spPr>
          <a:xfrm>
            <a:off x="457200" y="5806440"/>
            <a:ext cx="11274552" cy="457200"/>
          </a:xfrm>
          <a:prstGeom prst="rect">
            <a:avLst/>
          </a:prstGeom>
          <a:noFill/>
          <a:ln/>
        </p:spPr>
        <p:txBody>
          <a:bodyPr wrap="square" lIns="0" tIns="0" rIns="0" bIns="0" rtlCol="0" anchor="t"/>
          <a:lstStyle/>
          <a:p>
            <a:pPr algn="just" indent="0" marL="0">
              <a:lnSpc>
                <a:spcPts val="2700"/>
              </a:lnSpc>
              <a:buNone/>
            </a:pPr>
            <a:r>
              <a:rPr lang="en-US" sz="1800" b="1" dirty="0">
                <a:solidFill>
                  <a:srgbClr val="16A34A"/>
                </a:solidFill>
              </a:rPr>
              <a:t>उत्तर: d</a:t>
            </a:r>
            <a:endParaRPr lang="en-US" sz="1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48. </a:t>
            </a:r>
            <a:pPr algn="just" indent="0" marL="0">
              <a:lnSpc>
                <a:spcPts val="3600"/>
              </a:lnSpc>
              <a:buNone/>
            </a:pPr>
            <a:r>
              <a:rPr lang="en-US" sz="2400" b="1" dirty="0">
                <a:solidFill>
                  <a:srgbClr val="FFFFFF"/>
                </a:solidFill>
              </a:rPr>
              <a:t>ताप T' पर किसी भी कण की औसत गतिज ऊर्जा 3 2 kT होती है, तो दे-ब्रॉग्ली तरंगदैर्ध्य का क्रम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थर्मल प्रोटॉन &gt; दृश्य फोटॉन &gt; थर्मल इलेक्ट्रॉन</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थर्मल प्रोटॉन &gt; थर्मल इलेक्ट्रॉन &gt; दृश्य फोटॉन</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दृश्य फोटॉन &gt; थर्मल इलेक्ट्रॉन &gt; थर्मल न्यूट्रॉन</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दृश्य फोटॉन &gt; थर्मल न्यूट्रॉन &gt; थर्मल इलेक्ट्रॉन</a:t>
            </a:r>
            <a:endParaRPr lang="en-US" sz="2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55. </a:t>
            </a:r>
            <a:pPr algn="just" indent="0" marL="0">
              <a:lnSpc>
                <a:spcPts val="3600"/>
              </a:lnSpc>
              <a:buNone/>
            </a:pPr>
            <a:r>
              <a:rPr lang="en-US" sz="2400" b="1" dirty="0">
                <a:solidFill>
                  <a:srgbClr val="FFFFFF"/>
                </a:solidFill>
              </a:rPr>
              <a:t>1× 10 ³ m s ⁻¹ से घूमते हुए प्रोटोन से सम्बन्धित तरंगदैर्ध्य ( nm में ) की गणना कीजिए|</a:t>
            </a:r>
            <a:endParaRPr lang="en-US" sz="2400" dirty="0"/>
          </a:p>
          <a:p>
            <a:pPr algn="just" indent="0" marL="0">
              <a:lnSpc>
                <a:spcPts val="3600"/>
              </a:lnSpc>
              <a:buNone/>
            </a:pPr>
            <a:r>
              <a:rPr lang="en-US" sz="2400" b="1" dirty="0">
                <a:solidFill>
                  <a:srgbClr val="FFFFFF"/>
                </a:solidFill>
              </a:rPr>
              <a:t>(प्रोटान का द्रव्यमान = 1.67× 10 ⁻²⁷ kg तथा h=6.63× 10 ⁻³⁴ Js )-</a:t>
            </a:r>
            <a:endParaRPr lang="en-US" sz="2400" dirty="0"/>
          </a:p>
        </p:txBody>
      </p:sp>
      <p:sp>
        <p:nvSpPr>
          <p:cNvPr id="4" name="Text 1"/>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0.032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0.40 nm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2.5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14.0 nm</a:t>
            </a:r>
            <a:endParaRPr lang="en-US" sz="2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61. </a:t>
            </a:r>
            <a:pPr algn="just" indent="0" marL="0">
              <a:lnSpc>
                <a:spcPts val="3600"/>
              </a:lnSpc>
              <a:buNone/>
            </a:pPr>
            <a:r>
              <a:rPr lang="en-US" sz="2400" b="1" dirty="0">
                <a:solidFill>
                  <a:srgbClr val="FFFFFF"/>
                </a:solidFill>
              </a:rPr>
              <a:t>एक टेनिस बॉल का द्रव्यमान 60 ग्राम है और वह 10 मीटर प्रति सेकण्ड के वेग से घूमती है तो इसकी डी-ब्रोग्ली तरंगदैर्ध्य लगभग होगी-</a:t>
            </a:r>
            <a:endParaRPr lang="en-US" sz="2400" dirty="0"/>
          </a:p>
          <a:p>
            <a:pPr algn="just" indent="0" marL="0">
              <a:lnSpc>
                <a:spcPts val="3600"/>
              </a:lnSpc>
              <a:buNone/>
            </a:pPr>
            <a:r>
              <a:rPr lang="en-US" sz="2400" b="1" dirty="0">
                <a:solidFill>
                  <a:srgbClr val="FFFFFF"/>
                </a:solidFill>
              </a:rPr>
              <a:t>(प्लांक स्थिरांक, h=6.6 × 10 ⁻³⁴ Js)</a:t>
            </a:r>
            <a:endParaRPr lang="en-US" sz="2400" dirty="0"/>
          </a:p>
        </p:txBody>
      </p:sp>
      <p:sp>
        <p:nvSpPr>
          <p:cNvPr id="4" name="Text 1"/>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10 ⁻³³ मीटर</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10 ⁻³¹ मीटर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10 ⁻¹⁶ मीटर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10 ⁻²⁵ मीटर</a:t>
            </a:r>
            <a:endParaRPr lang="en-US" sz="2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75. </a:t>
            </a:r>
            <a:pPr algn="just" indent="0" marL="0">
              <a:lnSpc>
                <a:spcPts val="3600"/>
              </a:lnSpc>
              <a:buNone/>
            </a:pPr>
            <a:r>
              <a:rPr lang="en-US" sz="2400" b="1" dirty="0">
                <a:solidFill>
                  <a:srgbClr val="FFFFFF"/>
                </a:solidFill>
              </a:rPr>
              <a:t>गतिज ऊर्जा 4.50× 10 ⁻²⁹ J के एक इलेक्ट्रॉन की तरंगदैर्ध्य × 10 ⁵ मीटर है। (निकटतम पूर्णाक) दिया गया है:</a:t>
            </a:r>
            <a:endParaRPr lang="en-US" sz="2400" dirty="0"/>
          </a:p>
          <a:p>
            <a:pPr algn="just" indent="0" marL="0">
              <a:lnSpc>
                <a:spcPts val="3600"/>
              </a:lnSpc>
              <a:buNone/>
            </a:pPr>
            <a:r>
              <a:rPr lang="en-US" sz="2400" b="1" dirty="0">
                <a:solidFill>
                  <a:srgbClr val="FFFFFF"/>
                </a:solidFill>
              </a:rPr>
              <a:t>इलेक्ट्रॉन का द्रव्यमान 9× 10 ⁻³¹ kg, h=6.6× 10 ⁻³⁴ Js</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7</a:t>
            </a:r>
            <a:endParaRPr lang="en-US" sz="2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300"/>
              </a:lnSpc>
              <a:buNone/>
            </a:pPr>
            <a:r>
              <a:rPr lang="en-US" sz="2200" b="1" dirty="0">
                <a:solidFill>
                  <a:srgbClr val="E02424"/>
                </a:solidFill>
              </a:rPr>
              <a:t>प्रश्न 80. </a:t>
            </a:r>
            <a:pPr algn="just" indent="0" marL="0">
              <a:lnSpc>
                <a:spcPts val="3300"/>
              </a:lnSpc>
              <a:buNone/>
            </a:pPr>
            <a:r>
              <a:rPr lang="en-US" sz="2200" b="1" dirty="0">
                <a:solidFill>
                  <a:srgbClr val="FFFFFF"/>
                </a:solidFill>
              </a:rPr>
              <a:t>कैथौड किरण नली में इलेक्ट्रॉन 1000 m s ⁻¹ के वेग से उत्सर्जित हुए हैं। निम्नलिखित कथनों की संख्या जो उत्सर्जित विकिरण के बारे में सत्य है।</a:t>
            </a:r>
            <a:endParaRPr lang="en-US" sz="2200" dirty="0"/>
          </a:p>
          <a:p>
            <a:pPr algn="just" indent="0" marL="0">
              <a:lnSpc>
                <a:spcPts val="3300"/>
              </a:lnSpc>
              <a:buNone/>
            </a:pPr>
            <a:r>
              <a:rPr lang="en-US" sz="2200" b="1" dirty="0">
                <a:solidFill>
                  <a:srgbClr val="FFFFFF"/>
                </a:solidFill>
              </a:rPr>
              <a:t>दिया गया है: h=6× 10 ⁻³⁴ Js, me =9× 10 ⁻³¹ किलोग्राम</a:t>
            </a:r>
            <a:endParaRPr lang="en-US" sz="2200" dirty="0"/>
          </a:p>
        </p:txBody>
      </p:sp>
      <p:sp>
        <p:nvSpPr>
          <p:cNvPr id="4" name="Text 1"/>
          <p:cNvSpPr/>
          <p:nvPr/>
        </p:nvSpPr>
        <p:spPr>
          <a:xfrm>
            <a:off x="457200" y="2926080"/>
            <a:ext cx="11274552" cy="2743200"/>
          </a:xfrm>
          <a:prstGeom prst="rect">
            <a:avLst/>
          </a:prstGeom>
          <a:noFill/>
          <a:ln/>
        </p:spPr>
        <p:txBody>
          <a:bodyPr wrap="square" lIns="0" tIns="0" rIns="0" bIns="0" rtlCol="0" anchor="t"/>
          <a:lstStyle/>
          <a:p>
            <a:pPr algn="just" indent="0" marL="0">
              <a:lnSpc>
                <a:spcPts val="3300"/>
              </a:lnSpc>
              <a:buNone/>
            </a:pPr>
            <a:r>
              <a:rPr lang="en-US" sz="2200" b="1" dirty="0">
                <a:solidFill>
                  <a:srgbClr val="E02424"/>
                </a:solidFill>
              </a:rPr>
              <a:t>A. </a:t>
            </a:r>
            <a:pPr algn="just" indent="0" marL="0">
              <a:lnSpc>
                <a:spcPts val="3300"/>
              </a:lnSpc>
              <a:buNone/>
            </a:pPr>
            <a:r>
              <a:rPr lang="en-US" sz="2200" dirty="0">
                <a:solidFill>
                  <a:srgbClr val="FFFFFF"/>
                </a:solidFill>
              </a:rPr>
              <a:t>उत्सर्जित इलेक्ट्रॉन की डी ब्रोगली तरंगदैर्ध्य 666.67 nm है।</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B. </a:t>
            </a:r>
            <a:pPr algn="just" indent="0" marL="0">
              <a:lnSpc>
                <a:spcPts val="3300"/>
              </a:lnSpc>
              <a:buNone/>
            </a:pPr>
            <a:r>
              <a:rPr lang="en-US" sz="2200" b="1" dirty="0">
                <a:solidFill>
                  <a:srgbClr val="16A34A"/>
                </a:solidFill>
              </a:rPr>
              <a:t>उत्सर्जित इलेक्ट्रॉनों के गुणधर्म केथोड किरण नली के इलेक्ट्रोड की सामग्री पर निर्भर करते है।</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C. </a:t>
            </a:r>
            <a:pPr algn="just" indent="0" marL="0">
              <a:lnSpc>
                <a:spcPts val="3300"/>
              </a:lnSpc>
              <a:buNone/>
            </a:pPr>
            <a:r>
              <a:rPr lang="en-US" sz="2200" dirty="0">
                <a:solidFill>
                  <a:srgbClr val="FFFFFF"/>
                </a:solidFill>
              </a:rPr>
              <a:t>कैथोड किरणें केथोड से प्रारंभ होकर ऐनोड की ओर बढ़ती हैं।</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D. </a:t>
            </a:r>
            <a:pPr algn="just" indent="0" marL="0">
              <a:lnSpc>
                <a:spcPts val="3300"/>
              </a:lnSpc>
              <a:buNone/>
            </a:pPr>
            <a:r>
              <a:rPr lang="en-US" sz="2200" dirty="0">
                <a:solidFill>
                  <a:srgbClr val="FFFFFF"/>
                </a:solidFill>
              </a:rPr>
              <a:t>उत्सर्जित इलेक्ट्रॉनों की प्रकृति कैथोड किरण नली में उपस्थित गैस की प्रकृति पर निर्भर करती है।</a:t>
            </a:r>
            <a:endParaRPr lang="en-US" sz="2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86. </a:t>
            </a:r>
            <a:pPr algn="just" indent="0" marL="0">
              <a:lnSpc>
                <a:spcPts val="3600"/>
              </a:lnSpc>
              <a:buNone/>
            </a:pPr>
            <a:r>
              <a:rPr lang="en-US" sz="2400" b="1" dirty="0">
                <a:solidFill>
                  <a:srgbClr val="FFFFFF"/>
                </a:solidFill>
              </a:rPr>
              <a:t>एक इलेक्ट्रॉन और एक न्यूट्रॉन की तरंगदैर्ध्य बराबर हो जाएगी, जब इलेक्ट्रॉन का वेग, न्यूट्रॉन के वेग का x गुना होगा। x का मान__________ है।</a:t>
            </a:r>
            <a:endParaRPr lang="en-US" sz="2400" dirty="0"/>
          </a:p>
          <a:p>
            <a:pPr algn="just" indent="0" marL="0">
              <a:lnSpc>
                <a:spcPts val="3600"/>
              </a:lnSpc>
              <a:buNone/>
            </a:pPr>
            <a:r>
              <a:rPr lang="en-US" sz="2400" b="1" dirty="0">
                <a:solidFill>
                  <a:srgbClr val="FFFFFF"/>
                </a:solidFill>
              </a:rPr>
              <a:t>(निकटतम पूर्णांक) (इलेक्ट्रॉन का द्रव्यमान = 9 . 1 × 10 ⁻³¹ kg तथा न्यूट्रॉन का द्रव्यमान = 1 . 6 × 10 ⁻²⁷ kg)</a:t>
            </a:r>
            <a:endParaRPr lang="en-US" sz="2400" dirty="0"/>
          </a:p>
        </p:txBody>
      </p:sp>
      <p:sp>
        <p:nvSpPr>
          <p:cNvPr id="4" name="Text 1"/>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1758</a:t>
            </a:r>
            <a:endParaRPr lang="en-US" sz="2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97. </a:t>
            </a:r>
            <a:pPr algn="just" indent="0" marL="0">
              <a:lnSpc>
                <a:spcPts val="3600"/>
              </a:lnSpc>
              <a:buNone/>
            </a:pPr>
            <a:r>
              <a:rPr lang="en-US" sz="2400" b="1" dirty="0">
                <a:solidFill>
                  <a:srgbClr val="FFFFFF"/>
                </a:solidFill>
              </a:rPr>
              <a:t>40 kV के विभवान्तर से विरामावस्था से त्वरित इलेक्ट्रॉन की तरंगदैर्ध्य x× 10 ⁻¹² m है तो x का मान _________ है। (निकटतम पूर्णाक)</a:t>
            </a:r>
            <a:endParaRPr lang="en-US" sz="2400" dirty="0"/>
          </a:p>
          <a:p>
            <a:pPr algn="just" indent="0" marL="0">
              <a:lnSpc>
                <a:spcPts val="3600"/>
              </a:lnSpc>
              <a:buNone/>
            </a:pPr>
            <a:r>
              <a:rPr lang="en-US" sz="2400" b="1" dirty="0">
                <a:solidFill>
                  <a:srgbClr val="FFFFFF"/>
                </a:solidFill>
              </a:rPr>
              <a:t>दिया है: इलेक्ट्रॉन का द्रव्यमान = 9.1× 10 ⁻³¹ kg</a:t>
            </a:r>
            <a:endParaRPr lang="en-US" sz="2400" dirty="0"/>
          </a:p>
          <a:p>
            <a:pPr algn="just" indent="0" marL="0">
              <a:lnSpc>
                <a:spcPts val="3600"/>
              </a:lnSpc>
              <a:buNone/>
            </a:pPr>
            <a:r>
              <a:rPr lang="en-US" sz="2400" b="1" dirty="0">
                <a:solidFill>
                  <a:srgbClr val="FFFFFF"/>
                </a:solidFill>
              </a:rPr>
              <a:t>इलेक्ट्रॉन का आवेश =1.6× 10 ⁻¹⁹ C</a:t>
            </a:r>
            <a:endParaRPr lang="en-US" sz="2400" dirty="0"/>
          </a:p>
          <a:p>
            <a:pPr algn="just" indent="0" marL="0">
              <a:lnSpc>
                <a:spcPts val="3600"/>
              </a:lnSpc>
              <a:buNone/>
            </a:pPr>
            <a:r>
              <a:rPr lang="en-US" sz="2400" b="1" dirty="0">
                <a:solidFill>
                  <a:srgbClr val="FFFFFF"/>
                </a:solidFill>
              </a:rPr>
              <a:t>प्लांक का स्थिरांक = 6.63× 10 ⁻³⁴ Js</a:t>
            </a:r>
            <a:endParaRPr lang="en-US" sz="2400" dirty="0"/>
          </a:p>
        </p:txBody>
      </p:sp>
      <p:sp>
        <p:nvSpPr>
          <p:cNvPr id="4" name="Text 1"/>
          <p:cNvSpPr/>
          <p:nvPr/>
        </p:nvSpPr>
        <p:spPr>
          <a:xfrm>
            <a:off x="457200" y="38404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6</a:t>
            </a:r>
            <a:endParaRPr lang="en-US" sz="2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101. </a:t>
            </a:r>
            <a:pPr algn="just" indent="0" marL="0">
              <a:lnSpc>
                <a:spcPts val="3600"/>
              </a:lnSpc>
              <a:buNone/>
            </a:pPr>
            <a:r>
              <a:rPr lang="en-US" sz="2400" b="1" dirty="0">
                <a:solidFill>
                  <a:srgbClr val="FFFFFF"/>
                </a:solidFill>
              </a:rPr>
              <a:t>एक प्रोटॉन तथा एक L i ³⁺ नाभिक का त्वरण समान विभव से किया गया है। यदि λLi तथा λp क्रमशः L i ³⁺ तथा प्रोटॉन की डी-ब्रॉग्ली तरंगदैर्ध्य हैं तो λLi λp का मान x ×10 ⁻¹ है। जहाँ x का मान_____ है |</a:t>
            </a:r>
            <a:endParaRPr lang="en-US" sz="2400" dirty="0"/>
          </a:p>
          <a:p>
            <a:pPr algn="just" indent="0" marL="0">
              <a:lnSpc>
                <a:spcPts val="3600"/>
              </a:lnSpc>
              <a:buNone/>
            </a:pPr>
            <a:r>
              <a:rPr lang="en-US" sz="2400" b="1" dirty="0">
                <a:solidFill>
                  <a:srgbClr val="FFFFFF"/>
                </a:solidFill>
              </a:rPr>
              <a:t>( L i ³⁺ की संहति = 8.3× प्रोटॉन की संहति)</a:t>
            </a:r>
            <a:endParaRPr lang="en-US" sz="2400" dirty="0"/>
          </a:p>
        </p:txBody>
      </p:sp>
      <p:sp>
        <p:nvSpPr>
          <p:cNvPr id="4" name="Text 1"/>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a:t>
            </a:r>
            <a:endParaRPr lang="en-US" sz="24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ctr" indent="0" marL="0">
              <a:buNone/>
            </a:pPr>
            <a:r>
              <a:rPr lang="en-US" sz="4400" b="1" dirty="0">
                <a:solidFill>
                  <a:srgbClr val="E02424"/>
                </a:solidFill>
              </a:rPr>
              <a:t>ψ और ψ² का महत्व</a:t>
            </a:r>
            <a:endParaRPr lang="en-US" sz="4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11. </a:t>
            </a:r>
            <a:pPr algn="just" indent="0" marL="0">
              <a:lnSpc>
                <a:spcPts val="3600"/>
              </a:lnSpc>
              <a:buNone/>
            </a:pPr>
            <a:r>
              <a:rPr lang="en-US" sz="2400" b="1" dirty="0">
                <a:solidFill>
                  <a:srgbClr val="FFFFFF"/>
                </a:solidFill>
              </a:rPr>
              <a:t>2 s का तरंग फलन ( Ψ ) निम्न द्वारा दिया जाता है:</a:t>
            </a:r>
            <a:endParaRPr lang="en-US" sz="2400" dirty="0"/>
          </a:p>
          <a:p>
            <a:pPr algn="just" indent="0" marL="0">
              <a:lnSpc>
                <a:spcPts val="3600"/>
              </a:lnSpc>
              <a:buNone/>
            </a:pPr>
            <a:r>
              <a:rPr lang="en-US" sz="2400" b="1" dirty="0">
                <a:solidFill>
                  <a:srgbClr val="FFFFFF"/>
                </a:solidFill>
              </a:rPr>
              <a:t>Ψ₂s 25= 1 2 ∛[](2π) (1a₀) ¹/² (2-ra₀) e ⁻r/²a₀ पर, त्रिज्य नोड का निर्माण होता है। इस प्रकार, a₀ के संदर्भ में r₀ होगा-</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r₀ = a₀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r₀ =2 a₀</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r₀ =4 a₀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r₀ = a₀</a:t>
            </a:r>
            <a:endParaRPr lang="en-US" sz="24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प्रश्न 120. </a:t>
            </a:r>
            <a:pPr algn="just" indent="0" marL="0">
              <a:lnSpc>
                <a:spcPts val="3000"/>
              </a:lnSpc>
              <a:buNone/>
            </a:pPr>
            <a:r>
              <a:rPr lang="en-US" sz="2000" b="1" dirty="0">
                <a:solidFill>
                  <a:srgbClr val="FFFFFF"/>
                </a:solidFill>
              </a:rPr>
              <a:t>निम्न में से कौन-सा 2 s-कक्षीय के लिए नाभिक से इलेक्ट्रॉन की दूरी 'r' के फलन के रूप में प्रायिकता घनत्व Ψ ² (r) के लिए सही आलेख है?</a:t>
            </a:r>
            <a:endParaRPr lang="en-US" sz="2000" dirty="0"/>
          </a:p>
        </p:txBody>
      </p:sp>
      <p:pic>
        <p:nvPicPr>
          <p:cNvPr id="4" name="Image 1" descr="preencoded.png">    </p:cNvPr>
          <p:cNvPicPr>
            <a:picLocks noChangeAspect="1"/>
          </p:cNvPicPr>
          <p:nvPr/>
        </p:nvPicPr>
        <p:blipFill>
          <a:blip r:embed="rId2"/>
          <a:stretch>
            <a:fillRect/>
          </a:stretch>
        </p:blipFill>
        <p:spPr>
          <a:xfrm>
            <a:off x="457200" y="2468880"/>
            <a:ext cx="4297680" cy="2953512"/>
          </a:xfrm>
          <a:prstGeom prst="rect">
            <a:avLst/>
          </a:prstGeom>
        </p:spPr>
      </p:pic>
      <p:sp>
        <p:nvSpPr>
          <p:cNvPr id="5" name="Text 1"/>
          <p:cNvSpPr/>
          <p:nvPr/>
        </p:nvSpPr>
        <p:spPr>
          <a:xfrm>
            <a:off x="457200" y="5468112"/>
            <a:ext cx="11274552" cy="4572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b</a:t>
            </a:r>
            <a:endParaRPr lang="en-US" sz="2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125. </a:t>
            </a:r>
            <a:pPr algn="just" indent="0" marL="0">
              <a:lnSpc>
                <a:spcPts val="3600"/>
              </a:lnSpc>
              <a:buNone/>
            </a:pPr>
            <a:r>
              <a:rPr lang="en-US" sz="2400" b="1" dirty="0">
                <a:solidFill>
                  <a:srgbClr val="FFFFFF"/>
                </a:solidFill>
              </a:rPr>
              <a:t>प्रायिकता घनत्व (केन्द्र से अनन्त दूरी के अतिरिक्त) के सन्दर्भमें सही कथन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यह 1 s कक्षक के लिए शून्य हो सकत्ता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यह 2 p के लिए ऋणात्मक हो सकता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यह 3 p कक्षक के लिए शून्य हो सकता 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यह 2 s कक्षक का कभी भी शून्य नहीं होगा।</a:t>
            </a:r>
            <a:endParaRPr lang="en-US" sz="2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2400"/>
              </a:lnSpc>
              <a:buNone/>
            </a:pPr>
            <a:r>
              <a:rPr lang="en-US" sz="1600" b="1" dirty="0">
                <a:solidFill>
                  <a:srgbClr val="E02424"/>
                </a:solidFill>
              </a:rPr>
              <a:t>प्रश्न 129. </a:t>
            </a:r>
            <a:pPr algn="just" indent="0" marL="0">
              <a:lnSpc>
                <a:spcPts val="2400"/>
              </a:lnSpc>
              <a:buNone/>
            </a:pPr>
            <a:r>
              <a:rPr lang="en-US" sz="1600" b="1" dirty="0">
                <a:solidFill>
                  <a:srgbClr val="FFFFFF"/>
                </a:solidFill>
              </a:rPr>
              <a:t>| Ψ | ² तथा r (रेडियल दूरी) के बीच ग्राफ नीचे प्रदर्शित है। यह दर्शाता है-</a:t>
            </a:r>
            <a:endParaRPr lang="en-US" sz="16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2400"/>
              </a:lnSpc>
              <a:buNone/>
            </a:pPr>
            <a:r>
              <a:rPr lang="en-US" sz="1600" b="1" dirty="0">
                <a:solidFill>
                  <a:srgbClr val="E02424"/>
                </a:solidFill>
              </a:rPr>
              <a:t>A. </a:t>
            </a:r>
            <a:pPr algn="just" indent="0" marL="0">
              <a:lnSpc>
                <a:spcPts val="2400"/>
              </a:lnSpc>
              <a:buNone/>
            </a:pPr>
            <a:r>
              <a:rPr lang="en-US" sz="1600" dirty="0">
                <a:solidFill>
                  <a:srgbClr val="FFFFFF"/>
                </a:solidFill>
              </a:rPr>
              <a:t>3 s कक्षक</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E02424"/>
                </a:solidFill>
              </a:rPr>
              <a:t>B. </a:t>
            </a:r>
            <a:pPr algn="just" indent="0" marL="0">
              <a:lnSpc>
                <a:spcPts val="2400"/>
              </a:lnSpc>
              <a:buNone/>
            </a:pPr>
            <a:r>
              <a:rPr lang="en-US" sz="1600" dirty="0">
                <a:solidFill>
                  <a:srgbClr val="FFFFFF"/>
                </a:solidFill>
              </a:rPr>
              <a:t>2 p कक्षक</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E02424"/>
                </a:solidFill>
              </a:rPr>
              <a:t>C. </a:t>
            </a:r>
            <a:pPr algn="just" indent="0" marL="0">
              <a:lnSpc>
                <a:spcPts val="2400"/>
              </a:lnSpc>
              <a:buNone/>
            </a:pPr>
            <a:r>
              <a:rPr lang="en-US" sz="1600" dirty="0">
                <a:solidFill>
                  <a:srgbClr val="FFFFFF"/>
                </a:solidFill>
              </a:rPr>
              <a:t>1 s कक्षक</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16A34A"/>
                </a:solidFill>
              </a:rPr>
              <a:t>D. </a:t>
            </a:r>
            <a:pPr algn="just" indent="0" marL="0">
              <a:lnSpc>
                <a:spcPts val="2400"/>
              </a:lnSpc>
              <a:buNone/>
            </a:pPr>
            <a:r>
              <a:rPr lang="en-US" sz="1600" b="1" dirty="0">
                <a:solidFill>
                  <a:srgbClr val="16A34A"/>
                </a:solidFill>
              </a:rPr>
              <a:t>2 s कक्षक</a:t>
            </a:r>
            <a:pPr algn="just" indent="0" marL="0">
              <a:lnSpc>
                <a:spcPts val="2400"/>
              </a:lnSpc>
              <a:buNone/>
            </a:pPr>
            <a:r>
              <a:rPr lang="en-US" sz="1600" b="1" dirty="0">
                <a:solidFill>
                  <a:srgbClr val="16A34A"/>
                </a:solidFill>
              </a:rPr>
              <a:t>  उत्तर</a:t>
            </a:r>
            <a:endParaRPr lang="en-US" sz="1600" dirty="0"/>
          </a:p>
        </p:txBody>
      </p:sp>
      <p:pic>
        <p:nvPicPr>
          <p:cNvPr id="5" name="Image 1" descr="preencoded.png">    </p:cNvPr>
          <p:cNvPicPr>
            <a:picLocks noChangeAspect="1"/>
          </p:cNvPicPr>
          <p:nvPr/>
        </p:nvPicPr>
        <p:blipFill>
          <a:blip r:embed="rId2"/>
          <a:stretch>
            <a:fillRect/>
          </a:stretch>
        </p:blipFill>
        <p:spPr>
          <a:xfrm>
            <a:off x="457200" y="3840480"/>
            <a:ext cx="1490472" cy="1380744"/>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2550"/>
              </a:lnSpc>
              <a:buNone/>
            </a:pPr>
            <a:r>
              <a:rPr lang="en-US" sz="1700" b="1" dirty="0">
                <a:solidFill>
                  <a:srgbClr val="E02424"/>
                </a:solidFill>
              </a:rPr>
              <a:t>प्रश्न 130. </a:t>
            </a:r>
            <a:pPr algn="just" indent="0" marL="0">
              <a:lnSpc>
                <a:spcPts val="2550"/>
              </a:lnSpc>
              <a:buNone/>
            </a:pPr>
            <a:r>
              <a:rPr lang="en-US" sz="1700" b="1" dirty="0">
                <a:solidFill>
                  <a:srgbClr val="FFFFFF"/>
                </a:solidFill>
              </a:rPr>
              <a:t>इलेक्ट्रॉनों के पाये जाने की ज्यादा संभावना है-</a:t>
            </a:r>
            <a:endParaRPr lang="en-US" sz="1700" dirty="0"/>
          </a:p>
        </p:txBody>
      </p:sp>
      <p:sp>
        <p:nvSpPr>
          <p:cNvPr id="4" name="Text 1"/>
          <p:cNvSpPr/>
          <p:nvPr/>
        </p:nvSpPr>
        <p:spPr>
          <a:xfrm>
            <a:off x="457200" y="1554480"/>
            <a:ext cx="11274552" cy="1828800"/>
          </a:xfrm>
          <a:prstGeom prst="rect">
            <a:avLst/>
          </a:prstGeom>
          <a:noFill/>
          <a:ln/>
        </p:spPr>
        <p:txBody>
          <a:bodyPr wrap="square" lIns="0" tIns="0" rIns="0" bIns="0" rtlCol="0" anchor="t"/>
          <a:lstStyle/>
          <a:p>
            <a:pPr algn="just" indent="0" marL="0">
              <a:lnSpc>
                <a:spcPts val="2550"/>
              </a:lnSpc>
              <a:buNone/>
            </a:pPr>
            <a:r>
              <a:rPr lang="en-US" sz="1700" b="1" dirty="0">
                <a:solidFill>
                  <a:srgbClr val="E02424"/>
                </a:solidFill>
              </a:rPr>
              <a:t>A. </a:t>
            </a:r>
            <a:pPr algn="just" indent="0" marL="0">
              <a:lnSpc>
                <a:spcPts val="2550"/>
              </a:lnSpc>
              <a:buNone/>
            </a:pPr>
            <a:r>
              <a:rPr lang="en-US" sz="1700" dirty="0">
                <a:solidFill>
                  <a:srgbClr val="FFFFFF"/>
                </a:solidFill>
              </a:rPr>
              <a:t>मात्र क्षेत्र में</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16A34A"/>
                </a:solidFill>
              </a:rPr>
              <a:t>B. </a:t>
            </a:r>
            <a:pPr algn="just" indent="0" marL="0">
              <a:lnSpc>
                <a:spcPts val="2550"/>
              </a:lnSpc>
              <a:buNone/>
            </a:pPr>
            <a:r>
              <a:rPr lang="en-US" sz="1700" b="1" dirty="0">
                <a:solidFill>
                  <a:srgbClr val="16A34A"/>
                </a:solidFill>
              </a:rPr>
              <a:t>a तथा क्षेत्र में</a:t>
            </a:r>
            <a:pPr algn="just" indent="0" marL="0">
              <a:lnSpc>
                <a:spcPts val="2550"/>
              </a:lnSpc>
              <a:buNone/>
            </a:pPr>
            <a:r>
              <a:rPr lang="en-US" sz="1700" b="1" dirty="0">
                <a:solidFill>
                  <a:srgbClr val="16A34A"/>
                </a:solidFill>
              </a:rPr>
              <a:t>  उत्तर</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E02424"/>
                </a:solidFill>
              </a:rPr>
              <a:t>C. </a:t>
            </a:r>
            <a:pPr algn="just" indent="0" marL="0">
              <a:lnSpc>
                <a:spcPts val="2550"/>
              </a:lnSpc>
              <a:buNone/>
            </a:pPr>
            <a:r>
              <a:rPr lang="en-US" sz="1700" dirty="0">
                <a:solidFill>
                  <a:srgbClr val="FFFFFF"/>
                </a:solidFill>
              </a:rPr>
              <a:t>मात्र क्षेत्र में</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E02424"/>
                </a:solidFill>
              </a:rPr>
              <a:t>D. </a:t>
            </a:r>
            <a:pPr algn="just" indent="0" marL="0">
              <a:lnSpc>
                <a:spcPts val="2550"/>
              </a:lnSpc>
              <a:buNone/>
            </a:pPr>
            <a:r>
              <a:rPr lang="en-US" sz="1700" dirty="0">
                <a:solidFill>
                  <a:srgbClr val="FFFFFF"/>
                </a:solidFill>
              </a:rPr>
              <a:t>a तथा b क्षेत्र में</a:t>
            </a:r>
            <a:endParaRPr lang="en-US" sz="1700" dirty="0"/>
          </a:p>
        </p:txBody>
      </p:sp>
      <p:pic>
        <p:nvPicPr>
          <p:cNvPr id="5" name="Image 1" descr="preencoded.png">    </p:cNvPr>
          <p:cNvPicPr>
            <a:picLocks noChangeAspect="1"/>
          </p:cNvPicPr>
          <p:nvPr/>
        </p:nvPicPr>
        <p:blipFill>
          <a:blip r:embed="rId2"/>
          <a:stretch>
            <a:fillRect/>
          </a:stretch>
        </p:blipFill>
        <p:spPr>
          <a:xfrm>
            <a:off x="457200" y="3383280"/>
            <a:ext cx="2258568" cy="187452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145. </a:t>
            </a:r>
            <a:pPr algn="just" indent="0" marL="0">
              <a:lnSpc>
                <a:spcPts val="3600"/>
              </a:lnSpc>
              <a:buNone/>
            </a:pPr>
            <a:r>
              <a:rPr lang="en-US" sz="2400" b="1" dirty="0">
                <a:solidFill>
                  <a:srgbClr val="FFFFFF"/>
                </a:solidFill>
              </a:rPr>
              <a:t>निम्नलिखित में से सही कथनों की संख्या______ है।</a:t>
            </a:r>
            <a:endParaRPr lang="en-US" sz="2400" dirty="0"/>
          </a:p>
          <a:p>
            <a:pPr algn="just" indent="0" marL="0">
              <a:lnSpc>
                <a:spcPts val="3600"/>
              </a:lnSpc>
              <a:buNone/>
            </a:pPr>
            <a:r>
              <a:rPr lang="en-US" sz="2400" b="1" dirty="0">
                <a:solidFill>
                  <a:srgbClr val="FFFFFF"/>
                </a:solidFill>
              </a:rPr>
              <a:t>E. नाभिक पर p-कक्षक का प्रायिकता घनत्व शून्य होता है।</a:t>
            </a:r>
            <a:endParaRPr lang="en-US" sz="2400" dirty="0"/>
          </a:p>
        </p:txBody>
      </p:sp>
      <p:sp>
        <p:nvSpPr>
          <p:cNvPr id="4" name="Text 1"/>
          <p:cNvSpPr/>
          <p:nvPr/>
        </p:nvSpPr>
        <p:spPr>
          <a:xfrm>
            <a:off x="457200" y="2011680"/>
            <a:ext cx="112745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1 s कक्षक के लिए, नाभिक पर प्रायिकता घनत्व अधिकतम होता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2 s कक्षक के लिए, प्रायिकता घनत्व पहले अधिकतम तक बढ़ जाता है और फिर तेजी से शून्य तक कम हो जाता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कक्षकों के परिबद्ध पृष्ठीय आरेख इलेक्ट्रॉन के पाए जाने की प्रायिकता 100% के एक क्षेत्र को परिबद्ध करते 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p और d-कक्षक में क्रमशः 1 और 2 कोणीय नोड होते हैं।</a:t>
            </a:r>
            <a:endParaRPr lang="en-US" sz="24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146. </a:t>
            </a:r>
            <a:pPr algn="just" indent="0" marL="0">
              <a:lnSpc>
                <a:spcPts val="3600"/>
              </a:lnSpc>
              <a:buNone/>
            </a:pPr>
            <a:r>
              <a:rPr lang="en-US" sz="2400" b="1" dirty="0">
                <a:solidFill>
                  <a:srgbClr val="FFFFFF"/>
                </a:solidFill>
              </a:rPr>
              <a:t>3 s कक्षक में एक इलेक्ट्रॉन का कक्षीय कोणीय संवेग xh 2 π है। x का मान_______ है। (निकटतम पूर्णांक)</a:t>
            </a:r>
            <a:endParaRPr lang="en-US" sz="2400" dirty="0"/>
          </a:p>
        </p:txBody>
      </p:sp>
      <p:sp>
        <p:nvSpPr>
          <p:cNvPr id="4" name="Text 1"/>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0</a:t>
            </a:r>
            <a:endParaRPr lang="en-US" sz="2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149. </a:t>
            </a:r>
            <a:pPr algn="just" indent="0" marL="0">
              <a:lnSpc>
                <a:spcPts val="3600"/>
              </a:lnSpc>
              <a:buNone/>
            </a:pPr>
            <a:r>
              <a:rPr lang="en-US" sz="2400" b="1" dirty="0">
                <a:solidFill>
                  <a:srgbClr val="FFFFFF"/>
                </a:solidFill>
              </a:rPr>
              <a:t>एक निश्चित कक्षीय में n=4 और ml =-3 है, तो इस कक्षीय में रेडियल नोड्स की संख्या है।</a:t>
            </a:r>
            <a:endParaRPr lang="en-US" sz="2400" dirty="0"/>
          </a:p>
          <a:p>
            <a:pPr algn="just" indent="0" marL="0">
              <a:lnSpc>
                <a:spcPts val="3600"/>
              </a:lnSpc>
              <a:buNone/>
            </a:pPr>
            <a:r>
              <a:rPr lang="en-US" sz="2400" b="1" dirty="0">
                <a:solidFill>
                  <a:srgbClr val="FFFFFF"/>
                </a:solidFill>
              </a:rPr>
              <a:t>(निकटतम पूर्णाक)</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0</a:t>
            </a:r>
            <a:endParaRPr lang="en-US" sz="24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ctr" indent="0" marL="0">
              <a:buNone/>
            </a:pPr>
            <a:r>
              <a:rPr lang="en-US" sz="4400" b="1" dirty="0">
                <a:solidFill>
                  <a:srgbClr val="E02424"/>
                </a:solidFill>
              </a:rPr>
              <a:t>परमाणु का क्वांटम यांत्रिक मॉडल</a:t>
            </a:r>
            <a:endParaRPr lang="en-US" sz="4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2400"/>
              </a:lnSpc>
              <a:buNone/>
            </a:pPr>
            <a:r>
              <a:rPr lang="en-US" sz="1600" b="1" dirty="0">
                <a:solidFill>
                  <a:srgbClr val="E02424"/>
                </a:solidFill>
              </a:rPr>
              <a:t>प्रश्न 22. </a:t>
            </a:r>
            <a:pPr algn="just" indent="0" marL="0">
              <a:lnSpc>
                <a:spcPts val="2400"/>
              </a:lnSpc>
              <a:buNone/>
            </a:pPr>
            <a:r>
              <a:rPr lang="en-US" sz="1600" b="1" dirty="0">
                <a:solidFill>
                  <a:srgbClr val="FFFFFF"/>
                </a:solidFill>
              </a:rPr>
              <a:t>चित्र जो परमाणु के क्वान्टम प्रकृति की सीधी अभिव्यक्ति नहीं है-</a:t>
            </a:r>
            <a:endParaRPr lang="en-US" sz="1600" dirty="0"/>
          </a:p>
        </p:txBody>
      </p:sp>
      <p:pic>
        <p:nvPicPr>
          <p:cNvPr id="4" name="Image 1" descr="preencoded.png">    </p:cNvPr>
          <p:cNvPicPr>
            <a:picLocks noChangeAspect="1"/>
          </p:cNvPicPr>
          <p:nvPr/>
        </p:nvPicPr>
        <p:blipFill>
          <a:blip r:embed="rId2"/>
          <a:stretch>
            <a:fillRect/>
          </a:stretch>
        </p:blipFill>
        <p:spPr>
          <a:xfrm>
            <a:off x="457200" y="2011680"/>
            <a:ext cx="3200400" cy="1874520"/>
          </a:xfrm>
          <a:prstGeom prst="rect">
            <a:avLst/>
          </a:prstGeom>
        </p:spPr>
      </p:pic>
      <p:pic>
        <p:nvPicPr>
          <p:cNvPr id="5" name="Image 2" descr="preencoded.png">    </p:cNvPr>
          <p:cNvPicPr>
            <a:picLocks noChangeAspect="1"/>
          </p:cNvPicPr>
          <p:nvPr/>
        </p:nvPicPr>
        <p:blipFill>
          <a:blip r:embed="rId3"/>
          <a:stretch>
            <a:fillRect/>
          </a:stretch>
        </p:blipFill>
        <p:spPr>
          <a:xfrm>
            <a:off x="457200" y="3977640"/>
            <a:ext cx="1426464" cy="1874520"/>
          </a:xfrm>
          <a:prstGeom prst="rect">
            <a:avLst/>
          </a:prstGeom>
        </p:spPr>
      </p:pic>
      <p:sp>
        <p:nvSpPr>
          <p:cNvPr id="6" name="Text 1"/>
          <p:cNvSpPr/>
          <p:nvPr/>
        </p:nvSpPr>
        <p:spPr>
          <a:xfrm>
            <a:off x="457200" y="5897880"/>
            <a:ext cx="11274552" cy="457200"/>
          </a:xfrm>
          <a:prstGeom prst="rect">
            <a:avLst/>
          </a:prstGeom>
          <a:noFill/>
          <a:ln/>
        </p:spPr>
        <p:txBody>
          <a:bodyPr wrap="square" lIns="0" tIns="0" rIns="0" bIns="0" rtlCol="0" anchor="t"/>
          <a:lstStyle/>
          <a:p>
            <a:pPr algn="just" indent="0" marL="0">
              <a:lnSpc>
                <a:spcPts val="2100"/>
              </a:lnSpc>
              <a:buNone/>
            </a:pPr>
            <a:r>
              <a:rPr lang="en-US" sz="1400" b="1" dirty="0">
                <a:solidFill>
                  <a:srgbClr val="16A34A"/>
                </a:solidFill>
              </a:rPr>
              <a:t>उत्तर: d</a:t>
            </a:r>
            <a:endParaRPr lang="en-US" sz="14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31. </a:t>
            </a:r>
            <a:pPr algn="just" indent="0" marL="0">
              <a:lnSpc>
                <a:spcPts val="3600"/>
              </a:lnSpc>
              <a:buNone/>
            </a:pPr>
            <a:r>
              <a:rPr lang="en-US" sz="2400" b="1" dirty="0">
                <a:solidFill>
                  <a:srgbClr val="FFFFFF"/>
                </a:solidFill>
              </a:rPr>
              <a:t>हाइड्रोजन परमाणु के 1 s कक्षक में उपस्थित इलेक्ट्रॉन के बारे में निम्न में से कौन-सा सही नहीं है?</a:t>
            </a:r>
            <a:endParaRPr lang="en-US" sz="2400" dirty="0"/>
          </a:p>
          <a:p>
            <a:pPr algn="just" indent="0" marL="0">
              <a:lnSpc>
                <a:spcPts val="3600"/>
              </a:lnSpc>
              <a:buNone/>
            </a:pPr>
            <a:r>
              <a:rPr lang="en-US" sz="2400" b="1" dirty="0">
                <a:solidFill>
                  <a:srgbClr val="FFFFFF"/>
                </a:solidFill>
              </a:rPr>
              <a:t>(बोर त्रिज्या को a₀ द्वारा प्रदर्शित किया गया है)</a:t>
            </a:r>
            <a:endParaRPr lang="en-US" sz="2400" dirty="0"/>
          </a:p>
        </p:txBody>
      </p:sp>
      <p:sp>
        <p:nvSpPr>
          <p:cNvPr id="4" name="Text 1"/>
          <p:cNvSpPr/>
          <p:nvPr/>
        </p:nvSpPr>
        <p:spPr>
          <a:xfrm>
            <a:off x="457200" y="2468880"/>
            <a:ext cx="112745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इलेक्ट्रॉन, नाभिक से 2 a₀ की दूरी पर पाया जा सकता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इलेक्ट्रॉन के पाये जाने का प्रायिकता घनत्व नाभिक पर सर्वाधिक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औसतन, स्थितिज ऊर्जा का मान इसके गतिज ऊर्जा के मान का दुगुना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इलेक्ट्रॉन की कुल ऊर्जा नाभिक से a₀ दूरी पर है। उच्चतम तब होगी जब वह</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56. </a:t>
            </a:r>
            <a:pPr algn="just" indent="0" marL="0">
              <a:lnSpc>
                <a:spcPts val="3600"/>
              </a:lnSpc>
              <a:buNone/>
            </a:pPr>
            <a:r>
              <a:rPr lang="en-US" sz="2400" b="1" dirty="0">
                <a:solidFill>
                  <a:srgbClr val="FFFFFF"/>
                </a:solidFill>
              </a:rPr>
              <a:t>एक परमाणु में एक इलेक्ट्रॉन 600 m s की चाल से 0.005% यथार्थता के साथ घूम रहा है। इलेक्ट्रॉन की स्थिति का जिस निश्चितता के साथ पता लगाया जा सकता है वह है-</a:t>
            </a:r>
            <a:endParaRPr lang="en-US" sz="2400" dirty="0"/>
          </a:p>
          <a:p>
            <a:pPr algn="just" indent="0" marL="0">
              <a:lnSpc>
                <a:spcPts val="3600"/>
              </a:lnSpc>
              <a:buNone/>
            </a:pPr>
            <a:r>
              <a:rPr lang="en-US" sz="2400" b="1" dirty="0">
                <a:solidFill>
                  <a:srgbClr val="FFFFFF"/>
                </a:solidFill>
              </a:rPr>
              <a:t>( h= 6.6× 10 ⁻³⁴ kg m ² s ⁻¹ , इलेक्ट्रॉन का द्रव्यमान em =9.1× 10 ⁻³¹ kg)</a:t>
            </a:r>
            <a:endParaRPr lang="en-US" sz="2400" dirty="0"/>
          </a:p>
        </p:txBody>
      </p:sp>
      <p:sp>
        <p:nvSpPr>
          <p:cNvPr id="4" name="Text 1"/>
          <p:cNvSpPr/>
          <p:nvPr/>
        </p:nvSpPr>
        <p:spPr>
          <a:xfrm>
            <a:off x="457200" y="33832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1.52× 10 ⁻⁴ 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5.1× 10 ⁻³ 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1.92× 10 ⁻³ 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3.84× 10 ⁻³ m</a:t>
            </a:r>
            <a:endParaRPr lang="en-US" sz="24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58. </a:t>
            </a:r>
            <a:pPr algn="just" indent="0" marL="0">
              <a:lnSpc>
                <a:spcPts val="3600"/>
              </a:lnSpc>
              <a:buNone/>
            </a:pPr>
            <a:r>
              <a:rPr lang="en-US" sz="2400" b="1" dirty="0">
                <a:solidFill>
                  <a:srgbClr val="FFFFFF"/>
                </a:solidFill>
              </a:rPr>
              <a:t>300 m s ⁻¹ के वेग, जो 0.001% तक यथार्थ है, से गतिशील इलेक्ट्रॉन ( द्रव्यमान =9.1 10 ⁻³¹ kg) की स्थिति में कितनी अनिश्चितता होगी?</a:t>
            </a:r>
            <a:endParaRPr lang="en-US" sz="2400" dirty="0"/>
          </a:p>
          <a:p>
            <a:pPr algn="just" indent="0" marL="0">
              <a:lnSpc>
                <a:spcPts val="3600"/>
              </a:lnSpc>
              <a:buNone/>
            </a:pPr>
            <a:r>
              <a:rPr lang="en-US" sz="2400" b="1" dirty="0">
                <a:solidFill>
                  <a:srgbClr val="FFFFFF"/>
                </a:solidFill>
              </a:rPr>
              <a:t>(h=6.63× 10 ⁻³⁴ Js)</a:t>
            </a:r>
            <a:endParaRPr lang="en-US" sz="2400" dirty="0"/>
          </a:p>
        </p:txBody>
      </p:sp>
      <p:sp>
        <p:nvSpPr>
          <p:cNvPr id="4" name="Text 1"/>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19.2×10 ⁻² 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5.76×10 ⁻² 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1.92×10 ⁻² 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3.84×10 ⁻² m</a:t>
            </a:r>
            <a:endParaRPr lang="en-US" sz="24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63. </a:t>
            </a:r>
            <a:pPr algn="just" indent="0" marL="0">
              <a:lnSpc>
                <a:spcPts val="3600"/>
              </a:lnSpc>
              <a:buNone/>
            </a:pPr>
            <a:r>
              <a:rPr lang="en-US" sz="2400" b="1" dirty="0">
                <a:solidFill>
                  <a:srgbClr val="FFFFFF"/>
                </a:solidFill>
              </a:rPr>
              <a:t>अंतरिक्ष में 25 g द्रव्यमान के एक मिनट के कण की स्थिति में अनिश्चितता 10 ⁻⁵ m है। इसके वेग में ( m s ⁻¹ में) अनिश्चितता क्या है?</a:t>
            </a:r>
            <a:endParaRPr lang="en-US" sz="2400" dirty="0"/>
          </a:p>
          <a:p>
            <a:pPr algn="just" indent="0" marL="0">
              <a:lnSpc>
                <a:spcPts val="3600"/>
              </a:lnSpc>
              <a:buNone/>
            </a:pPr>
            <a:r>
              <a:rPr lang="en-US" sz="2400" b="1" dirty="0">
                <a:solidFill>
                  <a:srgbClr val="FFFFFF"/>
                </a:solidFill>
              </a:rPr>
              <a:t>(h=6.6× 10 ⁻³⁴ Js)</a:t>
            </a:r>
            <a:endParaRPr lang="en-US" sz="2400" dirty="0"/>
          </a:p>
        </p:txBody>
      </p:sp>
      <p:sp>
        <p:nvSpPr>
          <p:cNvPr id="4" name="Text 1"/>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2.1× 10 ⁻³⁴</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0.5× 10 ⁻³⁴</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2.1× 10 ⁻²⁸</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0.5× 10 ⁻²³</a:t>
            </a:r>
            <a:endParaRPr lang="en-US" sz="24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71. </a:t>
            </a:r>
            <a:pPr algn="just" indent="0" marL="0">
              <a:lnSpc>
                <a:spcPts val="3600"/>
              </a:lnSpc>
              <a:buNone/>
            </a:pPr>
            <a:r>
              <a:rPr lang="en-US" sz="2400" b="1" dirty="0">
                <a:solidFill>
                  <a:srgbClr val="FFFFFF"/>
                </a:solidFill>
              </a:rPr>
              <a:t>हाइजेनबर्ग के अनिश्चितता सिद्धांत के आधार पर, 10 ⁻¹⁵ मीटर व्यास वाले परमाणु नाभिक के भीतर पाए जाने वाले इलेक्ट्रॉन के वेग में अनिश्चितता = × 10 ⁹ m s ⁻¹ है।</a:t>
            </a:r>
            <a:endParaRPr lang="en-US" sz="2400" dirty="0"/>
          </a:p>
          <a:p>
            <a:pPr algn="just" indent="0" marL="0">
              <a:lnSpc>
                <a:spcPts val="3600"/>
              </a:lnSpc>
              <a:buNone/>
            </a:pPr>
            <a:r>
              <a:rPr lang="en-US" sz="2400" b="1" dirty="0">
                <a:solidFill>
                  <a:srgbClr val="FFFFFF"/>
                </a:solidFill>
              </a:rPr>
              <a:t>[दिया गया है: इलेक्ट्रॉन का द्रव्यमान 9.1× 10 ⁻³¹ किग्रा, प्लैंक स्थिरांक (h) =6.626× 10 ⁻³⁴ J s]</a:t>
            </a:r>
            <a:endParaRPr lang="en-US" sz="2400" dirty="0"/>
          </a:p>
        </p:txBody>
      </p:sp>
      <p:sp>
        <p:nvSpPr>
          <p:cNvPr id="4" name="Text 1"/>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58</a:t>
            </a:r>
            <a:endParaRPr lang="en-US" sz="24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88. </a:t>
            </a:r>
            <a:pPr algn="just" indent="0" marL="0">
              <a:lnSpc>
                <a:spcPts val="3600"/>
              </a:lnSpc>
              <a:buNone/>
            </a:pPr>
            <a:r>
              <a:rPr lang="en-US" sz="2400" b="1" dirty="0">
                <a:solidFill>
                  <a:srgbClr val="FFFFFF"/>
                </a:solidFill>
              </a:rPr>
              <a:t>यदि H-परमाणु से उत्सर्जित इलेक्ट्रॉन के लिए तरंगदैर्ध्य 3.3× 10 ⁻¹⁰ m है, तो परमाणु से निकलने के लिए आवश्यक न्यूनतम ऊर्जा की तुलना में इलेक्ट्रॉन द्वारा अपनी तलस्थ अवस्था में अवशोषित ऊर्जा गुना है। (निकटतम पूर्णाक)</a:t>
            </a:r>
            <a:endParaRPr lang="en-US" sz="2400" dirty="0"/>
          </a:p>
          <a:p>
            <a:pPr algn="just" indent="0" marL="0">
              <a:lnSpc>
                <a:spcPts val="3600"/>
              </a:lnSpc>
              <a:buNone/>
            </a:pPr>
            <a:r>
              <a:rPr lang="en-US" sz="2400" b="1" dirty="0">
                <a:solidFill>
                  <a:srgbClr val="FFFFFF"/>
                </a:solidFill>
              </a:rPr>
              <a:t>[दिया है: h=6.626× 10 ⁻³⁴ Js, इलेक्ट्रॉन का द्रव्यमान = 9.1× 10 ⁻³¹ kg]</a:t>
            </a:r>
            <a:endParaRPr lang="en-US" sz="2400" dirty="0"/>
          </a:p>
        </p:txBody>
      </p:sp>
      <p:sp>
        <p:nvSpPr>
          <p:cNvPr id="4" name="Text 1"/>
          <p:cNvSpPr/>
          <p:nvPr/>
        </p:nvSpPr>
        <p:spPr>
          <a:xfrm>
            <a:off x="457200" y="38404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a:t>
            </a:r>
            <a:endParaRPr lang="en-US" sz="24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89. </a:t>
            </a:r>
            <a:pPr algn="just" indent="0" marL="0">
              <a:lnSpc>
                <a:spcPts val="3600"/>
              </a:lnSpc>
              <a:buNone/>
            </a:pPr>
            <a:r>
              <a:rPr lang="en-US" sz="2400" b="1" dirty="0">
                <a:solidFill>
                  <a:srgbClr val="FFFFFF"/>
                </a:solidFill>
              </a:rPr>
              <a:t>लंबाई 2 a₀ (जहाँ a₀ = बोर की त्रिज्या 52.9 pm) के एक विमीय क्षेत्र में इलेक्ट्रॉन की गति में न्यूनतम अनिश्चितता___________ km s ⁻¹ है।</a:t>
            </a:r>
            <a:endParaRPr lang="en-US" sz="2400" dirty="0"/>
          </a:p>
          <a:p>
            <a:pPr algn="just" indent="0" marL="0">
              <a:lnSpc>
                <a:spcPts val="3600"/>
              </a:lnSpc>
              <a:buNone/>
            </a:pPr>
            <a:r>
              <a:rPr lang="en-US" sz="2400" b="1" dirty="0">
                <a:solidFill>
                  <a:srgbClr val="FFFFFF"/>
                </a:solidFill>
              </a:rPr>
              <a:t>(दिया है: इलेक्ट्रॉन का द्रव्यमान = 9.1× 10 ⁻³¹ kg, प्लांक स्थिरांक h= 6.63×10 ⁻³⁴ Js)</a:t>
            </a:r>
            <a:endParaRPr lang="en-US" sz="2400" dirty="0"/>
          </a:p>
        </p:txBody>
      </p:sp>
      <p:sp>
        <p:nvSpPr>
          <p:cNvPr id="4" name="Text 1"/>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548</a:t>
            </a:r>
            <a:endParaRPr lang="en-US" sz="24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91. </a:t>
            </a:r>
            <a:pPr algn="just" indent="0" marL="0">
              <a:lnSpc>
                <a:spcPts val="3600"/>
              </a:lnSpc>
              <a:buNone/>
            </a:pPr>
            <a:r>
              <a:rPr lang="en-US" sz="2400" b="1" dirty="0">
                <a:solidFill>
                  <a:srgbClr val="FFFFFF"/>
                </a:solidFill>
              </a:rPr>
              <a:t>यदि अंतरिक्ष में एक मिनट के कण के वेग तथा स्थिति में अनिश्चितता क्रमशः 2.4× 10 ⁻²⁶ (m s ⁻¹ ) और 10 ⁻⁷ (m) है। g में कण का द्रव्यमान_______ है।</a:t>
            </a:r>
            <a:endParaRPr lang="en-US" sz="2400" dirty="0"/>
          </a:p>
          <a:p>
            <a:pPr algn="just" indent="0" marL="0">
              <a:lnSpc>
                <a:spcPts val="3600"/>
              </a:lnSpc>
              <a:buNone/>
            </a:pPr>
            <a:r>
              <a:rPr lang="en-US" sz="2400" b="1" dirty="0">
                <a:solidFill>
                  <a:srgbClr val="FFFFFF"/>
                </a:solidFill>
              </a:rPr>
              <a:t>(दिया है: h=6.626× 10 ⁻³⁴ Js)</a:t>
            </a:r>
            <a:endParaRPr lang="en-US" sz="2400" dirty="0"/>
          </a:p>
        </p:txBody>
      </p:sp>
      <p:sp>
        <p:nvSpPr>
          <p:cNvPr id="4" name="Text 1"/>
          <p:cNvSpPr/>
          <p:nvPr/>
        </p:nvSpPr>
        <p:spPr>
          <a:xfrm>
            <a:off x="457200" y="2926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22</a:t>
            </a:r>
            <a:endParaRPr lang="en-US" sz="24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99. </a:t>
            </a:r>
            <a:pPr algn="just" indent="0" marL="0">
              <a:lnSpc>
                <a:spcPts val="3600"/>
              </a:lnSpc>
              <a:buNone/>
            </a:pPr>
            <a:r>
              <a:rPr lang="en-US" sz="2400" b="1" dirty="0">
                <a:solidFill>
                  <a:srgbClr val="FFFFFF"/>
                </a:solidFill>
              </a:rPr>
              <a:t>त्वरित इलेक्ट्रॉन की गति 5×10 ⁶ m s ⁻¹ तथा गति में 0.02% की अनिश्चित्ता ज्ञात कीजिए। जबकि इसका संवेग x ×10 ⁻⁹ m हो।</a:t>
            </a:r>
            <a:endParaRPr lang="en-US" sz="2400" dirty="0"/>
          </a:p>
          <a:p>
            <a:pPr algn="just" indent="0" marL="0">
              <a:lnSpc>
                <a:spcPts val="3600"/>
              </a:lnSpc>
              <a:buNone/>
            </a:pPr>
            <a:r>
              <a:rPr lang="en-US" sz="2400" b="1" dirty="0">
                <a:solidFill>
                  <a:srgbClr val="FFFFFF"/>
                </a:solidFill>
              </a:rPr>
              <a:t>x का मान________ होगा। (निकटतम पूर्णाक)</a:t>
            </a:r>
            <a:endParaRPr lang="en-US" sz="2400" dirty="0"/>
          </a:p>
          <a:p>
            <a:pPr algn="just" indent="0" marL="0">
              <a:lnSpc>
                <a:spcPts val="3600"/>
              </a:lnSpc>
              <a:buNone/>
            </a:pPr>
            <a:r>
              <a:rPr lang="en-US" sz="2400" b="1" dirty="0">
                <a:solidFill>
                  <a:srgbClr val="FFFFFF"/>
                </a:solidFill>
              </a:rPr>
              <a:t>(उपयोग करें: इलेक्ट्रॉन का द्रव्यमान = 9.1×10 ⁻³¹ kg, h=6.63 × 10 ⁻³⁴ Js, π=3.14)</a:t>
            </a:r>
            <a:endParaRPr lang="en-US" sz="2400" dirty="0"/>
          </a:p>
        </p:txBody>
      </p:sp>
      <p:sp>
        <p:nvSpPr>
          <p:cNvPr id="4" name="Text 1"/>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58</a:t>
            </a:r>
            <a:endParaRPr lang="en-US" sz="24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106. </a:t>
            </a:r>
            <a:pPr algn="just" indent="0" marL="0">
              <a:lnSpc>
                <a:spcPts val="3600"/>
              </a:lnSpc>
              <a:buNone/>
            </a:pPr>
            <a:r>
              <a:rPr lang="en-US" sz="2400" b="1" dirty="0">
                <a:solidFill>
                  <a:srgbClr val="FFFFFF"/>
                </a:solidFill>
              </a:rPr>
              <a:t>3 p-कक्षक के लिए त्रिज्य नोड (डों) की संख्या है-</a:t>
            </a:r>
            <a:endParaRPr lang="en-US" sz="2400" dirty="0"/>
          </a:p>
        </p:txBody>
      </p:sp>
      <p:sp>
        <p:nvSpPr>
          <p:cNvPr id="4" name="Text 1"/>
          <p:cNvSpPr/>
          <p:nvPr/>
        </p:nvSpPr>
        <p:spPr>
          <a:xfrm>
            <a:off x="457200" y="15544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1</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4</a:t>
            </a:r>
            <a:endParaRPr lang="en-US" sz="24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107. </a:t>
            </a:r>
            <a:pPr algn="just" indent="0" marL="0">
              <a:lnSpc>
                <a:spcPts val="3600"/>
              </a:lnSpc>
              <a:buNone/>
            </a:pPr>
            <a:r>
              <a:rPr lang="en-US" sz="2400" b="1" dirty="0">
                <a:solidFill>
                  <a:srgbClr val="FFFFFF"/>
                </a:solidFill>
              </a:rPr>
              <a:t>नीचे दो कथन दिए गए है:</a:t>
            </a:r>
            <a:endParaRPr lang="en-US" sz="2400" dirty="0"/>
          </a:p>
          <a:p>
            <a:pPr algn="just" indent="0" marL="0">
              <a:lnSpc>
                <a:spcPts val="3600"/>
              </a:lnSpc>
              <a:buNone/>
            </a:pPr>
            <a:r>
              <a:rPr lang="en-US" sz="2400" b="1" dirty="0">
                <a:solidFill>
                  <a:srgbClr val="FFFFFF"/>
                </a:solidFill>
              </a:rPr>
              <a:t>कथन (I): समान ऊर्जा वाले कक्षकों को समभ्रंश कक्षक कहते हैं।</a:t>
            </a:r>
            <a:endParaRPr lang="en-US" sz="2400" dirty="0"/>
          </a:p>
          <a:p>
            <a:pPr algn="just" indent="0" marL="0">
              <a:lnSpc>
                <a:spcPts val="3600"/>
              </a:lnSpc>
              <a:buNone/>
            </a:pPr>
            <a:r>
              <a:rPr lang="en-US" sz="2400" b="1" dirty="0">
                <a:solidFill>
                  <a:srgbClr val="FFFFFF"/>
                </a:solidFill>
              </a:rPr>
              <a:t>कथन (II): हाइड्रोजन परमाणु में 3 p तथा 3 d कक्षक समभ्रंश कक्षक नहीं हैं। उपरोक्त कथनों के आधार पर, नीचे दिए गए विकल्पों में से सबसे उपयुक्त उत्तर चुनिएः</a:t>
            </a:r>
            <a:endParaRPr lang="en-US" sz="2400" dirty="0"/>
          </a:p>
        </p:txBody>
      </p:sp>
      <p:sp>
        <p:nvSpPr>
          <p:cNvPr id="4" name="Text 1"/>
          <p:cNvSpPr/>
          <p:nvPr/>
        </p:nvSpPr>
        <p:spPr>
          <a:xfrm>
            <a:off x="457200" y="33832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कथन I असत्य है, लेकिन कथन II सत्य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कथन I और कथन II दोनों सत्य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कथन 1 सत्य है, लेकिन कथन II असत्य 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कथन I और कथन II दोनों असत्य हैं।</a:t>
            </a:r>
            <a:endParaRPr lang="en-US" sz="24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2004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प्रश्न 112. </a:t>
            </a:r>
            <a:pPr algn="just" indent="0" marL="0">
              <a:lnSpc>
                <a:spcPts val="3000"/>
              </a:lnSpc>
              <a:buNone/>
            </a:pPr>
            <a:r>
              <a:rPr lang="en-US" sz="2000" b="1" dirty="0">
                <a:solidFill>
                  <a:srgbClr val="FFFFFF"/>
                </a:solidFill>
              </a:rPr>
              <a:t>नीचे दो कथन दिए गए हैं। इनमें एक को अभिकथन A और दूसरे को कारण R चिन्हित किया गया है।</a:t>
            </a:r>
            <a:endParaRPr lang="en-US" sz="2000" dirty="0"/>
          </a:p>
          <a:p>
            <a:pPr algn="just" indent="0" marL="0">
              <a:lnSpc>
                <a:spcPts val="3000"/>
              </a:lnSpc>
              <a:buNone/>
            </a:pPr>
            <a:r>
              <a:rPr lang="en-US" sz="2000" b="1" dirty="0">
                <a:solidFill>
                  <a:srgbClr val="FFFFFF"/>
                </a:solidFill>
              </a:rPr>
              <a:t>अभिकथन (A): हाइड्रोजन परमाणु के 2 s-कक्षक की ऊर्जा लिथियम के 2 s-कक्षक की ऊर्जा से अधिक होती है।</a:t>
            </a:r>
            <a:endParaRPr lang="en-US" sz="2000" dirty="0"/>
          </a:p>
          <a:p>
            <a:pPr algn="just" indent="0" marL="0">
              <a:lnSpc>
                <a:spcPts val="3000"/>
              </a:lnSpc>
              <a:buNone/>
            </a:pPr>
            <a:r>
              <a:rPr lang="en-US" sz="2000" b="1" dirty="0">
                <a:solidFill>
                  <a:srgbClr val="FFFFFF"/>
                </a:solidFill>
              </a:rPr>
              <a:t>कारण (R): एक ही उपकोश में कक्षकों की ऊर्जा परमाणु क्रमांक में वृद्धि के साथ घटती जाती है। ऊपर दिए गए कथनों के संदर्भ में, नीचे दिए गए विकल्पों में से सबसे उचित उत्तर चुनिएः</a:t>
            </a:r>
            <a:endParaRPr lang="en-US" sz="2000" dirty="0"/>
          </a:p>
        </p:txBody>
      </p:sp>
      <p:sp>
        <p:nvSpPr>
          <p:cNvPr id="4" name="Text 1"/>
          <p:cNvSpPr/>
          <p:nvPr/>
        </p:nvSpPr>
        <p:spPr>
          <a:xfrm>
            <a:off x="457200" y="4297680"/>
            <a:ext cx="11274552" cy="18288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A और R दोनों सत्य हैं और R, A की सही व्याख्या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B. </a:t>
            </a:r>
            <a:pPr algn="just" indent="0" marL="0">
              <a:lnSpc>
                <a:spcPts val="3000"/>
              </a:lnSpc>
              <a:buNone/>
            </a:pPr>
            <a:r>
              <a:rPr lang="en-US" sz="2000" dirty="0">
                <a:solidFill>
                  <a:srgbClr val="FFFFFF"/>
                </a:solidFill>
              </a:rPr>
              <a:t>A और R दोनों सत्य हैं, परंतु R, A की सही व्याख्या नहीं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C. </a:t>
            </a:r>
            <a:pPr algn="just" indent="0" marL="0">
              <a:lnSpc>
                <a:spcPts val="3000"/>
              </a:lnSpc>
              <a:buNone/>
            </a:pPr>
            <a:r>
              <a:rPr lang="en-US" sz="2000" dirty="0">
                <a:solidFill>
                  <a:srgbClr val="FFFFFF"/>
                </a:solidFill>
              </a:rPr>
              <a:t>A सत्य है, परंतु R असत्य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D. </a:t>
            </a:r>
            <a:pPr algn="just" indent="0" marL="0">
              <a:lnSpc>
                <a:spcPts val="3000"/>
              </a:lnSpc>
              <a:buNone/>
            </a:pPr>
            <a:r>
              <a:rPr lang="en-US" sz="2000" dirty="0">
                <a:solidFill>
                  <a:srgbClr val="FFFFFF"/>
                </a:solidFill>
              </a:rPr>
              <a:t>A असत्य है, परंतु R सत्य है।</a:t>
            </a:r>
            <a:endParaRPr lang="en-US" sz="20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114. </a:t>
            </a:r>
            <a:pPr algn="just" indent="0" marL="0">
              <a:lnSpc>
                <a:spcPts val="3600"/>
              </a:lnSpc>
              <a:buNone/>
            </a:pPr>
            <a:r>
              <a:rPr lang="en-US" sz="2400" b="1" dirty="0">
                <a:solidFill>
                  <a:srgbClr val="FFFFFF"/>
                </a:solidFill>
              </a:rPr>
              <a:t>निम्न में से गलत कथन की पहचान करें।</a:t>
            </a:r>
            <a:endParaRPr lang="en-US" sz="2400" dirty="0"/>
          </a:p>
        </p:txBody>
      </p:sp>
      <p:sp>
        <p:nvSpPr>
          <p:cNvPr id="4" name="Text 1"/>
          <p:cNvSpPr/>
          <p:nvPr/>
        </p:nvSpPr>
        <p:spPr>
          <a:xfrm>
            <a:off x="457200" y="1554480"/>
            <a:ext cx="112745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नाभिक के चारों ओर एक गोलाकार पथ जिसमें एक इलेक्ट्रॉन चलता है, बोर की कक्षा के रूप में प्रस्तावित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एक कक्षीय परमाणु में एक इलेक्ट्रॉन तरंग कार्य ( Ψ )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बोर की कक्षाओं का अस्तित्व हाइड्रोजन स्पेक्ट्रम द्वारा समर्थित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परमाणु कक्षक केवल क्वांटम संख्या n एवं l द्वारा चिन्हित है।</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117. </a:t>
            </a:r>
            <a:pPr algn="just" indent="0" marL="0">
              <a:lnSpc>
                <a:spcPts val="3600"/>
              </a:lnSpc>
              <a:buNone/>
            </a:pPr>
            <a:r>
              <a:rPr lang="en-US" sz="2400" b="1" dirty="0">
                <a:solidFill>
                  <a:srgbClr val="FFFFFF"/>
                </a:solidFill>
              </a:rPr>
              <a:t>4 d-कक्षक में रेडियल और कोणीय नोड्स की संख्या क्रमशः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1 एवं 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3 एवं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1 एवं 0</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2 एवं 1</a:t>
            </a:r>
            <a:endParaRPr lang="en-US" sz="24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2400"/>
              </a:lnSpc>
              <a:buNone/>
            </a:pPr>
            <a:r>
              <a:rPr lang="en-US" sz="1600" b="1" dirty="0">
                <a:solidFill>
                  <a:srgbClr val="E02424"/>
                </a:solidFill>
              </a:rPr>
              <a:t>प्रश्न 118. </a:t>
            </a:r>
            <a:pPr algn="just" indent="0" marL="0">
              <a:lnSpc>
                <a:spcPts val="2400"/>
              </a:lnSpc>
              <a:buNone/>
            </a:pPr>
            <a:r>
              <a:rPr lang="en-US" sz="1600" b="1" dirty="0">
                <a:solidFill>
                  <a:srgbClr val="FFFFFF"/>
                </a:solidFill>
              </a:rPr>
              <a:t>निम्न कथनों पर विचार करें।</a:t>
            </a:r>
            <a:endParaRPr lang="en-US" sz="1600" dirty="0"/>
          </a:p>
          <a:p>
            <a:pPr algn="just" indent="0" marL="0">
              <a:lnSpc>
                <a:spcPts val="2400"/>
              </a:lnSpc>
              <a:buNone/>
            </a:pPr>
            <a:r>
              <a:rPr lang="en-US" sz="1600" b="1" dirty="0">
                <a:solidFill>
                  <a:srgbClr val="FFFFFF"/>
                </a:solidFill>
              </a:rPr>
              <a:t>(E) l=5 के लिए, कुल 9 कक्षीय होंगे।</a:t>
            </a:r>
            <a:endParaRPr lang="en-US" sz="1600" dirty="0"/>
          </a:p>
          <a:p>
            <a:pPr algn="just" indent="0" marL="0">
              <a:lnSpc>
                <a:spcPts val="2400"/>
              </a:lnSpc>
              <a:buNone/>
            </a:pPr>
            <a:r>
              <a:rPr lang="en-US" sz="1600" b="1" dirty="0">
                <a:solidFill>
                  <a:srgbClr val="FFFFFF"/>
                </a:solidFill>
              </a:rPr>
              <a:t>उपरोक्त में से कौन-से कथन सही हैं?</a:t>
            </a:r>
            <a:endParaRPr lang="en-US" sz="1600" dirty="0"/>
          </a:p>
        </p:txBody>
      </p:sp>
      <p:sp>
        <p:nvSpPr>
          <p:cNvPr id="4" name="Text 1"/>
          <p:cNvSpPr/>
          <p:nvPr/>
        </p:nvSpPr>
        <p:spPr>
          <a:xfrm>
            <a:off x="457200" y="2468880"/>
            <a:ext cx="11274552" cy="5029200"/>
          </a:xfrm>
          <a:prstGeom prst="rect">
            <a:avLst/>
          </a:prstGeom>
          <a:noFill/>
          <a:ln/>
        </p:spPr>
        <p:txBody>
          <a:bodyPr wrap="square" lIns="0" tIns="0" rIns="0" bIns="0" rtlCol="0" anchor="t"/>
          <a:lstStyle/>
          <a:p>
            <a:pPr algn="just" indent="0" marL="0">
              <a:lnSpc>
                <a:spcPts val="2400"/>
              </a:lnSpc>
              <a:buNone/>
            </a:pPr>
            <a:r>
              <a:rPr lang="en-US" sz="1600" b="1" dirty="0">
                <a:solidFill>
                  <a:srgbClr val="E02424"/>
                </a:solidFill>
              </a:rPr>
              <a:t>A. </a:t>
            </a:r>
            <a:pPr algn="just" indent="0" marL="0">
              <a:lnSpc>
                <a:spcPts val="2400"/>
              </a:lnSpc>
              <a:buNone/>
            </a:pPr>
            <a:r>
              <a:rPr lang="en-US" sz="1600" dirty="0">
                <a:solidFill>
                  <a:srgbClr val="FFFFFF"/>
                </a:solidFill>
              </a:rPr>
              <a:t>मुख्य क्वांटम संख्या '' एक धनात्मक पूर्णाक है जिसका मान n=1, 2, 3………….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E02424"/>
                </a:solidFill>
              </a:rPr>
              <a:t>B. </a:t>
            </a:r>
            <a:pPr algn="just" indent="0" marL="0">
              <a:lnSpc>
                <a:spcPts val="2400"/>
              </a:lnSpc>
              <a:buNone/>
            </a:pPr>
            <a:r>
              <a:rPr lang="en-US" sz="1600" dirty="0">
                <a:solidFill>
                  <a:srgbClr val="FFFFFF"/>
                </a:solidFill>
              </a:rPr>
              <a:t>किसी दिए गए (मुख्य क्वांटम संख्या) के लिए दिगंशीय क्वांटम संख्या 'l' का मान =0, 1, 2, 3......... n हो सकता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16A34A"/>
                </a:solidFill>
              </a:rPr>
              <a:t>C. </a:t>
            </a:r>
            <a:pPr algn="just" indent="0" marL="0">
              <a:lnSpc>
                <a:spcPts val="2400"/>
              </a:lnSpc>
              <a:buNone/>
            </a:pPr>
            <a:r>
              <a:rPr lang="en-US" sz="1600" b="1" dirty="0">
                <a:solidFill>
                  <a:srgbClr val="16A34A"/>
                </a:solidFill>
              </a:rPr>
              <a:t>एक विशेष 'l' (दिगंशीय क्वांटम संख्या) के लिए चुम्बकीय कक्षक क्वांटम संख्या ' n₁ ' में मान ( 2 l+1) होता है।</a:t>
            </a:r>
            <a:pPr algn="just" indent="0" marL="0">
              <a:lnSpc>
                <a:spcPts val="2400"/>
              </a:lnSpc>
              <a:buNone/>
            </a:pPr>
            <a:r>
              <a:rPr lang="en-US" sz="1600" b="1" dirty="0">
                <a:solidFill>
                  <a:srgbClr val="16A34A"/>
                </a:solidFill>
              </a:rPr>
              <a:t>  उत्तर</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E02424"/>
                </a:solidFill>
              </a:rPr>
              <a:t>D. </a:t>
            </a:r>
            <a:pPr algn="just" indent="0" marL="0">
              <a:lnSpc>
                <a:spcPts val="2400"/>
              </a:lnSpc>
              <a:buNone/>
            </a:pPr>
            <a:r>
              <a:rPr lang="en-US" sz="1600" dirty="0">
                <a:solidFill>
                  <a:srgbClr val="FFFFFF"/>
                </a:solidFill>
              </a:rPr>
              <a:t>±1/2 इलेक्ट्रॉन प्रचक्रण के दो संभावित अभिविन्यास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E02424"/>
                </a:solidFill>
              </a:rPr>
              <a:t>E. </a:t>
            </a:r>
            <a:pPr algn="just" indent="0" marL="0">
              <a:lnSpc>
                <a:spcPts val="2400"/>
              </a:lnSpc>
              <a:buNone/>
            </a:pPr>
            <a:r>
              <a:rPr lang="en-US" sz="1600" dirty="0">
                <a:solidFill>
                  <a:srgbClr val="FFFFFF"/>
                </a:solidFill>
              </a:rPr>
              <a:t>(A), (B) एवं (C)</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E02424"/>
                </a:solidFill>
              </a:rPr>
              <a:t>F. </a:t>
            </a:r>
            <a:pPr algn="just" indent="0" marL="0">
              <a:lnSpc>
                <a:spcPts val="2400"/>
              </a:lnSpc>
              <a:buNone/>
            </a:pPr>
            <a:r>
              <a:rPr lang="en-US" sz="1600" dirty="0">
                <a:solidFill>
                  <a:srgbClr val="FFFFFF"/>
                </a:solidFill>
              </a:rPr>
              <a:t>(A), (C), (D) एवं (E)</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16A34A"/>
                </a:solidFill>
              </a:rPr>
              <a:t>G. </a:t>
            </a:r>
            <a:pPr algn="just" indent="0" marL="0">
              <a:lnSpc>
                <a:spcPts val="2400"/>
              </a:lnSpc>
              <a:buNone/>
            </a:pPr>
            <a:r>
              <a:rPr lang="en-US" sz="1600" b="1" dirty="0">
                <a:solidFill>
                  <a:srgbClr val="16A34A"/>
                </a:solidFill>
              </a:rPr>
              <a:t>(A), (C) एवं (D)</a:t>
            </a:r>
            <a:pPr algn="just" indent="0" marL="0">
              <a:lnSpc>
                <a:spcPts val="2400"/>
              </a:lnSpc>
              <a:buNone/>
            </a:pPr>
            <a:r>
              <a:rPr lang="en-US" sz="1600" b="1" dirty="0">
                <a:solidFill>
                  <a:srgbClr val="16A34A"/>
                </a:solidFill>
              </a:rPr>
              <a:t>  उत्तर</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E02424"/>
                </a:solidFill>
              </a:rPr>
              <a:t>H. </a:t>
            </a:r>
            <a:pPr algn="just" indent="0" marL="0">
              <a:lnSpc>
                <a:spcPts val="2400"/>
              </a:lnSpc>
              <a:buNone/>
            </a:pPr>
            <a:r>
              <a:rPr lang="en-US" sz="1600" dirty="0">
                <a:solidFill>
                  <a:srgbClr val="FFFFFF"/>
                </a:solidFill>
              </a:rPr>
              <a:t>(A), (B), (C) एवं (D)</a:t>
            </a:r>
            <a:endParaRPr lang="en-US" sz="16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121. </a:t>
            </a:r>
            <a:pPr algn="just" indent="0" marL="0">
              <a:lnSpc>
                <a:spcPts val="3600"/>
              </a:lnSpc>
              <a:buNone/>
            </a:pPr>
            <a:r>
              <a:rPr lang="en-US" sz="2400" b="1" dirty="0">
                <a:solidFill>
                  <a:srgbClr val="FFFFFF"/>
                </a:solidFill>
              </a:rPr>
              <a:t>एक निश्चित कक्षक में कोई कोणीय नोड नहीं होता है और दो रेडियल नोड होते हैं। कक्षक बताइए-</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3 p</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2 p</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3 s</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2 s</a:t>
            </a:r>
            <a:endParaRPr lang="en-US" sz="24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2400"/>
              </a:lnSpc>
              <a:buNone/>
            </a:pPr>
            <a:r>
              <a:rPr lang="en-US" sz="1600" b="1" dirty="0">
                <a:solidFill>
                  <a:srgbClr val="E02424"/>
                </a:solidFill>
              </a:rPr>
              <a:t>प्रश्न 122. </a:t>
            </a:r>
            <a:pPr algn="just" indent="0" marL="0">
              <a:lnSpc>
                <a:spcPts val="2400"/>
              </a:lnSpc>
              <a:buNone/>
            </a:pPr>
            <a:r>
              <a:rPr lang="en-US" sz="1600" b="1" dirty="0">
                <a:solidFill>
                  <a:srgbClr val="FFFFFF"/>
                </a:solidFill>
              </a:rPr>
              <a:t>हाइड्रोजन परमाणु के विभिन्न कक्षकों के लिए त्रिज्य वितरण फलनों के'' के विरुद्ध आलेख नीचे दिए गये हैं-</a:t>
            </a:r>
            <a:endParaRPr lang="en-US" sz="1600" dirty="0"/>
          </a:p>
          <a:p>
            <a:pPr algn="just" indent="0" marL="0">
              <a:lnSpc>
                <a:spcPts val="2400"/>
              </a:lnSpc>
              <a:buNone/>
            </a:pPr>
            <a:r>
              <a:rPr lang="en-US" sz="1600" b="1" dirty="0">
                <a:solidFill>
                  <a:srgbClr val="FFFFFF"/>
                </a:solidFill>
              </a:rPr>
              <a:t>3 s कक्षक के लिए आलेख है-</a:t>
            </a:r>
            <a:endParaRPr lang="en-US" sz="16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2250"/>
              </a:lnSpc>
              <a:buNone/>
            </a:pPr>
            <a:r>
              <a:rPr lang="en-US" sz="1500" b="1" dirty="0">
                <a:solidFill>
                  <a:srgbClr val="E02424"/>
                </a:solidFill>
              </a:rPr>
              <a:t>A. </a:t>
            </a:r>
            <a:pPr algn="just" indent="0" marL="0">
              <a:lnSpc>
                <a:spcPts val="2250"/>
              </a:lnSpc>
              <a:buNone/>
            </a:pPr>
            <a:r>
              <a:rPr lang="en-US" sz="1500" dirty="0">
                <a:solidFill>
                  <a:srgbClr val="FFFFFF"/>
                </a:solidFill>
              </a:rPr>
              <a:t>C</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E02424"/>
                </a:solidFill>
              </a:rPr>
              <a:t>B. </a:t>
            </a:r>
            <a:pPr algn="just" indent="0" marL="0">
              <a:lnSpc>
                <a:spcPts val="2250"/>
              </a:lnSpc>
              <a:buNone/>
            </a:pPr>
            <a:r>
              <a:rPr lang="en-US" sz="1500" dirty="0">
                <a:solidFill>
                  <a:srgbClr val="FFFFFF"/>
                </a:solidFill>
              </a:rPr>
              <a:t>A</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E02424"/>
                </a:solidFill>
              </a:rPr>
              <a:t>C. </a:t>
            </a:r>
            <a:pPr algn="just" indent="0" marL="0">
              <a:lnSpc>
                <a:spcPts val="2250"/>
              </a:lnSpc>
              <a:buNone/>
            </a:pPr>
            <a:r>
              <a:rPr lang="en-US" sz="1500" dirty="0">
                <a:solidFill>
                  <a:srgbClr val="FFFFFF"/>
                </a:solidFill>
              </a:rPr>
              <a:t>B</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16A34A"/>
                </a:solidFill>
              </a:rPr>
              <a:t>D. </a:t>
            </a:r>
            <a:pPr algn="just" indent="0" marL="0">
              <a:lnSpc>
                <a:spcPts val="2250"/>
              </a:lnSpc>
              <a:buNone/>
            </a:pPr>
            <a:r>
              <a:rPr lang="en-US" sz="1500" b="1" dirty="0">
                <a:solidFill>
                  <a:srgbClr val="16A34A"/>
                </a:solidFill>
              </a:rPr>
              <a:t>D</a:t>
            </a:r>
            <a:pPr algn="just" indent="0" marL="0">
              <a:lnSpc>
                <a:spcPts val="2250"/>
              </a:lnSpc>
              <a:buNone/>
            </a:pPr>
            <a:r>
              <a:rPr lang="en-US" sz="1500" b="1" dirty="0">
                <a:solidFill>
                  <a:srgbClr val="16A34A"/>
                </a:solidFill>
              </a:rPr>
              <a:t>  उत्तर</a:t>
            </a:r>
            <a:endParaRPr lang="en-US" sz="1500" dirty="0"/>
          </a:p>
        </p:txBody>
      </p:sp>
      <p:pic>
        <p:nvPicPr>
          <p:cNvPr id="5" name="Image 1" descr="preencoded.png">    </p:cNvPr>
          <p:cNvPicPr>
            <a:picLocks noChangeAspect="1"/>
          </p:cNvPicPr>
          <p:nvPr/>
        </p:nvPicPr>
        <p:blipFill>
          <a:blip r:embed="rId2"/>
          <a:stretch>
            <a:fillRect/>
          </a:stretch>
        </p:blipFill>
        <p:spPr>
          <a:xfrm>
            <a:off x="457200" y="4297680"/>
            <a:ext cx="896112" cy="1463040"/>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123. </a:t>
            </a:r>
            <a:pPr algn="just" indent="0" marL="0">
              <a:lnSpc>
                <a:spcPts val="3600"/>
              </a:lnSpc>
              <a:buNone/>
            </a:pPr>
            <a:r>
              <a:rPr lang="en-US" sz="2400" b="1" dirty="0">
                <a:solidFill>
                  <a:srgbClr val="FFFFFF"/>
                </a:solidFill>
              </a:rPr>
              <a:t>कक्षक जिसमें दो त्रिज्य तथा दो कोणीय नोड हैं, वह है-</a:t>
            </a:r>
            <a:endParaRPr lang="en-US" sz="2400" dirty="0"/>
          </a:p>
        </p:txBody>
      </p:sp>
      <p:sp>
        <p:nvSpPr>
          <p:cNvPr id="4" name="Text 1"/>
          <p:cNvSpPr/>
          <p:nvPr/>
        </p:nvSpPr>
        <p:spPr>
          <a:xfrm>
            <a:off x="457200" y="15544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4 f</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4 d</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5 d</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3 p</a:t>
            </a:r>
            <a:endParaRPr lang="en-US" sz="24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124. </a:t>
            </a:r>
            <a:pPr algn="just" indent="0" marL="0">
              <a:lnSpc>
                <a:spcPts val="3600"/>
              </a:lnSpc>
              <a:buNone/>
            </a:pPr>
            <a:r>
              <a:rPr lang="en-US" sz="2400" b="1" dirty="0">
                <a:solidFill>
                  <a:srgbClr val="FFFFFF"/>
                </a:solidFill>
              </a:rPr>
              <a:t>क्वांटम संख्या n=4 तथा m=-2 के मान वाले उपकोशों की संख्या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8</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4</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16</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2</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126. </a:t>
            </a:r>
            <a:pPr algn="just" indent="0" marL="0">
              <a:lnSpc>
                <a:spcPts val="3600"/>
              </a:lnSpc>
              <a:buNone/>
            </a:pPr>
            <a:r>
              <a:rPr lang="en-US" sz="2400" b="1" dirty="0">
                <a:solidFill>
                  <a:srgbClr val="FFFFFF"/>
                </a:solidFill>
              </a:rPr>
              <a:t>क्वान्टम संख्या n=5, ms =+ 1 2 से सम्बन्धित कक्षकों की संख्या होगी-</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25</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11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15</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50</a:t>
            </a:r>
            <a:endParaRPr lang="en-US" sz="24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300"/>
              </a:lnSpc>
              <a:buNone/>
            </a:pPr>
            <a:r>
              <a:rPr lang="en-US" sz="2200" b="1" dirty="0">
                <a:solidFill>
                  <a:srgbClr val="E02424"/>
                </a:solidFill>
              </a:rPr>
              <a:t>प्रश्न 128. </a:t>
            </a:r>
            <a:pPr algn="just" indent="0" marL="0">
              <a:lnSpc>
                <a:spcPts val="3300"/>
              </a:lnSpc>
              <a:buNone/>
            </a:pPr>
            <a:r>
              <a:rPr lang="en-US" sz="2200" b="1" dirty="0">
                <a:solidFill>
                  <a:srgbClr val="FFFFFF"/>
                </a:solidFill>
              </a:rPr>
              <a:t>चार इलेक्ट्रॉनों की क्वान्टम संख्याएँ नीचे दी गई हैं:</a:t>
            </a:r>
            <a:endParaRPr lang="en-US" sz="2200" dirty="0"/>
          </a:p>
          <a:p>
            <a:pPr algn="just" indent="0" marL="0">
              <a:lnSpc>
                <a:spcPts val="3300"/>
              </a:lnSpc>
              <a:buNone/>
            </a:pPr>
            <a:r>
              <a:rPr lang="en-US" sz="2200" b="1" dirty="0">
                <a:solidFill>
                  <a:srgbClr val="FFFFFF"/>
                </a:solidFill>
              </a:rPr>
              <a:t>(I) n=4, l=2, ml = -2, ms =- 1 2</a:t>
            </a:r>
            <a:endParaRPr lang="en-US" sz="2200" dirty="0"/>
          </a:p>
          <a:p>
            <a:pPr algn="just" indent="0" marL="0">
              <a:lnSpc>
                <a:spcPts val="3300"/>
              </a:lnSpc>
              <a:buNone/>
            </a:pPr>
            <a:r>
              <a:rPr lang="en-US" sz="2200" b="1" dirty="0">
                <a:solidFill>
                  <a:srgbClr val="FFFFFF"/>
                </a:solidFill>
              </a:rPr>
              <a:t>(II) n=3, l=2, ml = -2, ms =+ 1 2</a:t>
            </a:r>
            <a:endParaRPr lang="en-US" sz="2200" dirty="0"/>
          </a:p>
          <a:p>
            <a:pPr algn="just" indent="0" marL="0">
              <a:lnSpc>
                <a:spcPts val="3300"/>
              </a:lnSpc>
              <a:buNone/>
            </a:pPr>
            <a:r>
              <a:rPr lang="en-US" sz="2200" b="1" dirty="0">
                <a:solidFill>
                  <a:srgbClr val="FFFFFF"/>
                </a:solidFill>
              </a:rPr>
              <a:t>(III) n=4, l=1, ml = -0, ms =+ 1 2</a:t>
            </a:r>
            <a:endParaRPr lang="en-US" sz="2200" dirty="0"/>
          </a:p>
          <a:p>
            <a:pPr algn="just" indent="0" marL="0">
              <a:lnSpc>
                <a:spcPts val="3300"/>
              </a:lnSpc>
              <a:buNone/>
            </a:pPr>
            <a:r>
              <a:rPr lang="en-US" sz="2200" b="1" dirty="0">
                <a:solidFill>
                  <a:srgbClr val="FFFFFF"/>
                </a:solidFill>
              </a:rPr>
              <a:t>(IV) n=3, l=1, ml = -1, ms =- 1 2</a:t>
            </a:r>
            <a:endParaRPr lang="en-US" sz="2200" dirty="0"/>
          </a:p>
          <a:p>
            <a:pPr algn="just" indent="0" marL="0">
              <a:lnSpc>
                <a:spcPts val="3300"/>
              </a:lnSpc>
              <a:buNone/>
            </a:pPr>
            <a:r>
              <a:rPr lang="en-US" sz="2200" b="1" dirty="0">
                <a:solidFill>
                  <a:srgbClr val="FFFFFF"/>
                </a:solidFill>
              </a:rPr>
              <a:t>इनकी बढ़ती ऊर्जाओं का सही क्रम होगा-</a:t>
            </a:r>
            <a:endParaRPr lang="en-US" sz="2200" dirty="0"/>
          </a:p>
        </p:txBody>
      </p:sp>
      <p:sp>
        <p:nvSpPr>
          <p:cNvPr id="4" name="Text 1"/>
          <p:cNvSpPr/>
          <p:nvPr/>
        </p:nvSpPr>
        <p:spPr>
          <a:xfrm>
            <a:off x="457200" y="3840480"/>
            <a:ext cx="11274552" cy="1828800"/>
          </a:xfrm>
          <a:prstGeom prst="rect">
            <a:avLst/>
          </a:prstGeom>
          <a:noFill/>
          <a:ln/>
        </p:spPr>
        <p:txBody>
          <a:bodyPr wrap="square" lIns="0" tIns="0" rIns="0" bIns="0" rtlCol="0" anchor="t"/>
          <a:lstStyle/>
          <a:p>
            <a:pPr algn="just" indent="0" marL="0">
              <a:lnSpc>
                <a:spcPts val="3300"/>
              </a:lnSpc>
              <a:buNone/>
            </a:pPr>
            <a:r>
              <a:rPr lang="en-US" sz="2200" b="1" dirty="0">
                <a:solidFill>
                  <a:srgbClr val="16A34A"/>
                </a:solidFill>
              </a:rPr>
              <a:t>A. </a:t>
            </a:r>
            <a:pPr algn="just" indent="0" marL="0">
              <a:lnSpc>
                <a:spcPts val="3300"/>
              </a:lnSpc>
              <a:buNone/>
            </a:pPr>
            <a:r>
              <a:rPr lang="en-US" sz="2200" b="1" dirty="0">
                <a:solidFill>
                  <a:srgbClr val="16A34A"/>
                </a:solidFill>
              </a:rPr>
              <a:t>IV&lt;II&lt;IIII&lt;I</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B. </a:t>
            </a:r>
            <a:pPr algn="just" indent="0" marL="0">
              <a:lnSpc>
                <a:spcPts val="3300"/>
              </a:lnSpc>
              <a:buNone/>
            </a:pPr>
            <a:r>
              <a:rPr lang="en-US" sz="2200" dirty="0">
                <a:solidFill>
                  <a:srgbClr val="FFFFFF"/>
                </a:solidFill>
              </a:rPr>
              <a:t>IV&lt;III&lt;II&lt; I</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C. </a:t>
            </a:r>
            <a:pPr algn="just" indent="0" marL="0">
              <a:lnSpc>
                <a:spcPts val="3300"/>
              </a:lnSpc>
              <a:buNone/>
            </a:pPr>
            <a:r>
              <a:rPr lang="en-US" sz="2200" dirty="0">
                <a:solidFill>
                  <a:srgbClr val="FFFFFF"/>
                </a:solidFill>
              </a:rPr>
              <a:t>I&lt;III&lt;II&lt;IV</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D. </a:t>
            </a:r>
            <a:pPr algn="just" indent="0" marL="0">
              <a:lnSpc>
                <a:spcPts val="3300"/>
              </a:lnSpc>
              <a:buNone/>
            </a:pPr>
            <a:r>
              <a:rPr lang="en-US" sz="2200" dirty="0">
                <a:solidFill>
                  <a:srgbClr val="FFFFFF"/>
                </a:solidFill>
              </a:rPr>
              <a:t>I&lt;II&lt;III&lt;IV</a:t>
            </a:r>
            <a:endParaRPr lang="en-US" sz="22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5029200"/>
          </a:xfrm>
          <a:prstGeom prst="rect">
            <a:avLst/>
          </a:prstGeom>
          <a:noFill/>
          <a:ln/>
        </p:spPr>
        <p:txBody>
          <a:bodyPr wrap="square" lIns="0" tIns="0" rIns="0" bIns="0" rtlCol="0" anchor="t"/>
          <a:lstStyle/>
          <a:p>
            <a:pPr algn="just" indent="0" marL="0">
              <a:lnSpc>
                <a:spcPts val="2400"/>
              </a:lnSpc>
              <a:buNone/>
            </a:pPr>
            <a:r>
              <a:rPr lang="en-US" sz="1600" b="1" dirty="0">
                <a:solidFill>
                  <a:srgbClr val="E02424"/>
                </a:solidFill>
              </a:rPr>
              <a:t>प्रश्न 131. </a:t>
            </a:r>
            <a:pPr algn="just" indent="0" marL="0">
              <a:lnSpc>
                <a:spcPts val="2400"/>
              </a:lnSpc>
              <a:buNone/>
            </a:pPr>
            <a:r>
              <a:rPr lang="en-US" sz="1600" b="1" dirty="0">
                <a:solidFill>
                  <a:srgbClr val="FFFFFF"/>
                </a:solidFill>
              </a:rPr>
              <a:t>परमाणु कक्षकों की व्याख्या से सम्बन्धित कौन से संयुक्त कथन सत्य है?</a:t>
            </a:r>
            <a:endParaRPr lang="en-US" sz="1600" dirty="0"/>
          </a:p>
          <a:p>
            <a:pPr algn="just" indent="0" marL="0">
              <a:lnSpc>
                <a:spcPts val="2400"/>
              </a:lnSpc>
              <a:buNone/>
            </a:pPr>
            <a:r>
              <a:rPr lang="en-US" sz="1600" b="1" dirty="0">
                <a:solidFill>
                  <a:srgbClr val="FFFFFF"/>
                </a:solidFill>
              </a:rPr>
              <a:t>I. कम कोणीय संवेग वाले कक्षक के इलेक्ट्रॉन की तुलना में अधिक कोणीय संवेग वाले कक्षक में इलेक्ट्रॉन नाभिक से दूर रहता है।</a:t>
            </a:r>
            <a:endParaRPr lang="en-US" sz="1600" dirty="0"/>
          </a:p>
          <a:p>
            <a:pPr algn="just" indent="0" marL="0">
              <a:lnSpc>
                <a:spcPts val="2400"/>
              </a:lnSpc>
              <a:buNone/>
            </a:pPr>
            <a:r>
              <a:rPr lang="en-US" sz="1600" b="1" dirty="0">
                <a:solidFill>
                  <a:srgbClr val="FFFFFF"/>
                </a:solidFill>
              </a:rPr>
              <a:t>II. मुख्य क्वान्टम संख्या के एक दिए मान के लिए कक्ष का आमाप द्विगंशी क्वान्टम संख्या के व्युत्क्रमानुपाती होता है।</a:t>
            </a:r>
            <a:endParaRPr lang="en-US" sz="1600" dirty="0"/>
          </a:p>
          <a:p>
            <a:pPr algn="just" indent="0" marL="0">
              <a:lnSpc>
                <a:spcPts val="2400"/>
              </a:lnSpc>
              <a:buNone/>
            </a:pPr>
            <a:r>
              <a:rPr lang="en-US" sz="1600" b="1" dirty="0">
                <a:solidFill>
                  <a:srgbClr val="FFFFFF"/>
                </a:solidFill>
              </a:rPr>
              <a:t>III. तरंग यान्त्रिकी के अनुसार निम्न अवस्था कोणीय संवेग h 2 π के बराबर होता है।</a:t>
            </a:r>
            <a:endParaRPr lang="en-US" sz="1600" dirty="0"/>
          </a:p>
          <a:p>
            <a:pPr algn="just" indent="0" marL="0">
              <a:lnSpc>
                <a:spcPts val="2400"/>
              </a:lnSpc>
              <a:buNone/>
            </a:pPr>
            <a:r>
              <a:rPr lang="en-US" sz="1600" b="1" dirty="0">
                <a:solidFill>
                  <a:srgbClr val="FFFFFF"/>
                </a:solidFill>
              </a:rPr>
              <a:t>IV. विभिन्न द्विगंशी क्वान्टम संख्याओं के लिए Ψ νs r का प्लॉट अधिक r मान की ओर पीक (शिखर) विस्थापित होना प्रदर्शित करता है।</a:t>
            </a:r>
            <a:endParaRPr lang="en-US" sz="1600" dirty="0"/>
          </a:p>
        </p:txBody>
      </p:sp>
      <p:sp>
        <p:nvSpPr>
          <p:cNvPr id="4" name="Text 1"/>
          <p:cNvSpPr/>
          <p:nvPr/>
        </p:nvSpPr>
        <p:spPr>
          <a:xfrm>
            <a:off x="457200" y="6126480"/>
            <a:ext cx="11274552" cy="1828800"/>
          </a:xfrm>
          <a:prstGeom prst="rect">
            <a:avLst/>
          </a:prstGeom>
          <a:noFill/>
          <a:ln/>
        </p:spPr>
        <p:txBody>
          <a:bodyPr wrap="square" lIns="0" tIns="0" rIns="0" bIns="0" rtlCol="0" anchor="t"/>
          <a:lstStyle/>
          <a:p>
            <a:pPr algn="just" indent="0" marL="0">
              <a:lnSpc>
                <a:spcPts val="2250"/>
              </a:lnSpc>
              <a:buNone/>
            </a:pPr>
            <a:r>
              <a:rPr lang="en-US" sz="1500" b="1" dirty="0">
                <a:solidFill>
                  <a:srgbClr val="16A34A"/>
                </a:solidFill>
              </a:rPr>
              <a:t>A. </a:t>
            </a:r>
            <a:pPr algn="just" indent="0" marL="0">
              <a:lnSpc>
                <a:spcPts val="2250"/>
              </a:lnSpc>
              <a:buNone/>
            </a:pPr>
            <a:r>
              <a:rPr lang="en-US" sz="1500" b="1" dirty="0">
                <a:solidFill>
                  <a:srgbClr val="16A34A"/>
                </a:solidFill>
              </a:rPr>
              <a:t>I, IV</a:t>
            </a:r>
            <a:pPr algn="just" indent="0" marL="0">
              <a:lnSpc>
                <a:spcPts val="2250"/>
              </a:lnSpc>
              <a:buNone/>
            </a:pPr>
            <a:r>
              <a:rPr lang="en-US" sz="1500" b="1" dirty="0">
                <a:solidFill>
                  <a:srgbClr val="16A34A"/>
                </a:solidFill>
              </a:rPr>
              <a:t>  उत्तर</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E02424"/>
                </a:solidFill>
              </a:rPr>
              <a:t>B. </a:t>
            </a:r>
            <a:pPr algn="just" indent="0" marL="0">
              <a:lnSpc>
                <a:spcPts val="2250"/>
              </a:lnSpc>
              <a:buNone/>
            </a:pPr>
            <a:r>
              <a:rPr lang="en-US" sz="1500" dirty="0">
                <a:solidFill>
                  <a:srgbClr val="FFFFFF"/>
                </a:solidFill>
              </a:rPr>
              <a:t>I, III</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E02424"/>
                </a:solidFill>
              </a:rPr>
              <a:t>C. </a:t>
            </a:r>
            <a:pPr algn="just" indent="0" marL="0">
              <a:lnSpc>
                <a:spcPts val="2250"/>
              </a:lnSpc>
              <a:buNone/>
            </a:pPr>
            <a:r>
              <a:rPr lang="en-US" sz="1500" dirty="0">
                <a:solidFill>
                  <a:srgbClr val="FFFFFF"/>
                </a:solidFill>
              </a:rPr>
              <a:t>I, II</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E02424"/>
                </a:solidFill>
              </a:rPr>
              <a:t>D. </a:t>
            </a:r>
            <a:pPr algn="just" indent="0" marL="0">
              <a:lnSpc>
                <a:spcPts val="2250"/>
              </a:lnSpc>
              <a:buNone/>
            </a:pPr>
            <a:r>
              <a:rPr lang="en-US" sz="1500" dirty="0">
                <a:solidFill>
                  <a:srgbClr val="FFFFFF"/>
                </a:solidFill>
              </a:rPr>
              <a:t>II, III</a:t>
            </a:r>
            <a:endParaRPr lang="en-US" sz="15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132. </a:t>
            </a:r>
            <a:pPr algn="just" indent="0" marL="0">
              <a:lnSpc>
                <a:spcPts val="3600"/>
              </a:lnSpc>
              <a:buNone/>
            </a:pPr>
            <a:r>
              <a:rPr lang="en-US" sz="2400" b="1" dirty="0">
                <a:solidFill>
                  <a:srgbClr val="FFFFFF"/>
                </a:solidFill>
              </a:rPr>
              <a:t>मुख्य क्वांटम संख्या 5 से जुड़े ऑर्बिटल्स की कुल संख्या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20</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25</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10</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5</a:t>
            </a:r>
            <a:endParaRPr lang="en-US" sz="24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134. </a:t>
            </a:r>
            <a:pPr algn="just" indent="0" marL="0">
              <a:lnSpc>
                <a:spcPts val="3600"/>
              </a:lnSpc>
              <a:buNone/>
            </a:pPr>
            <a:r>
              <a:rPr lang="en-US" sz="2400" b="1" dirty="0">
                <a:solidFill>
                  <a:srgbClr val="FFFFFF"/>
                </a:solidFill>
              </a:rPr>
              <a:t>दिया गयाः</a:t>
            </a:r>
            <a:endParaRPr lang="en-US" sz="2400" dirty="0"/>
          </a:p>
          <a:p>
            <a:pPr algn="just" indent="0" marL="0">
              <a:lnSpc>
                <a:spcPts val="3600"/>
              </a:lnSpc>
              <a:buNone/>
            </a:pPr>
            <a:r>
              <a:rPr lang="en-US" sz="2400" b="1" dirty="0">
                <a:solidFill>
                  <a:srgbClr val="FFFFFF"/>
                </a:solidFill>
              </a:rPr>
              <a:t>किसी परमाणु में इलेक्ट्रॉनों की अधिकतम संख्या, जिनकी क्वांटम संख्याएँ (A) एवं (B) में दी गई है, क्रमशः है-</a:t>
            </a:r>
            <a:endParaRPr lang="en-US" sz="2400" dirty="0"/>
          </a:p>
        </p:txBody>
      </p:sp>
      <p:sp>
        <p:nvSpPr>
          <p:cNvPr id="4" name="Text 1"/>
          <p:cNvSpPr/>
          <p:nvPr/>
        </p:nvSpPr>
        <p:spPr>
          <a:xfrm>
            <a:off x="457200" y="2468880"/>
            <a:ext cx="112745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n=5, ml =+1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n=2, l=1, ml =-1 ms =-1/2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25 और 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8 और 1</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E. </a:t>
            </a:r>
            <a:pPr algn="just" indent="0" marL="0">
              <a:lnSpc>
                <a:spcPts val="3600"/>
              </a:lnSpc>
              <a:buNone/>
            </a:pPr>
            <a:r>
              <a:rPr lang="en-US" sz="2400" dirty="0">
                <a:solidFill>
                  <a:srgbClr val="FFFFFF"/>
                </a:solidFill>
              </a:rPr>
              <a:t>2 और 4</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F. </a:t>
            </a:r>
            <a:pPr algn="just" indent="0" marL="0">
              <a:lnSpc>
                <a:spcPts val="3600"/>
              </a:lnSpc>
              <a:buNone/>
            </a:pPr>
            <a:r>
              <a:rPr lang="en-US" sz="2400" dirty="0">
                <a:solidFill>
                  <a:srgbClr val="FFFFFF"/>
                </a:solidFill>
              </a:rPr>
              <a:t>4 और 1</a:t>
            </a:r>
            <a:endParaRPr lang="en-US" sz="24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2004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प्रश्न 135. </a:t>
            </a:r>
            <a:pPr algn="just" indent="0" marL="0">
              <a:lnSpc>
                <a:spcPts val="3000"/>
              </a:lnSpc>
              <a:buNone/>
            </a:pPr>
            <a:r>
              <a:rPr lang="en-US" sz="2000" b="1" dirty="0">
                <a:solidFill>
                  <a:srgbClr val="FFFFFF"/>
                </a:solidFill>
              </a:rPr>
              <a:t>इलेक्ट्रॉनों को जो क्वान्टम संख्या n तथा l द्वारा पहचाने जाते है –</a:t>
            </a:r>
            <a:endParaRPr lang="en-US" sz="2000" dirty="0"/>
          </a:p>
          <a:p>
            <a:pPr algn="just" indent="0" marL="0">
              <a:lnSpc>
                <a:spcPts val="3000"/>
              </a:lnSpc>
              <a:buNone/>
            </a:pPr>
            <a:r>
              <a:rPr lang="en-US" sz="2000" b="1" dirty="0">
                <a:solidFill>
                  <a:srgbClr val="FFFFFF"/>
                </a:solidFill>
              </a:rPr>
              <a:t>(1) n=4, l=1</a:t>
            </a:r>
            <a:endParaRPr lang="en-US" sz="2000" dirty="0"/>
          </a:p>
          <a:p>
            <a:pPr algn="just" indent="0" marL="0">
              <a:lnSpc>
                <a:spcPts val="3000"/>
              </a:lnSpc>
              <a:buNone/>
            </a:pPr>
            <a:r>
              <a:rPr lang="en-US" sz="2000" b="1" dirty="0">
                <a:solidFill>
                  <a:srgbClr val="FFFFFF"/>
                </a:solidFill>
              </a:rPr>
              <a:t>(2) n=4, l=0</a:t>
            </a:r>
            <a:endParaRPr lang="en-US" sz="2000" dirty="0"/>
          </a:p>
          <a:p>
            <a:pPr algn="just" indent="0" marL="0">
              <a:lnSpc>
                <a:spcPts val="3000"/>
              </a:lnSpc>
              <a:buNone/>
            </a:pPr>
            <a:r>
              <a:rPr lang="en-US" sz="2000" b="1" dirty="0">
                <a:solidFill>
                  <a:srgbClr val="FFFFFF"/>
                </a:solidFill>
              </a:rPr>
              <a:t>(3) n=3, l=2</a:t>
            </a:r>
            <a:endParaRPr lang="en-US" sz="2000" dirty="0"/>
          </a:p>
          <a:p>
            <a:pPr algn="just" indent="0" marL="0">
              <a:lnSpc>
                <a:spcPts val="3000"/>
              </a:lnSpc>
              <a:buNone/>
            </a:pPr>
            <a:r>
              <a:rPr lang="en-US" sz="2000" b="1" dirty="0">
                <a:solidFill>
                  <a:srgbClr val="FFFFFF"/>
                </a:solidFill>
              </a:rPr>
              <a:t>(4) n=3, l=1</a:t>
            </a:r>
            <a:endParaRPr lang="en-US" sz="2000" dirty="0"/>
          </a:p>
          <a:p>
            <a:pPr algn="just" indent="0" marL="0">
              <a:lnSpc>
                <a:spcPts val="3000"/>
              </a:lnSpc>
              <a:buNone/>
            </a:pPr>
            <a:r>
              <a:rPr lang="en-US" sz="2000" b="1" dirty="0">
                <a:solidFill>
                  <a:srgbClr val="FFFFFF"/>
                </a:solidFill>
              </a:rPr>
              <a:t>ऊर्जा के बढ़ते हुए क्रम में इस प्रकार रखा जा सकता है-</a:t>
            </a:r>
            <a:endParaRPr lang="en-US" sz="2000" dirty="0"/>
          </a:p>
        </p:txBody>
      </p:sp>
      <p:sp>
        <p:nvSpPr>
          <p:cNvPr id="4" name="Text 1"/>
          <p:cNvSpPr/>
          <p:nvPr/>
        </p:nvSpPr>
        <p:spPr>
          <a:xfrm>
            <a:off x="457200" y="4297680"/>
            <a:ext cx="11274552" cy="18288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(4) &lt; (2) &lt; (3) &lt; (1)</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B. </a:t>
            </a:r>
            <a:pPr algn="just" indent="0" marL="0">
              <a:lnSpc>
                <a:spcPts val="3000"/>
              </a:lnSpc>
              <a:buNone/>
            </a:pPr>
            <a:r>
              <a:rPr lang="en-US" sz="2000" dirty="0">
                <a:solidFill>
                  <a:srgbClr val="FFFFFF"/>
                </a:solidFill>
              </a:rPr>
              <a:t>(2) &lt; (4) &lt; (1) &lt; (3)</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C. </a:t>
            </a:r>
            <a:pPr algn="just" indent="0" marL="0">
              <a:lnSpc>
                <a:spcPts val="3000"/>
              </a:lnSpc>
              <a:buNone/>
            </a:pPr>
            <a:r>
              <a:rPr lang="en-US" sz="2000" dirty="0">
                <a:solidFill>
                  <a:srgbClr val="FFFFFF"/>
                </a:solidFill>
              </a:rPr>
              <a:t>(1) &lt; (3) &lt; (2) &lt; (4)</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D. </a:t>
            </a:r>
            <a:pPr algn="just" indent="0" marL="0">
              <a:lnSpc>
                <a:spcPts val="3000"/>
              </a:lnSpc>
              <a:buNone/>
            </a:pPr>
            <a:r>
              <a:rPr lang="en-US" sz="2000" dirty="0">
                <a:solidFill>
                  <a:srgbClr val="FFFFFF"/>
                </a:solidFill>
              </a:rPr>
              <a:t>(3) &lt; (4) &lt; (2) &lt; (1)</a:t>
            </a:r>
            <a:endParaRPr lang="en-US" sz="20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136. </a:t>
            </a:r>
            <a:pPr algn="just" indent="0" marL="0">
              <a:lnSpc>
                <a:spcPts val="3600"/>
              </a:lnSpc>
              <a:buNone/>
            </a:pPr>
            <a:r>
              <a:rPr lang="en-US" sz="2400" b="1" dirty="0">
                <a:solidFill>
                  <a:srgbClr val="FFFFFF"/>
                </a:solidFill>
              </a:rPr>
              <a:t>क्वांटम संख्याओं का कौन-सा समूह परमाणु की सर्वाधिक ऊर्जा को प्रदर्शित करता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n=3, l=0, m=0,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n=3, l=1, m=1,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n=3, l=2, m=1, s=+ 1 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n=4, l=0, m=0, s=+ 1 2</a:t>
            </a:r>
            <a:endParaRPr lang="en-US" sz="24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657600"/>
          </a:xfrm>
          <a:prstGeom prst="rect">
            <a:avLst/>
          </a:prstGeom>
          <a:noFill/>
          <a:ln/>
        </p:spPr>
        <p:txBody>
          <a:bodyPr wrap="square" lIns="0" tIns="0" rIns="0" bIns="0" rtlCol="0" anchor="t"/>
          <a:lstStyle/>
          <a:p>
            <a:pPr algn="just" indent="0" marL="0">
              <a:lnSpc>
                <a:spcPts val="2700"/>
              </a:lnSpc>
              <a:buNone/>
            </a:pPr>
            <a:r>
              <a:rPr lang="en-US" sz="1800" b="1" dirty="0">
                <a:solidFill>
                  <a:srgbClr val="E02424"/>
                </a:solidFill>
              </a:rPr>
              <a:t>प्रश्न 137. </a:t>
            </a:r>
            <a:pPr algn="just" indent="0" marL="0">
              <a:lnSpc>
                <a:spcPts val="2700"/>
              </a:lnSpc>
              <a:buNone/>
            </a:pPr>
            <a:r>
              <a:rPr lang="en-US" sz="1800" b="1" dirty="0">
                <a:solidFill>
                  <a:srgbClr val="FFFFFF"/>
                </a:solidFill>
              </a:rPr>
              <a:t>बहु-इलेक्ट्रॉन परमाणु में, निम्न में से कौन-सा कक्षक तीन क्वान्टम संख्याओं द्वारा वर्णित होता है जिनकी कि चुम्बकीय एवं विद्युत क्षेत्रों की अनुपस्थिति में भी समान ऊर्जा होगी?</a:t>
            </a:r>
            <a:endParaRPr lang="en-US" sz="1800" dirty="0"/>
          </a:p>
          <a:p>
            <a:pPr algn="just" indent="0" marL="0">
              <a:lnSpc>
                <a:spcPts val="2700"/>
              </a:lnSpc>
              <a:buNone/>
            </a:pPr>
            <a:r>
              <a:rPr lang="en-US" sz="1800" b="1" dirty="0">
                <a:solidFill>
                  <a:srgbClr val="FFFFFF"/>
                </a:solidFill>
              </a:rPr>
              <a:t>(1) n=1, l=0, m=0</a:t>
            </a:r>
            <a:endParaRPr lang="en-US" sz="1800" dirty="0"/>
          </a:p>
          <a:p>
            <a:pPr algn="just" indent="0" marL="0">
              <a:lnSpc>
                <a:spcPts val="2700"/>
              </a:lnSpc>
              <a:buNone/>
            </a:pPr>
            <a:r>
              <a:rPr lang="en-US" sz="1800" b="1" dirty="0">
                <a:solidFill>
                  <a:srgbClr val="FFFFFF"/>
                </a:solidFill>
              </a:rPr>
              <a:t>(2) n=2, l=0, m=0</a:t>
            </a:r>
            <a:endParaRPr lang="en-US" sz="1800" dirty="0"/>
          </a:p>
          <a:p>
            <a:pPr algn="just" indent="0" marL="0">
              <a:lnSpc>
                <a:spcPts val="2700"/>
              </a:lnSpc>
              <a:buNone/>
            </a:pPr>
            <a:r>
              <a:rPr lang="en-US" sz="1800" b="1" dirty="0">
                <a:solidFill>
                  <a:srgbClr val="FFFFFF"/>
                </a:solidFill>
              </a:rPr>
              <a:t>(3) n=2, l=1, m=1</a:t>
            </a:r>
            <a:endParaRPr lang="en-US" sz="1800" dirty="0"/>
          </a:p>
          <a:p>
            <a:pPr algn="just" indent="0" marL="0">
              <a:lnSpc>
                <a:spcPts val="2700"/>
              </a:lnSpc>
              <a:buNone/>
            </a:pPr>
            <a:r>
              <a:rPr lang="en-US" sz="1800" b="1" dirty="0">
                <a:solidFill>
                  <a:srgbClr val="FFFFFF"/>
                </a:solidFill>
              </a:rPr>
              <a:t>(4) n=3, l=2, m=0</a:t>
            </a:r>
            <a:endParaRPr lang="en-US" sz="1800" dirty="0"/>
          </a:p>
          <a:p>
            <a:pPr algn="just" indent="0" marL="0">
              <a:lnSpc>
                <a:spcPts val="2700"/>
              </a:lnSpc>
              <a:buNone/>
            </a:pPr>
            <a:r>
              <a:rPr lang="en-US" sz="1800" b="1" dirty="0">
                <a:solidFill>
                  <a:srgbClr val="FFFFFF"/>
                </a:solidFill>
              </a:rPr>
              <a:t>(5) n=3, l=2, m=1</a:t>
            </a:r>
            <a:endParaRPr lang="en-US" sz="1800" dirty="0"/>
          </a:p>
        </p:txBody>
      </p:sp>
      <p:sp>
        <p:nvSpPr>
          <p:cNvPr id="4" name="Text 1"/>
          <p:cNvSpPr/>
          <p:nvPr/>
        </p:nvSpPr>
        <p:spPr>
          <a:xfrm>
            <a:off x="457200" y="4754880"/>
            <a:ext cx="11274552" cy="1828800"/>
          </a:xfrm>
          <a:prstGeom prst="rect">
            <a:avLst/>
          </a:prstGeom>
          <a:noFill/>
          <a:ln/>
        </p:spPr>
        <p:txBody>
          <a:bodyPr wrap="square" lIns="0" tIns="0" rIns="0" bIns="0" rtlCol="0" anchor="t"/>
          <a:lstStyle/>
          <a:p>
            <a:pPr algn="just" indent="0" marL="0">
              <a:lnSpc>
                <a:spcPts val="2700"/>
              </a:lnSpc>
              <a:buNone/>
            </a:pPr>
            <a:r>
              <a:rPr lang="en-US" sz="1800" b="1" dirty="0">
                <a:solidFill>
                  <a:srgbClr val="E02424"/>
                </a:solidFill>
              </a:rPr>
              <a:t>A. </a:t>
            </a:r>
            <a:pPr algn="just" indent="0" marL="0">
              <a:lnSpc>
                <a:spcPts val="2700"/>
              </a:lnSpc>
              <a:buNone/>
            </a:pPr>
            <a:r>
              <a:rPr lang="en-US" sz="1800" dirty="0">
                <a:solidFill>
                  <a:srgbClr val="FFFFFF"/>
                </a:solidFill>
              </a:rPr>
              <a:t>(1) और (2)</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B. </a:t>
            </a:r>
            <a:pPr algn="just" indent="0" marL="0">
              <a:lnSpc>
                <a:spcPts val="2700"/>
              </a:lnSpc>
              <a:buNone/>
            </a:pPr>
            <a:r>
              <a:rPr lang="en-US" sz="1800" dirty="0">
                <a:solidFill>
                  <a:srgbClr val="FFFFFF"/>
                </a:solidFill>
              </a:rPr>
              <a:t>(2) और (3)</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C. </a:t>
            </a:r>
            <a:pPr algn="just" indent="0" marL="0">
              <a:lnSpc>
                <a:spcPts val="2700"/>
              </a:lnSpc>
              <a:buNone/>
            </a:pPr>
            <a:r>
              <a:rPr lang="en-US" sz="1800" dirty="0">
                <a:solidFill>
                  <a:srgbClr val="FFFFFF"/>
                </a:solidFill>
              </a:rPr>
              <a:t>(3) और (4)</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D. </a:t>
            </a:r>
            <a:pPr algn="just" indent="0" marL="0">
              <a:lnSpc>
                <a:spcPts val="2700"/>
              </a:lnSpc>
              <a:buNone/>
            </a:pPr>
            <a:r>
              <a:rPr lang="en-US" sz="1800" b="1" dirty="0">
                <a:solidFill>
                  <a:srgbClr val="16A34A"/>
                </a:solidFill>
              </a:rPr>
              <a:t>(4) और (5)</a:t>
            </a:r>
            <a:pPr algn="just" indent="0" marL="0">
              <a:lnSpc>
                <a:spcPts val="2700"/>
              </a:lnSpc>
              <a:buNone/>
            </a:pPr>
            <a:r>
              <a:rPr lang="en-US" sz="1800" b="1" dirty="0">
                <a:solidFill>
                  <a:srgbClr val="16A34A"/>
                </a:solidFill>
              </a:rPr>
              <a:t>  उत्तर</a:t>
            </a:r>
            <a:endParaRPr lang="en-US" sz="18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140. </a:t>
            </a:r>
            <a:pPr algn="just" indent="0" marL="0">
              <a:lnSpc>
                <a:spcPts val="3600"/>
              </a:lnSpc>
              <a:buNone/>
            </a:pPr>
            <a:r>
              <a:rPr lang="en-US" sz="2400" b="1" dirty="0">
                <a:solidFill>
                  <a:srgbClr val="FFFFFF"/>
                </a:solidFill>
              </a:rPr>
              <a:t>4 f कक्षक में इलेक्ट्रॉन के लिए निम्न में से क्वान्टम संख्या का कौन-सा समूह सत्य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n=4 , l=3, m=+4,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n=4, l=4, m=-4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n=4, l=3, m=+1, s=+ 1 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n=3, l=2, m=-2, s=+ 1 2</a:t>
            </a:r>
            <a:endParaRPr lang="en-US" sz="24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142. </a:t>
            </a:r>
            <a:pPr algn="just" indent="0" marL="0">
              <a:lnSpc>
                <a:spcPts val="3600"/>
              </a:lnSpc>
              <a:buNone/>
            </a:pPr>
            <a:r>
              <a:rPr lang="en-US" sz="2400" b="1" dirty="0">
                <a:solidFill>
                  <a:srgbClr val="FFFFFF"/>
                </a:solidFill>
              </a:rPr>
              <a:t>n=4 और ml =0 के साथ पहचाने जा सकने वाले कक्षकों की अधिकतम संख्या है।</a:t>
            </a:r>
            <a:endParaRPr lang="en-US" sz="2400" dirty="0"/>
          </a:p>
        </p:txBody>
      </p:sp>
      <p:sp>
        <p:nvSpPr>
          <p:cNvPr id="4" name="Text 1"/>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4</a:t>
            </a:r>
            <a:endParaRPr lang="en-US" sz="24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143. </a:t>
            </a:r>
            <a:pPr algn="just" indent="0" marL="0">
              <a:lnSpc>
                <a:spcPts val="3600"/>
              </a:lnSpc>
              <a:buNone/>
            </a:pPr>
            <a:r>
              <a:rPr lang="en-US" sz="2400" b="1" dirty="0">
                <a:solidFill>
                  <a:srgbClr val="FFFFFF"/>
                </a:solidFill>
              </a:rPr>
              <a:t>एक परमाणु में, क्वांटम संख्या n=4,| ml |=1 और ms =- 1 2 वाले इलेक्ट्रॉनों की कुल संख्या है।</a:t>
            </a:r>
            <a:endParaRPr lang="en-US" sz="2400" dirty="0"/>
          </a:p>
        </p:txBody>
      </p:sp>
      <p:sp>
        <p:nvSpPr>
          <p:cNvPr id="4" name="Text 1"/>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6</a:t>
            </a:r>
            <a:endParaRPr lang="en-US" sz="24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144. </a:t>
            </a:r>
            <a:pPr algn="just" indent="0" marL="0">
              <a:lnSpc>
                <a:spcPts val="3600"/>
              </a:lnSpc>
              <a:buNone/>
            </a:pPr>
            <a:r>
              <a:rPr lang="en-US" sz="2400" b="1" dirty="0">
                <a:solidFill>
                  <a:srgbClr val="FFFFFF"/>
                </a:solidFill>
              </a:rPr>
              <a:t>5 रेडियल नोडों वाले निम्नलिखित में से परमाणु कक्षकों की संख्या_______ है।</a:t>
            </a:r>
            <a:endParaRPr lang="en-US" sz="2400" dirty="0"/>
          </a:p>
          <a:p>
            <a:pPr algn="just" indent="0" marL="0">
              <a:lnSpc>
                <a:spcPts val="3600"/>
              </a:lnSpc>
              <a:buNone/>
            </a:pPr>
            <a:r>
              <a:rPr lang="en-US" sz="2400" b="1" dirty="0">
                <a:solidFill>
                  <a:srgbClr val="FFFFFF"/>
                </a:solidFill>
              </a:rPr>
              <a:t>7 s, 7 p, 6 s, 8 p, 8 d</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3</a:t>
            </a:r>
            <a:endParaRPr lang="en-US" sz="24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147. </a:t>
            </a:r>
            <a:pPr algn="just" indent="0" marL="0">
              <a:lnSpc>
                <a:spcPts val="3600"/>
              </a:lnSpc>
              <a:buNone/>
            </a:pPr>
            <a:r>
              <a:rPr lang="en-US" sz="2400" b="1" dirty="0">
                <a:solidFill>
                  <a:srgbClr val="FFFFFF"/>
                </a:solidFill>
              </a:rPr>
              <a:t>क्वांटम संख्याओं के निम्न सेट पर विचार करें।</a:t>
            </a:r>
            <a:endParaRPr lang="en-US" sz="2400" dirty="0"/>
          </a:p>
          <a:p>
            <a:pPr algn="just" indent="0" marL="0">
              <a:lnSpc>
                <a:spcPts val="3600"/>
              </a:lnSpc>
              <a:buNone/>
            </a:pPr>
            <a:r>
              <a:rPr lang="en-US" sz="2400" b="1" dirty="0">
                <a:solidFill>
                  <a:srgbClr val="FFFFFF"/>
                </a:solidFill>
              </a:rPr>
              <a:t>n l m₁</a:t>
            </a:r>
            <a:endParaRPr lang="en-US" sz="2400" dirty="0"/>
          </a:p>
          <a:p>
            <a:pPr algn="just" indent="0" marL="0">
              <a:lnSpc>
                <a:spcPts val="3600"/>
              </a:lnSpc>
              <a:buNone/>
            </a:pPr>
            <a:r>
              <a:rPr lang="en-US" sz="2400" b="1" dirty="0">
                <a:solidFill>
                  <a:srgbClr val="FFFFFF"/>
                </a:solidFill>
              </a:rPr>
              <a:t>क्वांटम संख्याओं के सही सेट की संख्या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3 3 -3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3 2 -2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2 1 +1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2 2 +2</a:t>
            </a:r>
            <a:endParaRPr lang="en-US" sz="24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148. </a:t>
            </a:r>
            <a:pPr algn="just" indent="0" marL="0">
              <a:lnSpc>
                <a:spcPts val="3600"/>
              </a:lnSpc>
              <a:buNone/>
            </a:pPr>
            <a:r>
              <a:rPr lang="en-US" sz="2400" b="1" dirty="0">
                <a:solidFill>
                  <a:srgbClr val="FFFFFF"/>
                </a:solidFill>
              </a:rPr>
              <a:t>n=5, m₁=+2 के साथ कक्षकों की संख्या (निकटतम पूर्णाक) है।</a:t>
            </a:r>
            <a:endParaRPr lang="en-US" sz="2400" dirty="0"/>
          </a:p>
        </p:txBody>
      </p:sp>
      <p:sp>
        <p:nvSpPr>
          <p:cNvPr id="4" name="Text 1"/>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3</a:t>
            </a:r>
            <a:endParaRPr lang="en-US" sz="24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ctr" indent="0" marL="0">
              <a:buNone/>
            </a:pPr>
            <a:r>
              <a:rPr lang="en-US" sz="4400" b="1" dirty="0">
                <a:solidFill>
                  <a:srgbClr val="E02424"/>
                </a:solidFill>
              </a:rPr>
              <a:t>परमाणुओं में कक्षाओं का भरना</a:t>
            </a:r>
            <a:endParaRPr lang="en-US" sz="44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2700"/>
              </a:lnSpc>
              <a:buNone/>
            </a:pPr>
            <a:r>
              <a:rPr lang="en-US" sz="1800" b="1" dirty="0">
                <a:solidFill>
                  <a:srgbClr val="E02424"/>
                </a:solidFill>
              </a:rPr>
              <a:t>प्रश्न 105. </a:t>
            </a:r>
            <a:pPr algn="just" indent="0" marL="0">
              <a:lnSpc>
                <a:spcPts val="2700"/>
              </a:lnSpc>
              <a:buNone/>
            </a:pPr>
            <a:r>
              <a:rPr lang="en-US" sz="1800" b="1" dirty="0">
                <a:solidFill>
                  <a:srgbClr val="FFFFFF"/>
                </a:solidFill>
              </a:rPr>
              <a:t>बहुइलेक्ट्रॉन प्रणाली के लिए क्वांटम संख्याओं के निम्नलिखित समूहों की ऊर्जाओं की तुलना करें।</a:t>
            </a:r>
            <a:endParaRPr lang="en-US" sz="1800" dirty="0"/>
          </a:p>
          <a:p>
            <a:pPr algn="just" indent="0" marL="0">
              <a:lnSpc>
                <a:spcPts val="2700"/>
              </a:lnSpc>
              <a:buNone/>
            </a:pPr>
            <a:r>
              <a:rPr lang="en-US" sz="1800" b="1" dirty="0">
                <a:solidFill>
                  <a:srgbClr val="FFFFFF"/>
                </a:solidFill>
              </a:rPr>
              <a:t>(E) n=4 l=0</a:t>
            </a:r>
            <a:endParaRPr lang="en-US" sz="1800" dirty="0"/>
          </a:p>
          <a:p>
            <a:pPr algn="just" indent="0" marL="0">
              <a:lnSpc>
                <a:spcPts val="2700"/>
              </a:lnSpc>
              <a:buNone/>
            </a:pPr>
            <a:r>
              <a:rPr lang="en-US" sz="1800" b="1" dirty="0">
                <a:solidFill>
                  <a:srgbClr val="FFFFFF"/>
                </a:solidFill>
              </a:rPr>
              <a:t>नीचे दिए गए विकल्पों में से सही उत्तर चुनेंः</a:t>
            </a:r>
            <a:endParaRPr lang="en-US" sz="1800" dirty="0"/>
          </a:p>
        </p:txBody>
      </p:sp>
      <p:sp>
        <p:nvSpPr>
          <p:cNvPr id="4" name="Text 1"/>
          <p:cNvSpPr/>
          <p:nvPr/>
        </p:nvSpPr>
        <p:spPr>
          <a:xfrm>
            <a:off x="457200" y="2926080"/>
            <a:ext cx="11274552" cy="3657600"/>
          </a:xfrm>
          <a:prstGeom prst="rect">
            <a:avLst/>
          </a:prstGeom>
          <a:noFill/>
          <a:ln/>
        </p:spPr>
        <p:txBody>
          <a:bodyPr wrap="square" lIns="0" tIns="0" rIns="0" bIns="0" rtlCol="0" anchor="t"/>
          <a:lstStyle/>
          <a:p>
            <a:pPr algn="just" indent="0" marL="0">
              <a:lnSpc>
                <a:spcPts val="2700"/>
              </a:lnSpc>
              <a:buNone/>
            </a:pPr>
            <a:r>
              <a:rPr lang="en-US" sz="1800" b="1" dirty="0">
                <a:solidFill>
                  <a:srgbClr val="E02424"/>
                </a:solidFill>
              </a:rPr>
              <a:t>A. </a:t>
            </a:r>
            <a:pPr algn="just" indent="0" marL="0">
              <a:lnSpc>
                <a:spcPts val="2700"/>
              </a:lnSpc>
              <a:buNone/>
            </a:pPr>
            <a:r>
              <a:rPr lang="en-US" sz="1800" dirty="0">
                <a:solidFill>
                  <a:srgbClr val="FFFFFF"/>
                </a:solidFill>
              </a:rPr>
              <a:t>n=4 l=1</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B. </a:t>
            </a:r>
            <a:pPr algn="just" indent="0" marL="0">
              <a:lnSpc>
                <a:spcPts val="2700"/>
              </a:lnSpc>
              <a:buNone/>
            </a:pPr>
            <a:r>
              <a:rPr lang="en-US" sz="1800" b="1" dirty="0">
                <a:solidFill>
                  <a:srgbClr val="16A34A"/>
                </a:solidFill>
              </a:rPr>
              <a:t>n=4 l=2</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C. </a:t>
            </a:r>
            <a:pPr algn="just" indent="0" marL="0">
              <a:lnSpc>
                <a:spcPts val="2700"/>
              </a:lnSpc>
              <a:buNone/>
            </a:pPr>
            <a:r>
              <a:rPr lang="en-US" sz="1800" dirty="0">
                <a:solidFill>
                  <a:srgbClr val="FFFFFF"/>
                </a:solidFill>
              </a:rPr>
              <a:t>n=3 l=1</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D. </a:t>
            </a:r>
            <a:pPr algn="just" indent="0" marL="0">
              <a:lnSpc>
                <a:spcPts val="2700"/>
              </a:lnSpc>
              <a:buNone/>
            </a:pPr>
            <a:r>
              <a:rPr lang="en-US" sz="1800" dirty="0">
                <a:solidFill>
                  <a:srgbClr val="FFFFFF"/>
                </a:solidFill>
              </a:rPr>
              <a:t>n=3 l=2</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E. </a:t>
            </a:r>
            <a:pPr algn="just" indent="0" marL="0">
              <a:lnSpc>
                <a:spcPts val="2700"/>
              </a:lnSpc>
              <a:buNone/>
            </a:pPr>
            <a:r>
              <a:rPr lang="en-US" sz="1800" dirty="0">
                <a:solidFill>
                  <a:srgbClr val="FFFFFF"/>
                </a:solidFill>
              </a:rPr>
              <a:t>(E) &gt; (C) &gt; (A) &gt; (D) &gt; (B)</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F. </a:t>
            </a:r>
            <a:pPr algn="just" indent="0" marL="0">
              <a:lnSpc>
                <a:spcPts val="2700"/>
              </a:lnSpc>
              <a:buNone/>
            </a:pPr>
            <a:r>
              <a:rPr lang="en-US" sz="1800" b="1" dirty="0">
                <a:solidFill>
                  <a:srgbClr val="16A34A"/>
                </a:solidFill>
              </a:rPr>
              <a:t>(C) &lt; (E) &lt; (D) &lt; (A) &lt; (B)</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G. </a:t>
            </a:r>
            <a:pPr algn="just" indent="0" marL="0">
              <a:lnSpc>
                <a:spcPts val="2700"/>
              </a:lnSpc>
              <a:buNone/>
            </a:pPr>
            <a:r>
              <a:rPr lang="en-US" sz="1800" dirty="0">
                <a:solidFill>
                  <a:srgbClr val="FFFFFF"/>
                </a:solidFill>
              </a:rPr>
              <a:t>(B) &gt; (A) &gt; (C) &gt; (E) &gt; (D)</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H. </a:t>
            </a:r>
            <a:pPr algn="just" indent="0" marL="0">
              <a:lnSpc>
                <a:spcPts val="2700"/>
              </a:lnSpc>
              <a:buNone/>
            </a:pPr>
            <a:r>
              <a:rPr lang="en-US" sz="1800" dirty="0">
                <a:solidFill>
                  <a:srgbClr val="FFFFFF"/>
                </a:solidFill>
              </a:rPr>
              <a:t>(E) &lt; (C) &lt; (D) &lt; (A) &lt; (B)</a:t>
            </a:r>
            <a:endParaRPr lang="en-US" sz="18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109. </a:t>
            </a:r>
            <a:pPr algn="just" indent="0" marL="0">
              <a:lnSpc>
                <a:spcPts val="3600"/>
              </a:lnSpc>
              <a:buNone/>
            </a:pPr>
            <a:r>
              <a:rPr lang="en-US" sz="2400" b="1" dirty="0">
                <a:solidFill>
                  <a:srgbClr val="FFFFFF"/>
                </a:solidFill>
              </a:rPr>
              <a:t>n=4 वाले कोश में समायोजित होने वाले इलेक्ट्रॉनों की अधिकतम संख्या कितनी होगी?</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72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16</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32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50</a:t>
            </a:r>
            <a:endParaRPr lang="en-US" sz="24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300"/>
              </a:lnSpc>
              <a:buNone/>
            </a:pPr>
            <a:r>
              <a:rPr lang="en-US" sz="2200" b="1" dirty="0">
                <a:solidFill>
                  <a:srgbClr val="E02424"/>
                </a:solidFill>
              </a:rPr>
              <a:t>प्रश्न 110. </a:t>
            </a:r>
            <a:pPr algn="just" indent="0" marL="0">
              <a:lnSpc>
                <a:spcPts val="3300"/>
              </a:lnSpc>
              <a:buNone/>
            </a:pPr>
            <a:r>
              <a:rPr lang="en-US" sz="2200" b="1" dirty="0">
                <a:solidFill>
                  <a:srgbClr val="FFFFFF"/>
                </a:solidFill>
              </a:rPr>
              <a:t>निम्न कक्षकों को ऊर्जा के घटते क्रम में व्यवस्थित कीजिए।</a:t>
            </a:r>
            <a:endParaRPr lang="en-US" sz="2200" dirty="0"/>
          </a:p>
        </p:txBody>
      </p:sp>
      <p:sp>
        <p:nvSpPr>
          <p:cNvPr id="4" name="Text 1"/>
          <p:cNvSpPr/>
          <p:nvPr/>
        </p:nvSpPr>
        <p:spPr>
          <a:xfrm>
            <a:off x="457200" y="2011680"/>
            <a:ext cx="11274552" cy="3657600"/>
          </a:xfrm>
          <a:prstGeom prst="rect">
            <a:avLst/>
          </a:prstGeom>
          <a:noFill/>
          <a:ln/>
        </p:spPr>
        <p:txBody>
          <a:bodyPr wrap="square" lIns="0" tIns="0" rIns="0" bIns="0" rtlCol="0" anchor="t"/>
          <a:lstStyle/>
          <a:p>
            <a:pPr algn="just" indent="0" marL="0">
              <a:lnSpc>
                <a:spcPts val="3300"/>
              </a:lnSpc>
              <a:buNone/>
            </a:pPr>
            <a:r>
              <a:rPr lang="en-US" sz="2200" b="1" dirty="0">
                <a:solidFill>
                  <a:srgbClr val="16A34A"/>
                </a:solidFill>
              </a:rPr>
              <a:t>A. </a:t>
            </a:r>
            <a:pPr algn="just" indent="0" marL="0">
              <a:lnSpc>
                <a:spcPts val="3300"/>
              </a:lnSpc>
              <a:buNone/>
            </a:pPr>
            <a:r>
              <a:rPr lang="en-US" sz="2200" b="1" dirty="0">
                <a:solidFill>
                  <a:srgbClr val="16A34A"/>
                </a:solidFill>
              </a:rPr>
              <a:t>n=3, l=0, m=0</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B. </a:t>
            </a:r>
            <a:pPr algn="just" indent="0" marL="0">
              <a:lnSpc>
                <a:spcPts val="3300"/>
              </a:lnSpc>
              <a:buNone/>
            </a:pPr>
            <a:r>
              <a:rPr lang="en-US" sz="2200" dirty="0">
                <a:solidFill>
                  <a:srgbClr val="FFFFFF"/>
                </a:solidFill>
              </a:rPr>
              <a:t>n=4, l=0, m=0</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C. </a:t>
            </a:r>
            <a:pPr algn="just" indent="0" marL="0">
              <a:lnSpc>
                <a:spcPts val="3300"/>
              </a:lnSpc>
              <a:buNone/>
            </a:pPr>
            <a:r>
              <a:rPr lang="en-US" sz="2200" dirty="0">
                <a:solidFill>
                  <a:srgbClr val="FFFFFF"/>
                </a:solidFill>
              </a:rPr>
              <a:t>n=3, l=1, m=0</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D. </a:t>
            </a:r>
            <a:pPr algn="just" indent="0" marL="0">
              <a:lnSpc>
                <a:spcPts val="3300"/>
              </a:lnSpc>
              <a:buNone/>
            </a:pPr>
            <a:r>
              <a:rPr lang="en-US" sz="2200" dirty="0">
                <a:solidFill>
                  <a:srgbClr val="FFFFFF"/>
                </a:solidFill>
              </a:rPr>
              <a:t>n=3, l=2, m=1</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E. </a:t>
            </a:r>
            <a:pPr algn="just" indent="0" marL="0">
              <a:lnSpc>
                <a:spcPts val="3300"/>
              </a:lnSpc>
              <a:buNone/>
            </a:pPr>
            <a:r>
              <a:rPr lang="en-US" sz="2200" b="1" dirty="0">
                <a:solidFill>
                  <a:srgbClr val="16A34A"/>
                </a:solidFill>
              </a:rPr>
              <a:t>D&gt;B&gt;C&gt;A</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F. </a:t>
            </a:r>
            <a:pPr algn="just" indent="0" marL="0">
              <a:lnSpc>
                <a:spcPts val="3300"/>
              </a:lnSpc>
              <a:buNone/>
            </a:pPr>
            <a:r>
              <a:rPr lang="en-US" sz="2200" dirty="0">
                <a:solidFill>
                  <a:srgbClr val="FFFFFF"/>
                </a:solidFill>
              </a:rPr>
              <a:t>B&gt;D&gt;C&gt;A</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G. </a:t>
            </a:r>
            <a:pPr algn="just" indent="0" marL="0">
              <a:lnSpc>
                <a:spcPts val="3300"/>
              </a:lnSpc>
              <a:buNone/>
            </a:pPr>
            <a:r>
              <a:rPr lang="en-US" sz="2200" dirty="0">
                <a:solidFill>
                  <a:srgbClr val="FFFFFF"/>
                </a:solidFill>
              </a:rPr>
              <a:t>A&gt;C&gt;B&gt;D</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H. </a:t>
            </a:r>
            <a:pPr algn="just" indent="0" marL="0">
              <a:lnSpc>
                <a:spcPts val="3300"/>
              </a:lnSpc>
              <a:buNone/>
            </a:pPr>
            <a:r>
              <a:rPr lang="en-US" sz="2200" dirty="0">
                <a:solidFill>
                  <a:srgbClr val="FFFFFF"/>
                </a:solidFill>
              </a:rPr>
              <a:t>D&gt;B&gt;A&gt;C</a:t>
            </a:r>
            <a:endParaRPr lang="en-US" sz="22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111. </a:t>
            </a:r>
            <a:pPr algn="just" indent="0" marL="0">
              <a:lnSpc>
                <a:spcPts val="3600"/>
              </a:lnSpc>
              <a:buNone/>
            </a:pPr>
            <a:r>
              <a:rPr lang="en-US" sz="2400" b="1" dirty="0">
                <a:solidFill>
                  <a:srgbClr val="FFFFFF"/>
                </a:solidFill>
              </a:rPr>
              <a:t>निम्न में से किस क्वांटम संख्या के सेट की अनुमति नहीं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n=3,l=2, m₁=0,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n=3,l=2, m₁=-2,s=+ 1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n=3,l=3, m ¹ =-3, s=- 1 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n=3,l=0, m ¹ =0, s=- 1 2</a:t>
            </a:r>
            <a:endParaRPr lang="en-US" sz="24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300"/>
              </a:lnSpc>
              <a:buNone/>
            </a:pPr>
            <a:r>
              <a:rPr lang="en-US" sz="2200" b="1" dirty="0">
                <a:solidFill>
                  <a:srgbClr val="E02424"/>
                </a:solidFill>
              </a:rPr>
              <a:t>प्रश्न 113. </a:t>
            </a:r>
            <a:pPr algn="just" indent="0" marL="0">
              <a:lnSpc>
                <a:spcPts val="3300"/>
              </a:lnSpc>
              <a:buNone/>
            </a:pPr>
            <a:r>
              <a:rPr lang="en-US" sz="2200" b="1" dirty="0">
                <a:solidFill>
                  <a:srgbClr val="FFFFFF"/>
                </a:solidFill>
              </a:rPr>
              <a:t>क्वांटम संख्याओं के निम्न सेट वाले ऑर्बिटल्स के लिए ऊर्जा का सही घटता हुआ क्रम है:</a:t>
            </a:r>
            <a:endParaRPr lang="en-US" sz="2200" dirty="0"/>
          </a:p>
        </p:txBody>
      </p:sp>
      <p:sp>
        <p:nvSpPr>
          <p:cNvPr id="4" name="Text 1"/>
          <p:cNvSpPr/>
          <p:nvPr/>
        </p:nvSpPr>
        <p:spPr>
          <a:xfrm>
            <a:off x="457200" y="2011680"/>
            <a:ext cx="11274552" cy="3657600"/>
          </a:xfrm>
          <a:prstGeom prst="rect">
            <a:avLst/>
          </a:prstGeom>
          <a:noFill/>
          <a:ln/>
        </p:spPr>
        <p:txBody>
          <a:bodyPr wrap="square" lIns="0" tIns="0" rIns="0" bIns="0" rtlCol="0" anchor="t"/>
          <a:lstStyle/>
          <a:p>
            <a:pPr algn="just" indent="0" marL="0">
              <a:lnSpc>
                <a:spcPts val="3300"/>
              </a:lnSpc>
              <a:buNone/>
            </a:pPr>
            <a:r>
              <a:rPr lang="en-US" sz="2200" b="1" dirty="0">
                <a:solidFill>
                  <a:srgbClr val="16A34A"/>
                </a:solidFill>
              </a:rPr>
              <a:t>A. </a:t>
            </a:r>
            <a:pPr algn="just" indent="0" marL="0">
              <a:lnSpc>
                <a:spcPts val="3300"/>
              </a:lnSpc>
              <a:buNone/>
            </a:pPr>
            <a:r>
              <a:rPr lang="en-US" sz="2200" b="1" dirty="0">
                <a:solidFill>
                  <a:srgbClr val="16A34A"/>
                </a:solidFill>
              </a:rPr>
              <a:t>n=3, l=10, m=0</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B. </a:t>
            </a:r>
            <a:pPr algn="just" indent="0" marL="0">
              <a:lnSpc>
                <a:spcPts val="3300"/>
              </a:lnSpc>
              <a:buNone/>
            </a:pPr>
            <a:r>
              <a:rPr lang="en-US" sz="2200" dirty="0">
                <a:solidFill>
                  <a:srgbClr val="FFFFFF"/>
                </a:solidFill>
              </a:rPr>
              <a:t>n=4, l=0, m=0</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C. </a:t>
            </a:r>
            <a:pPr algn="just" indent="0" marL="0">
              <a:lnSpc>
                <a:spcPts val="3300"/>
              </a:lnSpc>
              <a:buNone/>
            </a:pPr>
            <a:r>
              <a:rPr lang="en-US" sz="2200" dirty="0">
                <a:solidFill>
                  <a:srgbClr val="FFFFFF"/>
                </a:solidFill>
              </a:rPr>
              <a:t>n=3, l=1, m=0</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D. </a:t>
            </a:r>
            <a:pPr algn="just" indent="0" marL="0">
              <a:lnSpc>
                <a:spcPts val="3300"/>
              </a:lnSpc>
              <a:buNone/>
            </a:pPr>
            <a:r>
              <a:rPr lang="en-US" sz="2200" dirty="0">
                <a:solidFill>
                  <a:srgbClr val="FFFFFF"/>
                </a:solidFill>
              </a:rPr>
              <a:t>n=3, l=2, m=1</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E. </a:t>
            </a:r>
            <a:pPr algn="just" indent="0" marL="0">
              <a:lnSpc>
                <a:spcPts val="3300"/>
              </a:lnSpc>
              <a:buNone/>
            </a:pPr>
            <a:r>
              <a:rPr lang="en-US" sz="2200" b="1" dirty="0">
                <a:solidFill>
                  <a:srgbClr val="16A34A"/>
                </a:solidFill>
              </a:rPr>
              <a:t>(D) &gt; (B) &gt; (C) &gt; (A)</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F. </a:t>
            </a:r>
            <a:pPr algn="just" indent="0" marL="0">
              <a:lnSpc>
                <a:spcPts val="3300"/>
              </a:lnSpc>
              <a:buNone/>
            </a:pPr>
            <a:r>
              <a:rPr lang="en-US" sz="2200" dirty="0">
                <a:solidFill>
                  <a:srgbClr val="FFFFFF"/>
                </a:solidFill>
              </a:rPr>
              <a:t>(B) &gt; (D) &gt; (C) &gt; (A)</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G. </a:t>
            </a:r>
            <a:pPr algn="just" indent="0" marL="0">
              <a:lnSpc>
                <a:spcPts val="3300"/>
              </a:lnSpc>
              <a:buNone/>
            </a:pPr>
            <a:r>
              <a:rPr lang="en-US" sz="2200" dirty="0">
                <a:solidFill>
                  <a:srgbClr val="FFFFFF"/>
                </a:solidFill>
              </a:rPr>
              <a:t>(C) &gt; (B) &gt; (D) &gt; (A)</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H. </a:t>
            </a:r>
            <a:pPr algn="just" indent="0" marL="0">
              <a:lnSpc>
                <a:spcPts val="3300"/>
              </a:lnSpc>
              <a:buNone/>
            </a:pPr>
            <a:r>
              <a:rPr lang="en-US" sz="2200" dirty="0">
                <a:solidFill>
                  <a:srgbClr val="FFFFFF"/>
                </a:solidFill>
              </a:rPr>
              <a:t>(B) &gt; (C) &gt; (D) &gt; (A)</a:t>
            </a:r>
            <a:endParaRPr lang="en-US" sz="22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300"/>
              </a:lnSpc>
              <a:buNone/>
            </a:pPr>
            <a:r>
              <a:rPr lang="en-US" sz="2200" b="1" dirty="0">
                <a:solidFill>
                  <a:srgbClr val="E02424"/>
                </a:solidFill>
              </a:rPr>
              <a:t>प्रश्न 115. </a:t>
            </a:r>
            <a:pPr algn="just" indent="0" marL="0">
              <a:lnSpc>
                <a:spcPts val="3300"/>
              </a:lnSpc>
              <a:buNone/>
            </a:pPr>
            <a:r>
              <a:rPr lang="en-US" sz="2200" b="1" dirty="0">
                <a:solidFill>
                  <a:srgbClr val="FFFFFF"/>
                </a:solidFill>
              </a:rPr>
              <a:t>नीचे 4 इलेक्ट्रॉनों के लिए क्वांटम संख्याएँ दी गई हैं:</a:t>
            </a:r>
            <a:endParaRPr lang="en-US" sz="2200" dirty="0"/>
          </a:p>
          <a:p>
            <a:pPr algn="just" indent="0" marL="0">
              <a:lnSpc>
                <a:spcPts val="3300"/>
              </a:lnSpc>
              <a:buNone/>
            </a:pPr>
            <a:r>
              <a:rPr lang="en-US" sz="2200" b="1" dirty="0">
                <a:solidFill>
                  <a:srgbClr val="FFFFFF"/>
                </a:solidFill>
              </a:rPr>
              <a:t>बढ़ते हुए ऊर्जा का सही क्रम है-</a:t>
            </a:r>
            <a:endParaRPr lang="en-US" sz="2200" dirty="0"/>
          </a:p>
        </p:txBody>
      </p:sp>
      <p:sp>
        <p:nvSpPr>
          <p:cNvPr id="4" name="Text 1"/>
          <p:cNvSpPr/>
          <p:nvPr/>
        </p:nvSpPr>
        <p:spPr>
          <a:xfrm>
            <a:off x="457200" y="2011680"/>
            <a:ext cx="11274552" cy="3657600"/>
          </a:xfrm>
          <a:prstGeom prst="rect">
            <a:avLst/>
          </a:prstGeom>
          <a:noFill/>
          <a:ln/>
        </p:spPr>
        <p:txBody>
          <a:bodyPr wrap="square" lIns="0" tIns="0" rIns="0" bIns="0" rtlCol="0" anchor="t"/>
          <a:lstStyle/>
          <a:p>
            <a:pPr algn="just" indent="0" marL="0">
              <a:lnSpc>
                <a:spcPts val="3300"/>
              </a:lnSpc>
              <a:buNone/>
            </a:pPr>
            <a:r>
              <a:rPr lang="en-US" sz="2200" b="1" dirty="0">
                <a:solidFill>
                  <a:srgbClr val="E02424"/>
                </a:solidFill>
              </a:rPr>
              <a:t>A. </a:t>
            </a:r>
            <a:pPr algn="just" indent="0" marL="0">
              <a:lnSpc>
                <a:spcPts val="3300"/>
              </a:lnSpc>
              <a:buNone/>
            </a:pPr>
            <a:r>
              <a:rPr lang="en-US" sz="2200" dirty="0">
                <a:solidFill>
                  <a:srgbClr val="FFFFFF"/>
                </a:solidFill>
              </a:rPr>
              <a:t>n=3, l=2, ml = 1, ms =+1/2</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B. </a:t>
            </a:r>
            <a:pPr algn="just" indent="0" marL="0">
              <a:lnSpc>
                <a:spcPts val="3300"/>
              </a:lnSpc>
              <a:buNone/>
            </a:pPr>
            <a:r>
              <a:rPr lang="en-US" sz="2200" b="1" dirty="0">
                <a:solidFill>
                  <a:srgbClr val="16A34A"/>
                </a:solidFill>
              </a:rPr>
              <a:t>n=4, l=1, ml = 0, ms =+1/2</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C. </a:t>
            </a:r>
            <a:pPr algn="just" indent="0" marL="0">
              <a:lnSpc>
                <a:spcPts val="3300"/>
              </a:lnSpc>
              <a:buNone/>
            </a:pPr>
            <a:r>
              <a:rPr lang="en-US" sz="2200" dirty="0">
                <a:solidFill>
                  <a:srgbClr val="FFFFFF"/>
                </a:solidFill>
              </a:rPr>
              <a:t>n=4, l=2, ml = - 2, ms =-1/2</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D. </a:t>
            </a:r>
            <a:pPr algn="just" indent="0" marL="0">
              <a:lnSpc>
                <a:spcPts val="3300"/>
              </a:lnSpc>
              <a:buNone/>
            </a:pPr>
            <a:r>
              <a:rPr lang="en-US" sz="2200" dirty="0">
                <a:solidFill>
                  <a:srgbClr val="FFFFFF"/>
                </a:solidFill>
              </a:rPr>
              <a:t>n=3, l=1, ml =-1, ms =+1/2</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E. </a:t>
            </a:r>
            <a:pPr algn="just" indent="0" marL="0">
              <a:lnSpc>
                <a:spcPts val="3300"/>
              </a:lnSpc>
              <a:buNone/>
            </a:pPr>
            <a:r>
              <a:rPr lang="en-US" sz="2200" dirty="0">
                <a:solidFill>
                  <a:srgbClr val="FFFFFF"/>
                </a:solidFill>
              </a:rPr>
              <a:t>D&lt;B&lt;A&lt;C</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F. </a:t>
            </a:r>
            <a:pPr algn="just" indent="0" marL="0">
              <a:lnSpc>
                <a:spcPts val="3300"/>
              </a:lnSpc>
              <a:buNone/>
            </a:pPr>
            <a:r>
              <a:rPr lang="en-US" sz="2200" b="1" dirty="0">
                <a:solidFill>
                  <a:srgbClr val="16A34A"/>
                </a:solidFill>
              </a:rPr>
              <a:t>D&lt;A&lt;B&lt;C</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G. </a:t>
            </a:r>
            <a:pPr algn="just" indent="0" marL="0">
              <a:lnSpc>
                <a:spcPts val="3300"/>
              </a:lnSpc>
              <a:buNone/>
            </a:pPr>
            <a:r>
              <a:rPr lang="en-US" sz="2200" dirty="0">
                <a:solidFill>
                  <a:srgbClr val="FFFFFF"/>
                </a:solidFill>
              </a:rPr>
              <a:t>B&lt;D&lt;A&lt;C</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E02424"/>
                </a:solidFill>
              </a:rPr>
              <a:t>H. </a:t>
            </a:r>
            <a:pPr algn="just" indent="0" marL="0">
              <a:lnSpc>
                <a:spcPts val="3300"/>
              </a:lnSpc>
              <a:buNone/>
            </a:pPr>
            <a:r>
              <a:rPr lang="en-US" sz="2200" dirty="0">
                <a:solidFill>
                  <a:srgbClr val="FFFFFF"/>
                </a:solidFill>
              </a:rPr>
              <a:t>B&lt;D&lt;C&lt;A</a:t>
            </a:r>
            <a:endParaRPr lang="en-US" sz="22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2700"/>
              </a:lnSpc>
              <a:buNone/>
            </a:pPr>
            <a:r>
              <a:rPr lang="en-US" sz="1800" b="1" dirty="0">
                <a:solidFill>
                  <a:srgbClr val="E02424"/>
                </a:solidFill>
              </a:rPr>
              <a:t>प्रश्न 116. </a:t>
            </a:r>
            <a:pPr algn="just" indent="0" marL="0">
              <a:lnSpc>
                <a:spcPts val="2700"/>
              </a:lnSpc>
              <a:buNone/>
            </a:pPr>
            <a:r>
              <a:rPr lang="en-US" sz="1800" b="1" dirty="0">
                <a:solidFill>
                  <a:srgbClr val="FFFFFF"/>
                </a:solidFill>
              </a:rPr>
              <a:t>इलेक्ट्रॉनों के निम्न जोड़े पर विचार करें।</a:t>
            </a:r>
            <a:endParaRPr lang="en-US" sz="1800" dirty="0"/>
          </a:p>
          <a:p>
            <a:pPr algn="just" indent="0" marL="0">
              <a:lnSpc>
                <a:spcPts val="2700"/>
              </a:lnSpc>
              <a:buNone/>
            </a:pPr>
            <a:r>
              <a:rPr lang="en-US" sz="1800" b="1" dirty="0">
                <a:solidFill>
                  <a:srgbClr val="FFFFFF"/>
                </a:solidFill>
              </a:rPr>
              <a:t>(ii) n=3, l=2, m₁ =1, ms =+ 1 2</a:t>
            </a:r>
            <a:endParaRPr lang="en-US" sz="1800" dirty="0"/>
          </a:p>
          <a:p>
            <a:pPr algn="just" indent="0" marL="0">
              <a:lnSpc>
                <a:spcPts val="2700"/>
              </a:lnSpc>
              <a:buNone/>
            </a:pPr>
            <a:r>
              <a:rPr lang="en-US" sz="1800" b="1" dirty="0">
                <a:solidFill>
                  <a:srgbClr val="FFFFFF"/>
                </a:solidFill>
              </a:rPr>
              <a:t>(ii) n=3, l=2, m₁ =1, ms =- 1 2</a:t>
            </a:r>
            <a:endParaRPr lang="en-US" sz="1800" dirty="0"/>
          </a:p>
          <a:p>
            <a:pPr algn="just" indent="0" marL="0">
              <a:lnSpc>
                <a:spcPts val="2700"/>
              </a:lnSpc>
              <a:buNone/>
            </a:pPr>
            <a:r>
              <a:rPr lang="en-US" sz="1800" b="1" dirty="0">
                <a:solidFill>
                  <a:srgbClr val="FFFFFF"/>
                </a:solidFill>
              </a:rPr>
              <a:t>(ii) n=3, l=2, m₁ =2, ms =+ 1 2</a:t>
            </a:r>
            <a:endParaRPr lang="en-US" sz="1800" dirty="0"/>
          </a:p>
          <a:p>
            <a:pPr algn="just" indent="0" marL="0">
              <a:lnSpc>
                <a:spcPts val="2700"/>
              </a:lnSpc>
              <a:buNone/>
            </a:pPr>
            <a:r>
              <a:rPr lang="en-US" sz="1800" b="1" dirty="0">
                <a:solidFill>
                  <a:srgbClr val="FFFFFF"/>
                </a:solidFill>
              </a:rPr>
              <a:t>समभ्रंश कक्षकों में उपस्थित इलेक्ट्रॉनों का युग्म है-</a:t>
            </a:r>
            <a:endParaRPr lang="en-US" sz="1800" dirty="0"/>
          </a:p>
        </p:txBody>
      </p:sp>
      <p:sp>
        <p:nvSpPr>
          <p:cNvPr id="4" name="Text 1"/>
          <p:cNvSpPr/>
          <p:nvPr/>
        </p:nvSpPr>
        <p:spPr>
          <a:xfrm>
            <a:off x="457200" y="3383280"/>
            <a:ext cx="11274552" cy="3200400"/>
          </a:xfrm>
          <a:prstGeom prst="rect">
            <a:avLst/>
          </a:prstGeom>
          <a:noFill/>
          <a:ln/>
        </p:spPr>
        <p:txBody>
          <a:bodyPr wrap="square" lIns="0" tIns="0" rIns="0" bIns="0" rtlCol="0" anchor="t"/>
          <a:lstStyle/>
          <a:p>
            <a:pPr algn="just" indent="0" marL="0">
              <a:lnSpc>
                <a:spcPts val="2700"/>
              </a:lnSpc>
              <a:buNone/>
            </a:pPr>
            <a:r>
              <a:rPr lang="en-US" sz="1800" b="1" dirty="0">
                <a:solidFill>
                  <a:srgbClr val="E02424"/>
                </a:solidFill>
              </a:rPr>
              <a:t>A. </a:t>
            </a:r>
            <a:pPr algn="just" indent="0" marL="0">
              <a:lnSpc>
                <a:spcPts val="2700"/>
              </a:lnSpc>
              <a:buNone/>
            </a:pPr>
            <a:r>
              <a:rPr lang="en-US" sz="1800" dirty="0">
                <a:solidFill>
                  <a:srgbClr val="FFFFFF"/>
                </a:solidFill>
              </a:rPr>
              <a:t>(i) n=3, l=1, m₁ =1, ms =+ 1 2</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B. </a:t>
            </a:r>
            <a:pPr algn="just" indent="0" marL="0">
              <a:lnSpc>
                <a:spcPts val="2700"/>
              </a:lnSpc>
              <a:buNone/>
            </a:pPr>
            <a:r>
              <a:rPr lang="en-US" sz="1800" b="1" dirty="0">
                <a:solidFill>
                  <a:srgbClr val="16A34A"/>
                </a:solidFill>
              </a:rPr>
              <a:t>(i) n=3, l=2, m₁ =2, ms =- 1 2</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C. </a:t>
            </a:r>
            <a:pPr algn="just" indent="0" marL="0">
              <a:lnSpc>
                <a:spcPts val="2700"/>
              </a:lnSpc>
              <a:buNone/>
            </a:pPr>
            <a:r>
              <a:rPr lang="en-US" sz="1800" dirty="0">
                <a:solidFill>
                  <a:srgbClr val="FFFFFF"/>
                </a:solidFill>
              </a:rPr>
              <a:t>(i) n=4, l=2, m₁ =2, ms =+ 1 2</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D. </a:t>
            </a:r>
            <a:pPr algn="just" indent="0" marL="0">
              <a:lnSpc>
                <a:spcPts val="2700"/>
              </a:lnSpc>
              <a:buNone/>
            </a:pPr>
            <a:r>
              <a:rPr lang="en-US" sz="1800" dirty="0">
                <a:solidFill>
                  <a:srgbClr val="FFFFFF"/>
                </a:solidFill>
              </a:rPr>
              <a:t>केवल (A)</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E. </a:t>
            </a:r>
            <a:pPr algn="just" indent="0" marL="0">
              <a:lnSpc>
                <a:spcPts val="2700"/>
              </a:lnSpc>
              <a:buNone/>
            </a:pPr>
            <a:r>
              <a:rPr lang="en-US" sz="1800" b="1" dirty="0">
                <a:solidFill>
                  <a:srgbClr val="16A34A"/>
                </a:solidFill>
              </a:rPr>
              <a:t>केवल (B)</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F. </a:t>
            </a:r>
            <a:pPr algn="just" indent="0" marL="0">
              <a:lnSpc>
                <a:spcPts val="2700"/>
              </a:lnSpc>
              <a:buNone/>
            </a:pPr>
            <a:r>
              <a:rPr lang="en-US" sz="1800" dirty="0">
                <a:solidFill>
                  <a:srgbClr val="FFFFFF"/>
                </a:solidFill>
              </a:rPr>
              <a:t>केवल (C)</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E02424"/>
                </a:solidFill>
              </a:rPr>
              <a:t>G. </a:t>
            </a:r>
            <a:pPr algn="just" indent="0" marL="0">
              <a:lnSpc>
                <a:spcPts val="2700"/>
              </a:lnSpc>
              <a:buNone/>
            </a:pPr>
            <a:r>
              <a:rPr lang="en-US" sz="1800" dirty="0">
                <a:solidFill>
                  <a:srgbClr val="FFFFFF"/>
                </a:solidFill>
              </a:rPr>
              <a:t>(B) तथा (C)</a:t>
            </a:r>
            <a:endParaRPr lang="en-US" sz="18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प्रश्न 119. </a:t>
            </a:r>
            <a:pPr algn="just" indent="0" marL="0">
              <a:lnSpc>
                <a:spcPts val="3000"/>
              </a:lnSpc>
              <a:buNone/>
            </a:pPr>
            <a:r>
              <a:rPr lang="en-US" sz="2000" b="1" dirty="0">
                <a:solidFill>
                  <a:srgbClr val="FFFFFF"/>
                </a:solidFill>
              </a:rPr>
              <a:t>निम्न में से कौन-से कथन सही हैं?</a:t>
            </a:r>
            <a:endParaRPr lang="en-US" sz="2000" dirty="0"/>
          </a:p>
        </p:txBody>
      </p:sp>
      <p:sp>
        <p:nvSpPr>
          <p:cNvPr id="4" name="Text 1"/>
          <p:cNvSpPr/>
          <p:nvPr/>
        </p:nvSpPr>
        <p:spPr>
          <a:xfrm>
            <a:off x="457200" y="1554480"/>
            <a:ext cx="11274552" cy="4572000"/>
          </a:xfrm>
          <a:prstGeom prst="rect">
            <a:avLst/>
          </a:prstGeom>
          <a:noFill/>
          <a:ln/>
        </p:spPr>
        <p:txBody>
          <a:bodyPr wrap="square" lIns="0" tIns="0" rIns="0" bIns="0" rtlCol="0" anchor="t"/>
          <a:lstStyle/>
          <a:p>
            <a:pPr algn="just" indent="0" marL="0">
              <a:lnSpc>
                <a:spcPts val="3000"/>
              </a:lnSpc>
              <a:buNone/>
            </a:pPr>
            <a:r>
              <a:rPr lang="en-US" sz="2000" b="1" dirty="0">
                <a:solidFill>
                  <a:srgbClr val="E02424"/>
                </a:solidFill>
              </a:rPr>
              <a:t>A. </a:t>
            </a:r>
            <a:pPr algn="just" indent="0" marL="0">
              <a:lnSpc>
                <a:spcPts val="3000"/>
              </a:lnSpc>
              <a:buNone/>
            </a:pPr>
            <a:r>
              <a:rPr lang="en-US" sz="2000" dirty="0">
                <a:solidFill>
                  <a:srgbClr val="FFFFFF"/>
                </a:solidFill>
              </a:rPr>
              <a:t>Cr का इलेक्ट्रॉनिक विन्यास [Ar] 3 d ⁵ 4 s ¹ होता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B. </a:t>
            </a:r>
            <a:pPr algn="just" indent="0" marL="0">
              <a:lnSpc>
                <a:spcPts val="3000"/>
              </a:lnSpc>
              <a:buNone/>
            </a:pPr>
            <a:r>
              <a:rPr lang="en-US" sz="2000" dirty="0">
                <a:solidFill>
                  <a:srgbClr val="FFFFFF"/>
                </a:solidFill>
              </a:rPr>
              <a:t>चुम्बकीय क्वांटम संख्या का ऋणात्मक मान हो सकता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C. </a:t>
            </a:r>
            <a:pPr algn="just" indent="0" marL="0">
              <a:lnSpc>
                <a:spcPts val="3000"/>
              </a:lnSpc>
              <a:buNone/>
            </a:pPr>
            <a:r>
              <a:rPr lang="en-US" sz="2000" dirty="0">
                <a:solidFill>
                  <a:srgbClr val="FFFFFF"/>
                </a:solidFill>
              </a:rPr>
              <a:t>एक परमाणु की तलस्थ अवस्था में, उनकी बढ़ती ऊजाओं के क्रम में कक्षाएँ भरी जाती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नोड की कुल संख्या n-2 द्वारा दी गई है। नीचे दिए गए विकल्पों में से सबसे उचित उत्तर चुनिएः</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E. </a:t>
            </a:r>
            <a:pPr algn="just" indent="0" marL="0">
              <a:lnSpc>
                <a:spcPts val="3000"/>
              </a:lnSpc>
              <a:buNone/>
            </a:pPr>
            <a:r>
              <a:rPr lang="en-US" sz="2000" dirty="0">
                <a:solidFill>
                  <a:srgbClr val="FFFFFF"/>
                </a:solidFill>
              </a:rPr>
              <a:t>केवल (A), (C) एवं (D)</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F. </a:t>
            </a:r>
            <a:pPr algn="just" indent="0" marL="0">
              <a:lnSpc>
                <a:spcPts val="3000"/>
              </a:lnSpc>
              <a:buNone/>
            </a:pPr>
            <a:r>
              <a:rPr lang="en-US" sz="2000" dirty="0">
                <a:solidFill>
                  <a:srgbClr val="FFFFFF"/>
                </a:solidFill>
              </a:rPr>
              <a:t>केवल (A) एवं (B)</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E02424"/>
                </a:solidFill>
              </a:rPr>
              <a:t>G. </a:t>
            </a:r>
            <a:pPr algn="just" indent="0" marL="0">
              <a:lnSpc>
                <a:spcPts val="3000"/>
              </a:lnSpc>
              <a:buNone/>
            </a:pPr>
            <a:r>
              <a:rPr lang="en-US" sz="2000" dirty="0">
                <a:solidFill>
                  <a:srgbClr val="FFFFFF"/>
                </a:solidFill>
              </a:rPr>
              <a:t>केवल (A) एवं (C)</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H. </a:t>
            </a:r>
            <a:pPr algn="just" indent="0" marL="0">
              <a:lnSpc>
                <a:spcPts val="3000"/>
              </a:lnSpc>
              <a:buNone/>
            </a:pPr>
            <a:r>
              <a:rPr lang="en-US" sz="2000" b="1" dirty="0">
                <a:solidFill>
                  <a:srgbClr val="16A34A"/>
                </a:solidFill>
              </a:rPr>
              <a:t>केवल (A), (B) एवं (C)</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133. </a:t>
            </a:r>
            <a:pPr algn="just" indent="0" marL="0">
              <a:lnSpc>
                <a:spcPts val="3600"/>
              </a:lnSpc>
              <a:buNone/>
            </a:pPr>
            <a:r>
              <a:rPr lang="en-US" sz="2400" b="1" dirty="0">
                <a:solidFill>
                  <a:srgbClr val="FFFFFF"/>
                </a:solidFill>
              </a:rPr>
              <a:t>यदि मुख्य क्वांटम संख्या n = 6 है, तो इलेक्ट्रॉनों के भरने का सही क्रम होगा-</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ns→np→(n-1)d→(n-2)f</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ns→(n-2)f→(n-1)d→np</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ns→(n-1)d→(n-2)f→np</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ns→(n-2)f→np→(n-1)d</a:t>
            </a:r>
            <a:endParaRPr lang="en-US" sz="24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ctr" indent="0" marL="0">
              <a:buNone/>
            </a:pPr>
            <a:r>
              <a:rPr lang="en-US" sz="4400" b="1" dirty="0">
                <a:solidFill>
                  <a:srgbClr val="E02424"/>
                </a:solidFill>
              </a:rPr>
              <a:t>परमाणुओं का इलेक्ट्रॉनिक विन्यास</a:t>
            </a:r>
            <a:endParaRPr lang="en-US" sz="44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108. </a:t>
            </a:r>
            <a:pPr algn="just" indent="0" marL="0">
              <a:lnSpc>
                <a:spcPts val="3600"/>
              </a:lnSpc>
              <a:buNone/>
            </a:pPr>
            <a:r>
              <a:rPr lang="en-US" sz="2400" b="1" dirty="0">
                <a:solidFill>
                  <a:srgbClr val="FFFFFF"/>
                </a:solidFill>
              </a:rPr>
              <a:t>पोटैशियम (परमाणु क्रमांक 19) की सबसे बाहरी कक्षा में इलेक्ट्रॉन के लिए चार क्वांटम संख्याएँ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n=4, l=2, m=-1,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n=3, l=0, m=1,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n=2, l=0, m=0,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n=4, l=0, m=0, s=+ 1 2</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139. </a:t>
            </a:r>
            <a:pPr algn="just" indent="0" marL="0">
              <a:lnSpc>
                <a:spcPts val="3600"/>
              </a:lnSpc>
              <a:buNone/>
            </a:pPr>
            <a:r>
              <a:rPr lang="en-US" sz="2400" b="1" dirty="0">
                <a:solidFill>
                  <a:srgbClr val="FFFFFF"/>
                </a:solidFill>
              </a:rPr>
              <a:t>क्रोमियम परमाणु ( Z=24) की तलस्थ अवस्था पर विचार कीजिए। दिगंशी क्वान्टम संख्या l=1 और 2 के लिए इलेक्ट्रॉनो की संख्याएँ क्रमशः है-</a:t>
            </a:r>
            <a:endParaRPr lang="en-US" sz="2400" dirty="0"/>
          </a:p>
        </p:txBody>
      </p:sp>
      <p:sp>
        <p:nvSpPr>
          <p:cNvPr id="4" name="Text 1"/>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12 तथा 4</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12 तथा 5</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16 तथा 4</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16 तथा 5</a:t>
            </a:r>
            <a:endParaRPr lang="en-US" sz="24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150. </a:t>
            </a:r>
            <a:pPr algn="just" indent="0" marL="0">
              <a:lnSpc>
                <a:spcPts val="3600"/>
              </a:lnSpc>
              <a:buNone/>
            </a:pPr>
            <a:r>
              <a:rPr lang="en-US" sz="2400" b="1" dirty="0">
                <a:solidFill>
                  <a:srgbClr val="FFFFFF"/>
                </a:solidFill>
              </a:rPr>
              <a:t>समइलेक्ट्रॉनिक स्पीशीज़ के मामले में F ⁻ ,Ne और N a ⁺ का आकार इससे प्रभावित होता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मुख्य क्वांटम संख्या ( n)</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B. </a:t>
            </a:r>
            <a:pPr algn="just" indent="0" marL="0">
              <a:lnSpc>
                <a:spcPts val="3600"/>
              </a:lnSpc>
              <a:buNone/>
            </a:pPr>
            <a:r>
              <a:rPr lang="en-US" sz="2400" dirty="0">
                <a:solidFill>
                  <a:srgbClr val="FFFFFF"/>
                </a:solidFill>
              </a:rPr>
              <a:t>बाहरी कक्षाओं में इलेक्ट्रॉन इलेक्ट्रॉन अंतः क्रिया</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नाभिकीय आवेश ( z)</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कोई भी कारक नहीं क्योंकि उनका आकार समान है।</a:t>
            </a:r>
            <a:endParaRPr lang="en-US" sz="24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151. </a:t>
            </a:r>
            <a:pPr algn="just" indent="0" marL="0">
              <a:lnSpc>
                <a:spcPts val="3600"/>
              </a:lnSpc>
              <a:buNone/>
            </a:pPr>
            <a:r>
              <a:rPr lang="en-US" sz="2400" b="1" dirty="0">
                <a:solidFill>
                  <a:srgbClr val="FFFFFF"/>
                </a:solidFill>
              </a:rPr>
              <a:t>रुबीडियम परमाणु ( Z=37) के लिए संयोजी इलेक्ट्रॉनों के उचित चार क्वान्टम संख्याओं का समूह होता है-</a:t>
            </a:r>
            <a:endParaRPr lang="en-US" sz="2400" dirty="0"/>
          </a:p>
        </p:txBody>
      </p:sp>
      <p:sp>
        <p:nvSpPr>
          <p:cNvPr id="4" name="Text 1"/>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A. </a:t>
            </a:r>
            <a:pPr algn="just" indent="0" marL="0">
              <a:lnSpc>
                <a:spcPts val="3600"/>
              </a:lnSpc>
              <a:buNone/>
            </a:pPr>
            <a:r>
              <a:rPr lang="en-US" sz="2400" dirty="0">
                <a:solidFill>
                  <a:srgbClr val="FFFFFF"/>
                </a:solidFill>
              </a:rPr>
              <a:t>5, 0, 1,+ 1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5, 0, 0,+ 1 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C. </a:t>
            </a:r>
            <a:pPr algn="just" indent="0" marL="0">
              <a:lnSpc>
                <a:spcPts val="3600"/>
              </a:lnSpc>
              <a:buNone/>
            </a:pPr>
            <a:r>
              <a:rPr lang="en-US" sz="2400" dirty="0">
                <a:solidFill>
                  <a:srgbClr val="FFFFFF"/>
                </a:solidFill>
              </a:rPr>
              <a:t>5, 1, 0,+ 1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E02424"/>
                </a:solidFill>
              </a:rPr>
              <a:t>D. </a:t>
            </a:r>
            <a:pPr algn="just" indent="0" marL="0">
              <a:lnSpc>
                <a:spcPts val="3600"/>
              </a:lnSpc>
              <a:buNone/>
            </a:pPr>
            <a:r>
              <a:rPr lang="en-US" sz="2400" dirty="0">
                <a:solidFill>
                  <a:srgbClr val="FFFFFF"/>
                </a:solidFill>
              </a:rPr>
              <a:t>5, 1, 1,+ 1 2</a:t>
            </a:r>
            <a:endParaRPr lang="en-US" sz="24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152. </a:t>
            </a:r>
            <a:pPr algn="just" indent="0" marL="0">
              <a:lnSpc>
                <a:spcPts val="3600"/>
              </a:lnSpc>
              <a:buNone/>
            </a:pPr>
            <a:r>
              <a:rPr lang="en-US" sz="2400" b="1" dirty="0">
                <a:solidFill>
                  <a:srgbClr val="FFFFFF"/>
                </a:solidFill>
              </a:rPr>
              <a:t>n=4 एंव s=+ 1 2 वाले सभी पूर्णतः भरे हुए उपकोशों में उपस्थित इलेक्ट्रॉनों की संख्या ________है।</a:t>
            </a:r>
            <a:endParaRPr lang="en-US" sz="2400" dirty="0"/>
          </a:p>
          <a:p>
            <a:pPr algn="just" indent="0" marL="0">
              <a:lnSpc>
                <a:spcPts val="3600"/>
              </a:lnSpc>
              <a:buNone/>
            </a:pPr>
            <a:r>
              <a:rPr lang="en-US" sz="2400" b="1" dirty="0">
                <a:solidFill>
                  <a:srgbClr val="FFFFFF"/>
                </a:solidFill>
              </a:rPr>
              <a:t>(जहाँ n= मुख्य क्वांटम संख्या और s= प्रचक्रण क्वांटम संख्या)</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16</a:t>
            </a:r>
            <a:endParaRPr lang="en-US" sz="24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153. </a:t>
            </a:r>
            <a:pPr algn="just" indent="0" marL="0">
              <a:lnSpc>
                <a:spcPts val="3600"/>
              </a:lnSpc>
              <a:buNone/>
            </a:pPr>
            <a:r>
              <a:rPr lang="en-US" sz="2400" b="1" dirty="0">
                <a:solidFill>
                  <a:srgbClr val="FFFFFF"/>
                </a:solidFill>
              </a:rPr>
              <a:t>उत्कृष्ट गैस विन्यास वाले निम्नलिखित आयनों की कुल संख्या है।</a:t>
            </a:r>
            <a:endParaRPr lang="en-US" sz="2400" dirty="0"/>
          </a:p>
          <a:p>
            <a:pPr algn="just" indent="0" marL="0">
              <a:lnSpc>
                <a:spcPts val="3600"/>
              </a:lnSpc>
              <a:buNone/>
            </a:pPr>
            <a:r>
              <a:rPr lang="en-US" sz="2400" b="1" dirty="0">
                <a:solidFill>
                  <a:srgbClr val="FFFFFF"/>
                </a:solidFill>
              </a:rPr>
              <a:t>S r ²⁺ +(Z=38), C s ⁺ (Z=55) ,L a ²⁺ (Z=57),P b ²⁺ (Z=82), Y b ²⁺ (Z=70) और F e ²⁺ (Z=26)</a:t>
            </a:r>
            <a:endParaRPr lang="en-US" sz="2400" dirty="0"/>
          </a:p>
        </p:txBody>
      </p:sp>
      <p:sp>
        <p:nvSpPr>
          <p:cNvPr id="4" name="Text 1"/>
          <p:cNvSpPr/>
          <p:nvPr/>
        </p:nvSpPr>
        <p:spPr>
          <a:xfrm>
            <a:off x="457200" y="2926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a:t>
            </a:r>
            <a:endParaRPr lang="en-US" sz="24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154. </a:t>
            </a:r>
            <a:pPr algn="just" indent="0" marL="0">
              <a:lnSpc>
                <a:spcPts val="3600"/>
              </a:lnSpc>
              <a:buNone/>
            </a:pPr>
            <a:r>
              <a:rPr lang="en-US" sz="2400" b="1" dirty="0">
                <a:solidFill>
                  <a:srgbClr val="FFFFFF"/>
                </a:solidFill>
              </a:rPr>
              <a:t>Ge (Z=32) अपनी तलस्थ अवस्था में इलेक्ट्रॉनिक विन्यास में x पूरी तरह से भरे हुए ऑर्बिटल्स है जिनमें ml =0 है, तो x का मान है।</a:t>
            </a:r>
            <a:endParaRPr lang="en-US" sz="2400" dirty="0"/>
          </a:p>
        </p:txBody>
      </p:sp>
      <p:sp>
        <p:nvSpPr>
          <p:cNvPr id="4" name="Text 1"/>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7</a:t>
            </a:r>
            <a:endParaRPr lang="en-US" sz="24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pic>
        <p:nvPicPr>
          <p:cNvPr id="2" name="Image 0" descr="C:\Users\hp\Documents\GitHub\Rotten\tmp\uploads\07bb49e7-f407-464e-8867-f5c2953af425\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E02424"/>
                </a:solidFill>
              </a:rPr>
              <a:t>प्रश्न 155. </a:t>
            </a:r>
            <a:pPr algn="just" indent="0" marL="0">
              <a:lnSpc>
                <a:spcPts val="3600"/>
              </a:lnSpc>
              <a:buNone/>
            </a:pPr>
            <a:r>
              <a:rPr lang="en-US" sz="2400" b="1" dirty="0">
                <a:solidFill>
                  <a:srgbClr val="FFFFFF"/>
                </a:solidFill>
              </a:rPr>
              <a:t>G a ⁺ आयन के संयोजकता इलेक्ट्रॉनों के लिए द्विगंशी क्वांटम संख्या है। ( Ga का परमाणु संख्या = 31)</a:t>
            </a:r>
            <a:endParaRPr lang="en-US" sz="2400" dirty="0"/>
          </a:p>
        </p:txBody>
      </p:sp>
      <p:sp>
        <p:nvSpPr>
          <p:cNvPr id="4" name="Text 1"/>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0</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164</Slides>
  <Notes>164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164</vt:i4>
      </vt:variant>
    </vt:vector>
  </HeadingPairs>
  <TitlesOfParts>
    <vt:vector size="1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2026-05-26T10:29:20Z</dcterms:created>
  <dcterms:modified xsi:type="dcterms:W3CDTF">2026-05-26T10:29:20Z</dcterms:modified>
</cp:coreProperties>
</file>